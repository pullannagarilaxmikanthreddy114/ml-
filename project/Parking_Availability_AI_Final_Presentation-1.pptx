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79"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7049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This project focuses on predicting the number of available parking spaces using supervised machine learning. The goal is not just a model, but an end-to-end system that connects historical parking patterns, model evaluation and a Flask-based interactive application. Transition: First, I will explain the parking problem and why prediction is useful.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Parking availability is dynamic. The project frames this as a prediction problem: instead of only saying whether a car park is full, the model predicts a numerical number of available spaces. That output can then be translated into occupancy, availability and congestion indicators. Transition: To solve this, we first need to understand the data and the features that represent parking behavior.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project uses three types of information: time context, parking-location context and recent availability history. This is important because parking behavior is not random; recent availability and temporal patterns provide useful predictive signals. Transition: These inputs become a supervised regression pipeline.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project objectives cover both machine learning and application engineering. We prepare and explore the data, engineer temporal features, compare regression models, select a final model and then deploy it as a usable prediction application. Transition: The next slide shows the full pipeline end to end.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This is the complete system. The dataset is prepared, features are engineered, three models are trained and compared, and the selected Extra Trees model is serialized. Flask loads the saved model and exposes prediction and analytics endpoints to the web interface. Transition: Now I will break down the data and model inputs.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final model uses 11 inputs. They cover parking location, capacity, time context and recent availability history. The supplied model report uses 24,779 training rows, 5,310 validation rows and 5,310 test rows. Transition: The most important engineering idea is the temporal availability features.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model is not limited to the current hour or capacity. It also receives recent availability information through previous, lagged and rolling-average features. These features provide temporal context. When we later discuss feature importance, we should say the model uses these features strongly; we should not claim they cause availability. Transition: Before model training, EDA helps us understand the data.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project contains a dedicated EDA set covering occupancy, available spaces, hourly trends, busy locations, correlations and boxplots. In the final submission, these are the project's own visual assets. I would use the actual images from the project folder rather than inventing a new chart. Transition: The target variable determines why regression is the correct ML formulation.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2CD39-E679-70A4-F259-DB17D1737A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F9CBA6-ACAC-CB36-E91B-C32955E5ECD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399788F-AD88-0367-90FC-E346AE85FDD6}"/>
              </a:ext>
            </a:extLst>
          </p:cNvPr>
          <p:cNvSpPr>
            <a:spLocks noGrp="1"/>
          </p:cNvSpPr>
          <p:nvPr>
            <p:ph type="body" sz="quarter" idx="3"/>
          </p:nvPr>
        </p:nvSpPr>
        <p:spPr/>
        <p:txBody>
          <a:bodyPr/>
          <a:lstStyle/>
          <a:p>
            <a:r>
              <a:t>Say: The project contains a dedicated EDA set covering occupancy, available spaces, hourly trends, busy locations, correlations and boxplots. In the final submission, these are the project's own visual assets. I would use the actual images from the project folder rather than inventing a new chart. Transition: The target variable determines why regression is the correct ML formulation.</a:t>
            </a:r>
          </a:p>
        </p:txBody>
      </p:sp>
      <p:sp>
        <p:nvSpPr>
          <p:cNvPr id="4" name="Slide Number Placeholder 3">
            <a:extLst>
              <a:ext uri="{FF2B5EF4-FFF2-40B4-BE49-F238E27FC236}">
                <a16:creationId xmlns:a16="http://schemas.microsoft.com/office/drawing/2014/main" id="{D82625BE-F71E-5107-637A-1EC6C53707E5}"/>
              </a:ext>
            </a:extLst>
          </p:cNvPr>
          <p:cNvSpPr>
            <a:spLocks noGrp="1"/>
          </p:cNvSpPr>
          <p:nvPr>
            <p:ph type="sldNum" sz="quarter" idx="5"/>
          </p:nvPr>
        </p:nvSpPr>
        <p:spPr/>
      </p:sp>
    </p:spTree>
    <p:extLst>
      <p:ext uri="{BB962C8B-B14F-4D97-AF65-F5344CB8AC3E}">
        <p14:creationId xmlns:p14="http://schemas.microsoft.com/office/powerpoint/2010/main" val="2620649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target is not a class label. It is the number of available spaces, which is continuous numerical output. That makes this a supervised regression problem. The website then uses that numerical prediction to derive occupancy, availability and congestion indicators. Transition: Three ensemble regression models were compared.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project compares three ensemble regressors. Extra Trees uses randomized trees, Random Forest averages multiple trees, and Gradient Boosting builds trees sequentially to correct errors. We compare them using MAE, RMSE and R². Transition: I will now show the selected Extra Trees model.</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Extra Trees is the final selected model. Its test MAE is 27.642978, test RMSE is 70.938246 and test R² is 0.991116. The validation R² is 0.992369. These are regression metrics, so I will not call them accuracy. Transition: The other two models provide the comparison baseline.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Random Forest provides a second ensemble strategy. It combines multiple decision trees and averages their predictions. The supplied comparison metrics are MAE 25.939283, RMSE 85.443267 and R² 0.987131. Transition: Gradient Boosting uses a different sequential learning strategy.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Gradient Boosting builds trees sequentially. Each new tree focuses on reducing the errors left by earlier trees. In the supplied comparison it has MAE 45.439595, RMSE 88.046843 and R² 0.986334. Transition: Now we can compare all three models on the same metrics.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This table is the controlled model comparison. Extra Trees has the lowest MAE and RMSE and the highest R² in the supplied model_comparison.csv. Random Forest is the next benchmark, while Gradient Boosting has the largest errors among the three. Transition: We then evaluate the selected model on validation and test data.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model report separates validation from the final test evaluation. Validation MAE is 23.634440, RMSE 65.794838 and R² 0.992369. The final test values are MAE 27.642978, RMSE 70.938246 and R² 0.991116. This distinction matters because validation supports development, while the test set is used for final reported evaluation. Transition: Next is feature importance.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Previous_Availability has the highest supplied feature importance at 0.321757, followed by Rolling_Average_Availability at 0.230188 and Lag_2_Availability at 0.187518. Capacity is also important at 0.118623. The safe interpretation is that the trained model relies heavily on recent availability-related information. Feature importance is not causal evidence. Transition: We can also inspect how predictions compare with observed values through residual analysis.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project contains three final evaluation visualizations: actual versus predicted, residual distribution and residual scatter. These are useful because metrics alone do not show the shape of the errors. In this generated deck I have reserved clean frames for the actual project PNGs so the final version can use the original assets without fabricating a plot. Transition: The next step is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actual application uses HTML, CSS and JavaScript on the frontend and Flask on the backend. The saved Extra Trees model is loaded from a Joblib file. The website sends inputs to Flask, receives JSON results and updates the dashboard. The application performs inference; it does not retrain the model when the user clicks Predict. Transition: Here is the live prediction flow.</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In the Predictor Engine, the user selects a parking location and supplies the contextual and recent-availability inputs. JavaScript creates a JSON payload and sends it to /api/predict. Flask builds the model input and the saved Extra Trees model predicts available spaces. The application then derives occupied spaces, occupancy percentage, availability percentage and a congestion level. Faculty question: Does the model predict congestion? Answer: No. It predicts available spaces; congestion is application-level logic based on occupancy percentage.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application includes an Analytics Charts section with hourly occupancy trend, busiest parking locations, occupancy load distribution and actual-versus-predicted free spaces. These are supplied by the Flask analytics layer and visualized on the frontend. I would replace these clean chart frames with the actual project screenshots or PNGs in the final deck. Transition: The final application section is the model-performance dashboard.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Model Performance section exposes the evaluation inside the application. The final test R² is 0.991116, with test MAE 27.642978 and RMSE 70.938246. The dashboard also presents model comparison and feature importance. This connects the research evaluation to the deployed system without retraining the model. Transition: I will conclude with the overall contribution and future scope.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project demonstrates a complete ML lifecycle: data preparation, EDA, feature engineering, regression-model comparison, final model evaluation, feature importance and Flask deployment. Extra Trees is the selected model with a final test R² of 0.991116. Future scope includes live sensor integration, real-time feeds, streaming, maps, mobile and cloud deployment; these are future ideas, not current features. Close by inviting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0D14"/>
        </a:solidFill>
        <a:effectLst/>
      </p:bgPr>
    </p:bg>
    <p:spTree>
      <p:nvGrpSpPr>
        <p:cNvPr id="1" name=""/>
        <p:cNvGrpSpPr/>
        <p:nvPr/>
      </p:nvGrpSpPr>
      <p:grpSpPr>
        <a:xfrm>
          <a:off x="0" y="0"/>
          <a:ext cx="0" cy="0"/>
          <a:chOff x="0" y="0"/>
          <a:chExt cx="0" cy="0"/>
        </a:xfrm>
      </p:grpSpPr>
      <p:cxnSp>
        <p:nvCxnSpPr>
          <p:cNvPr id="2" name="Connector 1"/>
          <p:cNvCxnSpPr/>
          <p:nvPr/>
        </p:nvCxnSpPr>
        <p:spPr>
          <a:xfrm>
            <a:off x="640080" y="0"/>
            <a:ext cx="0" cy="6858000"/>
          </a:xfrm>
          <a:prstGeom prst="line">
            <a:avLst/>
          </a:prstGeom>
          <a:ln w="5715">
            <a:solidFill>
              <a:srgbClr val="263140"/>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011680" y="0"/>
            <a:ext cx="0" cy="6858000"/>
          </a:xfrm>
          <a:prstGeom prst="line">
            <a:avLst/>
          </a:prstGeom>
          <a:ln w="5715">
            <a:solidFill>
              <a:srgbClr val="26314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383280" y="0"/>
            <a:ext cx="0" cy="6858000"/>
          </a:xfrm>
          <a:prstGeom prst="line">
            <a:avLst/>
          </a:prstGeom>
          <a:ln w="5715">
            <a:solidFill>
              <a:srgbClr val="26314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754880" y="0"/>
            <a:ext cx="0" cy="6858000"/>
          </a:xfrm>
          <a:prstGeom prst="line">
            <a:avLst/>
          </a:prstGeom>
          <a:ln w="5715">
            <a:solidFill>
              <a:srgbClr val="26314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26480" y="0"/>
            <a:ext cx="0" cy="6858000"/>
          </a:xfrm>
          <a:prstGeom prst="line">
            <a:avLst/>
          </a:prstGeom>
          <a:ln w="5715">
            <a:solidFill>
              <a:srgbClr val="26314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498079" y="0"/>
            <a:ext cx="0" cy="6858000"/>
          </a:xfrm>
          <a:prstGeom prst="line">
            <a:avLst/>
          </a:prstGeom>
          <a:ln w="5715">
            <a:solidFill>
              <a:srgbClr val="26314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869680" y="0"/>
            <a:ext cx="0" cy="6858000"/>
          </a:xfrm>
          <a:prstGeom prst="line">
            <a:avLst/>
          </a:prstGeom>
          <a:ln w="5715">
            <a:solidFill>
              <a:srgbClr val="26314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241280" y="0"/>
            <a:ext cx="0" cy="6858000"/>
          </a:xfrm>
          <a:prstGeom prst="line">
            <a:avLst/>
          </a:prstGeom>
          <a:ln w="5715">
            <a:solidFill>
              <a:srgbClr val="26314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612880" y="0"/>
            <a:ext cx="0" cy="6858000"/>
          </a:xfrm>
          <a:prstGeom prst="line">
            <a:avLst/>
          </a:prstGeom>
          <a:ln w="5715">
            <a:solidFill>
              <a:srgbClr val="26314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548640"/>
            <a:ext cx="12188952" cy="0"/>
          </a:xfrm>
          <a:prstGeom prst="line">
            <a:avLst/>
          </a:prstGeom>
          <a:ln w="5715">
            <a:solidFill>
              <a:srgbClr val="26314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1463040"/>
            <a:ext cx="12188952" cy="0"/>
          </a:xfrm>
          <a:prstGeom prst="line">
            <a:avLst/>
          </a:prstGeom>
          <a:ln w="5715">
            <a:solidFill>
              <a:srgbClr val="26314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0" y="2377440"/>
            <a:ext cx="12188952" cy="0"/>
          </a:xfrm>
          <a:prstGeom prst="line">
            <a:avLst/>
          </a:prstGeom>
          <a:ln w="5715">
            <a:solidFill>
              <a:srgbClr val="2631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0" y="3291840"/>
            <a:ext cx="12188952" cy="0"/>
          </a:xfrm>
          <a:prstGeom prst="line">
            <a:avLst/>
          </a:prstGeom>
          <a:ln w="5715">
            <a:solidFill>
              <a:srgbClr val="2631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0" y="4206240"/>
            <a:ext cx="12188952" cy="0"/>
          </a:xfrm>
          <a:prstGeom prst="line">
            <a:avLst/>
          </a:prstGeom>
          <a:ln w="5715">
            <a:solidFill>
              <a:srgbClr val="2631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0" y="5120640"/>
            <a:ext cx="12188952" cy="0"/>
          </a:xfrm>
          <a:prstGeom prst="line">
            <a:avLst/>
          </a:prstGeom>
          <a:ln w="5715">
            <a:solidFill>
              <a:srgbClr val="2631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0" y="6035040"/>
            <a:ext cx="12188952" cy="0"/>
          </a:xfrm>
          <a:prstGeom prst="line">
            <a:avLst/>
          </a:prstGeom>
          <a:ln w="5715">
            <a:solidFill>
              <a:srgbClr val="26314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498079" y="3840480"/>
            <a:ext cx="566928" cy="1325880"/>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7589519" y="3977639"/>
            <a:ext cx="384048" cy="1051561"/>
          </a:xfrm>
          <a:prstGeom prst="line">
            <a:avLst/>
          </a:prstGeom>
          <a:ln w="12700">
            <a:solidFill>
              <a:srgbClr val="49D3E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7589519" y="3977639"/>
            <a:ext cx="384048" cy="1051561"/>
          </a:xfrm>
          <a:prstGeom prst="line">
            <a:avLst/>
          </a:prstGeom>
          <a:ln w="12700">
            <a:solidFill>
              <a:srgbClr val="49D3EC"/>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211311" y="3840480"/>
            <a:ext cx="566928" cy="1325880"/>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a:off x="8302751" y="3977639"/>
            <a:ext cx="384048" cy="1051561"/>
          </a:xfrm>
          <a:prstGeom prst="line">
            <a:avLst/>
          </a:prstGeom>
          <a:ln w="12700">
            <a:solidFill>
              <a:srgbClr val="49D3E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8302751" y="3977639"/>
            <a:ext cx="384048" cy="1051561"/>
          </a:xfrm>
          <a:prstGeom prst="line">
            <a:avLst/>
          </a:prstGeom>
          <a:ln w="12700">
            <a:solidFill>
              <a:srgbClr val="49D3EC"/>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924544" y="3840480"/>
            <a:ext cx="566928" cy="1325880"/>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a:off x="9015984" y="3977639"/>
            <a:ext cx="384048" cy="1051561"/>
          </a:xfrm>
          <a:prstGeom prst="line">
            <a:avLst/>
          </a:prstGeom>
          <a:ln w="12700">
            <a:solidFill>
              <a:srgbClr val="49D3E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9015984" y="3977639"/>
            <a:ext cx="384048" cy="1051561"/>
          </a:xfrm>
          <a:prstGeom prst="line">
            <a:avLst/>
          </a:prstGeom>
          <a:ln w="12700">
            <a:solidFill>
              <a:srgbClr val="49D3EC"/>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637776" y="3840480"/>
            <a:ext cx="566928" cy="1325880"/>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8" name="Connector 27"/>
          <p:cNvCxnSpPr/>
          <p:nvPr/>
        </p:nvCxnSpPr>
        <p:spPr>
          <a:xfrm>
            <a:off x="9729215" y="3977639"/>
            <a:ext cx="384048" cy="1051561"/>
          </a:xfrm>
          <a:prstGeom prst="line">
            <a:avLst/>
          </a:prstGeom>
          <a:ln w="12700">
            <a:solidFill>
              <a:srgbClr val="49D3E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9729215" y="3977639"/>
            <a:ext cx="384048" cy="1051561"/>
          </a:xfrm>
          <a:prstGeom prst="line">
            <a:avLst/>
          </a:prstGeom>
          <a:ln w="12700">
            <a:solidFill>
              <a:srgbClr val="49D3EC"/>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0351008" y="3840480"/>
            <a:ext cx="566928" cy="1325880"/>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30"/>
          <p:cNvCxnSpPr/>
          <p:nvPr/>
        </p:nvCxnSpPr>
        <p:spPr>
          <a:xfrm>
            <a:off x="10442448" y="3977639"/>
            <a:ext cx="384048" cy="1051561"/>
          </a:xfrm>
          <a:prstGeom prst="line">
            <a:avLst/>
          </a:prstGeom>
          <a:ln w="12700">
            <a:solidFill>
              <a:srgbClr val="49D3E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10442448" y="3977639"/>
            <a:ext cx="384048" cy="1051561"/>
          </a:xfrm>
          <a:prstGeom prst="line">
            <a:avLst/>
          </a:prstGeom>
          <a:ln w="12700">
            <a:solidFill>
              <a:srgbClr val="49D3EC"/>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94360" y="566928"/>
            <a:ext cx="5486400" cy="274320"/>
          </a:xfrm>
          <a:prstGeom prst="rect">
            <a:avLst/>
          </a:prstGeom>
          <a:noFill/>
        </p:spPr>
        <p:txBody>
          <a:bodyPr wrap="square" lIns="18288" tIns="18288" rIns="18288" bIns="18288" anchor="t">
            <a:spAutoFit/>
          </a:bodyPr>
          <a:lstStyle/>
          <a:p>
            <a:pPr algn="l">
              <a:lnSpc>
                <a:spcPct val="100000"/>
              </a:lnSpc>
            </a:pPr>
            <a:r>
              <a:rPr sz="1000" b="1">
                <a:solidFill>
                  <a:srgbClr val="49D3EC"/>
                </a:solidFill>
                <a:latin typeface="Aptos"/>
              </a:rPr>
              <a:t>MACHINE LEARNING • SMART PARKING</a:t>
            </a:r>
          </a:p>
        </p:txBody>
      </p:sp>
      <p:sp>
        <p:nvSpPr>
          <p:cNvPr id="34" name="TextBox 33"/>
          <p:cNvSpPr txBox="1"/>
          <p:nvPr/>
        </p:nvSpPr>
        <p:spPr>
          <a:xfrm>
            <a:off x="594360" y="1234440"/>
            <a:ext cx="6583680" cy="1325880"/>
          </a:xfrm>
          <a:prstGeom prst="rect">
            <a:avLst/>
          </a:prstGeom>
          <a:noFill/>
        </p:spPr>
        <p:txBody>
          <a:bodyPr wrap="square" lIns="18288" tIns="18288" rIns="18288" bIns="18288" anchor="t">
            <a:spAutoFit/>
          </a:bodyPr>
          <a:lstStyle/>
          <a:p>
            <a:pPr algn="l">
              <a:lnSpc>
                <a:spcPct val="100000"/>
              </a:lnSpc>
            </a:pPr>
            <a:r>
              <a:rPr sz="3400" b="1">
                <a:solidFill>
                  <a:srgbClr val="F2F6FA"/>
                </a:solidFill>
                <a:latin typeface="Aptos Display"/>
              </a:rPr>
              <a:t>Parking Space
Availability Prediction</a:t>
            </a:r>
          </a:p>
        </p:txBody>
      </p:sp>
      <p:sp>
        <p:nvSpPr>
          <p:cNvPr id="35" name="TextBox 34"/>
          <p:cNvSpPr txBox="1"/>
          <p:nvPr/>
        </p:nvSpPr>
        <p:spPr>
          <a:xfrm>
            <a:off x="621792" y="2697480"/>
            <a:ext cx="5029200" cy="411480"/>
          </a:xfrm>
          <a:prstGeom prst="rect">
            <a:avLst/>
          </a:prstGeom>
          <a:noFill/>
        </p:spPr>
        <p:txBody>
          <a:bodyPr wrap="square" lIns="18288" tIns="18288" rIns="18288" bIns="18288" anchor="t">
            <a:spAutoFit/>
          </a:bodyPr>
          <a:lstStyle/>
          <a:p>
            <a:pPr algn="l">
              <a:lnSpc>
                <a:spcPct val="100000"/>
              </a:lnSpc>
            </a:pPr>
            <a:r>
              <a:rPr sz="1800" b="0">
                <a:solidFill>
                  <a:srgbClr val="A4B0BF"/>
                </a:solidFill>
                <a:latin typeface="Aptos"/>
              </a:rPr>
              <a:t>Using Machine Learning</a:t>
            </a:r>
          </a:p>
        </p:txBody>
      </p:sp>
      <p:sp>
        <p:nvSpPr>
          <p:cNvPr id="36" name="TextBox 35"/>
          <p:cNvSpPr txBox="1"/>
          <p:nvPr/>
        </p:nvSpPr>
        <p:spPr>
          <a:xfrm>
            <a:off x="621792" y="3218688"/>
            <a:ext cx="6217920" cy="594360"/>
          </a:xfrm>
          <a:prstGeom prst="rect">
            <a:avLst/>
          </a:prstGeom>
          <a:noFill/>
        </p:spPr>
        <p:txBody>
          <a:bodyPr wrap="square" lIns="18288" tIns="18288" rIns="18288" bIns="18288" anchor="t">
            <a:spAutoFit/>
          </a:bodyPr>
          <a:lstStyle/>
          <a:p>
            <a:pPr algn="l">
              <a:lnSpc>
                <a:spcPct val="100000"/>
              </a:lnSpc>
            </a:pPr>
            <a:r>
              <a:rPr sz="1350" b="0">
                <a:solidFill>
                  <a:srgbClr val="F2F6FA"/>
                </a:solidFill>
                <a:latin typeface="Aptos"/>
              </a:rPr>
              <a:t>From historical parking patterns to actionable availability intelligence.</a:t>
            </a:r>
          </a:p>
        </p:txBody>
      </p:sp>
      <p:sp>
        <p:nvSpPr>
          <p:cNvPr id="37" name="Rounded Rectangle 36"/>
          <p:cNvSpPr/>
          <p:nvPr/>
        </p:nvSpPr>
        <p:spPr>
          <a:xfrm>
            <a:off x="621792" y="4892040"/>
            <a:ext cx="2240280" cy="347472"/>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31520" y="4956048"/>
            <a:ext cx="2020824" cy="201168"/>
          </a:xfrm>
          <a:prstGeom prst="rect">
            <a:avLst/>
          </a:prstGeom>
          <a:noFill/>
        </p:spPr>
        <p:txBody>
          <a:bodyPr wrap="square" lIns="18288" tIns="18288" rIns="18288" bIns="18288" anchor="t">
            <a:spAutoFit/>
          </a:bodyPr>
          <a:lstStyle/>
          <a:p>
            <a:pPr algn="ctr">
              <a:lnSpc>
                <a:spcPct val="100000"/>
              </a:lnSpc>
            </a:pPr>
            <a:r>
              <a:rPr sz="950" b="1">
                <a:solidFill>
                  <a:srgbClr val="49D3EC"/>
                </a:solidFill>
                <a:latin typeface="Aptos"/>
              </a:rPr>
              <a:t>PARKING AVAILABILITY AI</a:t>
            </a:r>
          </a:p>
        </p:txBody>
      </p:sp>
      <p:sp>
        <p:nvSpPr>
          <p:cNvPr id="39" name="TextBox 38"/>
          <p:cNvSpPr txBox="1"/>
          <p:nvPr/>
        </p:nvSpPr>
        <p:spPr>
          <a:xfrm>
            <a:off x="621792" y="5422392"/>
            <a:ext cx="2743200" cy="228600"/>
          </a:xfrm>
          <a:prstGeom prst="rect">
            <a:avLst/>
          </a:prstGeom>
          <a:noFill/>
        </p:spPr>
        <p:txBody>
          <a:bodyPr wrap="square" lIns="18288" tIns="18288" rIns="18288" bIns="18288" anchor="t">
            <a:spAutoFit/>
          </a:bodyPr>
          <a:lstStyle/>
          <a:p>
            <a:pPr algn="l">
              <a:lnSpc>
                <a:spcPct val="100000"/>
              </a:lnSpc>
            </a:pPr>
            <a:r>
              <a:rPr sz="900" b="1">
                <a:solidFill>
                  <a:srgbClr val="A4B0BF"/>
                </a:solidFill>
                <a:latin typeface="Aptos"/>
              </a:rPr>
              <a:t>FINAL REVIEW PRESENTATION</a:t>
            </a:r>
          </a:p>
        </p:txBody>
      </p:sp>
      <p:sp>
        <p:nvSpPr>
          <p:cNvPr id="40" name="TextBox 39"/>
          <p:cNvSpPr txBox="1"/>
          <p:nvPr/>
        </p:nvSpPr>
        <p:spPr>
          <a:xfrm>
            <a:off x="621792" y="5806440"/>
            <a:ext cx="1828800" cy="256032"/>
          </a:xfrm>
          <a:prstGeom prst="rect">
            <a:avLst/>
          </a:prstGeom>
          <a:noFill/>
        </p:spPr>
        <p:txBody>
          <a:bodyPr wrap="square" lIns="18288" tIns="18288" rIns="18288" bIns="18288" anchor="t">
            <a:spAutoFit/>
          </a:bodyPr>
          <a:lstStyle/>
          <a:p>
            <a:pPr algn="l">
              <a:lnSpc>
                <a:spcPct val="100000"/>
              </a:lnSpc>
            </a:pPr>
            <a:r>
              <a:rPr sz="1100" b="1">
                <a:solidFill>
                  <a:srgbClr val="F2F6FA"/>
                </a:solidFill>
                <a:latin typeface="Aptos"/>
              </a:rPr>
              <a:t>Machine Learning</a:t>
            </a:r>
          </a:p>
        </p:txBody>
      </p:sp>
      <p:sp>
        <p:nvSpPr>
          <p:cNvPr id="41" name="TextBox 40"/>
          <p:cNvSpPr txBox="1"/>
          <p:nvPr/>
        </p:nvSpPr>
        <p:spPr>
          <a:xfrm>
            <a:off x="10835640" y="5650992"/>
            <a:ext cx="731520" cy="457200"/>
          </a:xfrm>
          <a:prstGeom prst="rect">
            <a:avLst/>
          </a:prstGeom>
          <a:noFill/>
        </p:spPr>
        <p:txBody>
          <a:bodyPr wrap="square" lIns="18288" tIns="18288" rIns="18288" bIns="18288" anchor="t">
            <a:spAutoFit/>
          </a:bodyPr>
          <a:lstStyle/>
          <a:p>
            <a:pPr algn="r">
              <a:lnSpc>
                <a:spcPct val="100000"/>
              </a:lnSpc>
            </a:pPr>
            <a:r>
              <a:rPr sz="2000" b="1">
                <a:solidFill>
                  <a:srgbClr val="49D3EC"/>
                </a:solidFill>
                <a:latin typeface="Aptos"/>
              </a:rPr>
              <a:t>22</a:t>
            </a:r>
          </a:p>
        </p:txBody>
      </p:sp>
      <p:sp>
        <p:nvSpPr>
          <p:cNvPr id="42" name="TextBox 41"/>
          <p:cNvSpPr txBox="1"/>
          <p:nvPr/>
        </p:nvSpPr>
        <p:spPr>
          <a:xfrm>
            <a:off x="11475720" y="5797296"/>
            <a:ext cx="411480" cy="201168"/>
          </a:xfrm>
          <a:prstGeom prst="rect">
            <a:avLst/>
          </a:prstGeom>
          <a:noFill/>
        </p:spPr>
        <p:txBody>
          <a:bodyPr wrap="square" lIns="18288" tIns="18288" rIns="18288" bIns="18288" anchor="t">
            <a:spAutoFit/>
          </a:bodyPr>
          <a:lstStyle/>
          <a:p>
            <a:pPr algn="r">
              <a:lnSpc>
                <a:spcPct val="100000"/>
              </a:lnSpc>
            </a:pPr>
            <a:r>
              <a:rPr sz="800" b="0">
                <a:solidFill>
                  <a:srgbClr val="A4B0BF"/>
                </a:solidFill>
                <a:latin typeface="Aptos"/>
              </a:rPr>
              <a:t>slides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0D1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2743200" cy="256032"/>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01 • PROBLEM</a:t>
            </a:r>
          </a:p>
        </p:txBody>
      </p:sp>
      <p:sp>
        <p:nvSpPr>
          <p:cNvPr id="3" name="TextBox 2"/>
          <p:cNvSpPr txBox="1"/>
          <p:nvPr/>
        </p:nvSpPr>
        <p:spPr>
          <a:xfrm>
            <a:off x="502920" y="612648"/>
            <a:ext cx="10789920" cy="658368"/>
          </a:xfrm>
          <a:prstGeom prst="rect">
            <a:avLst/>
          </a:prstGeom>
          <a:noFill/>
        </p:spPr>
        <p:txBody>
          <a:bodyPr wrap="square" lIns="18288" tIns="18288" rIns="18288" bIns="18288" anchor="t">
            <a:spAutoFit/>
          </a:bodyPr>
          <a:lstStyle/>
          <a:p>
            <a:pPr algn="l">
              <a:lnSpc>
                <a:spcPct val="100000"/>
              </a:lnSpc>
            </a:pPr>
            <a:r>
              <a:rPr sz="2800" b="1">
                <a:solidFill>
                  <a:srgbClr val="F2F6FA"/>
                </a:solidFill>
                <a:latin typeface="Aptos Display"/>
              </a:rPr>
              <a:t>The parking problem</a:t>
            </a:r>
          </a:p>
        </p:txBody>
      </p:sp>
      <p:sp>
        <p:nvSpPr>
          <p:cNvPr id="4" name="TextBox 3"/>
          <p:cNvSpPr txBox="1"/>
          <p:nvPr/>
        </p:nvSpPr>
        <p:spPr>
          <a:xfrm>
            <a:off x="530352" y="1261872"/>
            <a:ext cx="10698480" cy="384048"/>
          </a:xfrm>
          <a:prstGeom prst="rect">
            <a:avLst/>
          </a:prstGeom>
          <a:noFill/>
        </p:spPr>
        <p:txBody>
          <a:bodyPr wrap="square" lIns="18288" tIns="18288" rIns="18288" bIns="18288" anchor="t">
            <a:spAutoFit/>
          </a:bodyPr>
          <a:lstStyle/>
          <a:p>
            <a:pPr algn="l">
              <a:lnSpc>
                <a:spcPct val="100000"/>
              </a:lnSpc>
            </a:pPr>
            <a:r>
              <a:rPr sz="1250" b="0">
                <a:solidFill>
                  <a:srgbClr val="A4B0BF"/>
                </a:solidFill>
                <a:latin typeface="Aptos"/>
              </a:rPr>
              <a:t>Availability changes with time, location and recent demand.</a:t>
            </a:r>
          </a:p>
        </p:txBody>
      </p:sp>
      <p:sp>
        <p:nvSpPr>
          <p:cNvPr id="5" name="TextBox 4"/>
          <p:cNvSpPr txBox="1"/>
          <p:nvPr/>
        </p:nvSpPr>
        <p:spPr>
          <a:xfrm>
            <a:off x="11292840" y="329184"/>
            <a:ext cx="411480" cy="274320"/>
          </a:xfrm>
          <a:prstGeom prst="rect">
            <a:avLst/>
          </a:prstGeom>
          <a:noFill/>
        </p:spPr>
        <p:txBody>
          <a:bodyPr wrap="square" lIns="18288" tIns="18288" rIns="18288" bIns="18288" anchor="t">
            <a:spAutoFit/>
          </a:bodyPr>
          <a:lstStyle/>
          <a:p>
            <a:pPr algn="r">
              <a:lnSpc>
                <a:spcPct val="100000"/>
              </a:lnSpc>
            </a:pPr>
            <a:r>
              <a:rPr sz="1000" b="1">
                <a:solidFill>
                  <a:srgbClr val="A4B0BF"/>
                </a:solidFill>
                <a:latin typeface="Aptos"/>
              </a:rPr>
              <a:t>02</a:t>
            </a:r>
          </a:p>
        </p:txBody>
      </p:sp>
      <p:sp>
        <p:nvSpPr>
          <p:cNvPr id="6" name="Rounded Rectangle 5"/>
          <p:cNvSpPr/>
          <p:nvPr/>
        </p:nvSpPr>
        <p:spPr>
          <a:xfrm>
            <a:off x="640080" y="1828800"/>
            <a:ext cx="2103120" cy="68580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828800"/>
            <a:ext cx="54864" cy="685800"/>
          </a:xfrm>
          <a:prstGeom prst="rect">
            <a:avLst/>
          </a:prstGeom>
          <a:solidFill>
            <a:srgbClr val="E64E5C"/>
          </a:solidFill>
          <a:ln w="10160">
            <a:solidFill>
              <a:srgbClr val="E64E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1" y="1901952"/>
            <a:ext cx="1847087" cy="576072"/>
          </a:xfrm>
          <a:prstGeom prst="rect">
            <a:avLst/>
          </a:prstGeom>
          <a:noFill/>
        </p:spPr>
        <p:txBody>
          <a:bodyPr wrap="square" lIns="18288" tIns="18288" rIns="18288" bIns="18288" anchor="ctr">
            <a:spAutoFit/>
          </a:bodyPr>
          <a:lstStyle/>
          <a:p>
            <a:pPr algn="l">
              <a:lnSpc>
                <a:spcPct val="100000"/>
              </a:lnSpc>
            </a:pPr>
            <a:r>
              <a:rPr sz="1400" b="1">
                <a:solidFill>
                  <a:srgbClr val="F2F6FA"/>
                </a:solidFill>
                <a:latin typeface="Aptos"/>
              </a:rPr>
              <a:t>High demand</a:t>
            </a:r>
          </a:p>
        </p:txBody>
      </p:sp>
      <p:sp>
        <p:nvSpPr>
          <p:cNvPr id="9" name="Right Arrow 8"/>
          <p:cNvSpPr/>
          <p:nvPr/>
        </p:nvSpPr>
        <p:spPr>
          <a:xfrm>
            <a:off x="2880360" y="2039112"/>
            <a:ext cx="594360" cy="201168"/>
          </a:xfrm>
          <a:prstGeom prst="rightArrow">
            <a:avLst/>
          </a:prstGeom>
          <a:solidFill>
            <a:srgbClr val="E64E5C"/>
          </a:solidFill>
          <a:ln>
            <a:solidFill>
              <a:srgbClr val="E64E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611880" y="1828800"/>
            <a:ext cx="2286000" cy="68580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611880" y="1828800"/>
            <a:ext cx="54864" cy="685800"/>
          </a:xfrm>
          <a:prstGeom prst="rect">
            <a:avLst/>
          </a:prstGeom>
          <a:solidFill>
            <a:srgbClr val="F5AE42"/>
          </a:solidFill>
          <a:ln w="10160">
            <a:solidFill>
              <a:srgbClr val="F5A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76472" y="1901952"/>
            <a:ext cx="2029967" cy="576072"/>
          </a:xfrm>
          <a:prstGeom prst="rect">
            <a:avLst/>
          </a:prstGeom>
          <a:noFill/>
        </p:spPr>
        <p:txBody>
          <a:bodyPr wrap="square" lIns="18288" tIns="18288" rIns="18288" bIns="18288" anchor="ctr">
            <a:spAutoFit/>
          </a:bodyPr>
          <a:lstStyle/>
          <a:p>
            <a:pPr algn="l">
              <a:lnSpc>
                <a:spcPct val="100000"/>
              </a:lnSpc>
            </a:pPr>
            <a:r>
              <a:rPr sz="1400" b="1">
                <a:solidFill>
                  <a:srgbClr val="F2F6FA"/>
                </a:solidFill>
                <a:latin typeface="Aptos"/>
              </a:rPr>
              <a:t>Few free spaces</a:t>
            </a:r>
          </a:p>
        </p:txBody>
      </p:sp>
      <p:sp>
        <p:nvSpPr>
          <p:cNvPr id="13" name="Right Arrow 12"/>
          <p:cNvSpPr/>
          <p:nvPr/>
        </p:nvSpPr>
        <p:spPr>
          <a:xfrm>
            <a:off x="6053328" y="2039112"/>
            <a:ext cx="594360" cy="201168"/>
          </a:xfrm>
          <a:prstGeom prst="rightArrow">
            <a:avLst/>
          </a:prstGeom>
          <a:solidFill>
            <a:srgbClr val="F5AE42"/>
          </a:solidFill>
          <a:ln>
            <a:solidFill>
              <a:srgbClr val="F5A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784848" y="1828800"/>
            <a:ext cx="1920240" cy="68580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784848" y="1828800"/>
            <a:ext cx="54864" cy="685800"/>
          </a:xfrm>
          <a:prstGeom prst="rect">
            <a:avLst/>
          </a:prstGeom>
          <a:solidFill>
            <a:srgbClr val="8E77FF"/>
          </a:solidFill>
          <a:ln w="10160">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49440" y="1901952"/>
            <a:ext cx="1664208" cy="576072"/>
          </a:xfrm>
          <a:prstGeom prst="rect">
            <a:avLst/>
          </a:prstGeom>
          <a:noFill/>
        </p:spPr>
        <p:txBody>
          <a:bodyPr wrap="square" lIns="18288" tIns="18288" rIns="18288" bIns="18288" anchor="ctr">
            <a:spAutoFit/>
          </a:bodyPr>
          <a:lstStyle/>
          <a:p>
            <a:pPr algn="l">
              <a:lnSpc>
                <a:spcPct val="100000"/>
              </a:lnSpc>
            </a:pPr>
            <a:r>
              <a:rPr sz="1400" b="1">
                <a:solidFill>
                  <a:srgbClr val="F2F6FA"/>
                </a:solidFill>
                <a:latin typeface="Aptos"/>
              </a:rPr>
              <a:t>Search time</a:t>
            </a:r>
          </a:p>
        </p:txBody>
      </p:sp>
      <p:sp>
        <p:nvSpPr>
          <p:cNvPr id="17" name="Right Arrow 16"/>
          <p:cNvSpPr/>
          <p:nvPr/>
        </p:nvSpPr>
        <p:spPr>
          <a:xfrm>
            <a:off x="8869680" y="2039112"/>
            <a:ext cx="594360" cy="201168"/>
          </a:xfrm>
          <a:prstGeom prst="rightArrow">
            <a:avLst/>
          </a:prstGeom>
          <a:solidFill>
            <a:srgbClr val="8E77FF"/>
          </a:solidFill>
          <a:ln>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601200" y="1828800"/>
            <a:ext cx="1828800" cy="68580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601200" y="1828800"/>
            <a:ext cx="54864" cy="685800"/>
          </a:xfrm>
          <a:prstGeom prst="rect">
            <a:avLst/>
          </a:prstGeom>
          <a:solidFill>
            <a:srgbClr val="E64E5C"/>
          </a:solidFill>
          <a:ln w="10160">
            <a:solidFill>
              <a:srgbClr val="E64E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765792" y="1901952"/>
            <a:ext cx="1572768" cy="576072"/>
          </a:xfrm>
          <a:prstGeom prst="rect">
            <a:avLst/>
          </a:prstGeom>
          <a:noFill/>
        </p:spPr>
        <p:txBody>
          <a:bodyPr wrap="square" lIns="18288" tIns="18288" rIns="18288" bIns="18288" anchor="ctr">
            <a:spAutoFit/>
          </a:bodyPr>
          <a:lstStyle/>
          <a:p>
            <a:pPr algn="l">
              <a:lnSpc>
                <a:spcPct val="100000"/>
              </a:lnSpc>
            </a:pPr>
            <a:r>
              <a:rPr sz="1400" b="1">
                <a:solidFill>
                  <a:srgbClr val="F2F6FA"/>
                </a:solidFill>
                <a:latin typeface="Aptos"/>
              </a:rPr>
              <a:t>Congestion</a:t>
            </a:r>
          </a:p>
        </p:txBody>
      </p:sp>
      <p:sp>
        <p:nvSpPr>
          <p:cNvPr id="21" name="Rounded Rectangle 20"/>
          <p:cNvSpPr/>
          <p:nvPr/>
        </p:nvSpPr>
        <p:spPr>
          <a:xfrm>
            <a:off x="640080" y="3063240"/>
            <a:ext cx="10789920" cy="196596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3364992"/>
            <a:ext cx="1828800" cy="274320"/>
          </a:xfrm>
          <a:prstGeom prst="rect">
            <a:avLst/>
          </a:prstGeom>
          <a:noFill/>
        </p:spPr>
        <p:txBody>
          <a:bodyPr wrap="square" lIns="18288" tIns="18288" rIns="18288" bIns="18288" anchor="t">
            <a:spAutoFit/>
          </a:bodyPr>
          <a:lstStyle/>
          <a:p>
            <a:pPr algn="l">
              <a:lnSpc>
                <a:spcPct val="100000"/>
              </a:lnSpc>
            </a:pPr>
            <a:r>
              <a:rPr sz="1000" b="1">
                <a:solidFill>
                  <a:srgbClr val="49D3EC"/>
                </a:solidFill>
                <a:latin typeface="Aptos"/>
              </a:rPr>
              <a:t>Core question</a:t>
            </a:r>
          </a:p>
        </p:txBody>
      </p:sp>
      <p:sp>
        <p:nvSpPr>
          <p:cNvPr id="23" name="TextBox 22"/>
          <p:cNvSpPr txBox="1"/>
          <p:nvPr/>
        </p:nvSpPr>
        <p:spPr>
          <a:xfrm>
            <a:off x="914400" y="3794760"/>
            <a:ext cx="9966960" cy="822960"/>
          </a:xfrm>
          <a:prstGeom prst="rect">
            <a:avLst/>
          </a:prstGeom>
          <a:noFill/>
        </p:spPr>
        <p:txBody>
          <a:bodyPr wrap="square" lIns="18288" tIns="18288" rIns="18288" bIns="18288" anchor="t">
            <a:spAutoFit/>
          </a:bodyPr>
          <a:lstStyle/>
          <a:p>
            <a:pPr algn="l">
              <a:lnSpc>
                <a:spcPct val="100000"/>
              </a:lnSpc>
            </a:pPr>
            <a:r>
              <a:rPr sz="2400" b="1">
                <a:solidFill>
                  <a:srgbClr val="F2F6FA"/>
                </a:solidFill>
                <a:latin typeface="Aptos Display"/>
              </a:rPr>
              <a:t>Can machine learning predict the number of available parking spaces from historical and contextual information?</a:t>
            </a:r>
          </a:p>
        </p:txBody>
      </p:sp>
      <p:sp>
        <p:nvSpPr>
          <p:cNvPr id="24" name="TextBox 23"/>
          <p:cNvSpPr txBox="1"/>
          <p:nvPr/>
        </p:nvSpPr>
        <p:spPr>
          <a:xfrm>
            <a:off x="914400" y="4754880"/>
            <a:ext cx="9601200" cy="868680"/>
          </a:xfrm>
          <a:prstGeom prst="rect">
            <a:avLst/>
          </a:prstGeom>
          <a:noFill/>
        </p:spPr>
        <p:txBody>
          <a:bodyPr wrap="square">
            <a:spAutoFit/>
          </a:bodyPr>
          <a:lstStyle/>
          <a:p>
            <a:pPr>
              <a:spcAft>
                <a:spcPts val="80"/>
              </a:spcAft>
            </a:pPr>
            <a:r>
              <a:rPr sz="1150" b="1">
                <a:solidFill>
                  <a:srgbClr val="49D3EC"/>
                </a:solidFill>
                <a:latin typeface="Aptos"/>
              </a:rPr>
              <a:t>• </a:t>
            </a:r>
            <a:r>
              <a:rPr sz="1150">
                <a:solidFill>
                  <a:srgbClr val="F2F6FA"/>
                </a:solidFill>
                <a:latin typeface="Aptos"/>
              </a:rPr>
              <a:t>Parking demand varies by hour and day.</a:t>
            </a:r>
          </a:p>
          <a:p>
            <a:pPr>
              <a:spcAft>
                <a:spcPts val="80"/>
              </a:spcAft>
            </a:pPr>
            <a:r>
              <a:rPr sz="1150" b="1">
                <a:solidFill>
                  <a:srgbClr val="49D3EC"/>
                </a:solidFill>
                <a:latin typeface="Aptos"/>
              </a:rPr>
              <a:t>• </a:t>
            </a:r>
            <a:r>
              <a:rPr sz="1150">
                <a:solidFill>
                  <a:srgbClr val="F2F6FA"/>
                </a:solidFill>
                <a:latin typeface="Aptos"/>
              </a:rPr>
              <a:t>Recent availability contains useful predictive context.</a:t>
            </a:r>
          </a:p>
          <a:p>
            <a:pPr>
              <a:spcAft>
                <a:spcPts val="80"/>
              </a:spcAft>
            </a:pPr>
            <a:r>
              <a:rPr sz="1150" b="1">
                <a:solidFill>
                  <a:srgbClr val="49D3EC"/>
                </a:solidFill>
                <a:latin typeface="Aptos"/>
              </a:rPr>
              <a:t>• </a:t>
            </a:r>
            <a:r>
              <a:rPr sz="1150">
                <a:solidFill>
                  <a:srgbClr val="F2F6FA"/>
                </a:solidFill>
                <a:latin typeface="Aptos"/>
              </a:rPr>
              <a:t>A numerical prediction can support occupancy and congestion insights.</a:t>
            </a:r>
          </a:p>
        </p:txBody>
      </p:sp>
      <p:cxnSp>
        <p:nvCxnSpPr>
          <p:cNvPr id="25" name="Connector 24"/>
          <p:cNvCxnSpPr/>
          <p:nvPr/>
        </p:nvCxnSpPr>
        <p:spPr>
          <a:xfrm>
            <a:off x="502920" y="6473952"/>
            <a:ext cx="11183112" cy="0"/>
          </a:xfrm>
          <a:prstGeom prst="line">
            <a:avLst/>
          </a:prstGeom>
          <a:ln w="8890">
            <a:solidFill>
              <a:srgbClr val="26314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30352" y="6537960"/>
            <a:ext cx="2926080" cy="164592"/>
          </a:xfrm>
          <a:prstGeom prst="rect">
            <a:avLst/>
          </a:prstGeom>
          <a:noFill/>
        </p:spPr>
        <p:txBody>
          <a:bodyPr wrap="square" lIns="18288" tIns="18288" rIns="18288" bIns="18288" anchor="t">
            <a:spAutoFit/>
          </a:bodyPr>
          <a:lstStyle/>
          <a:p>
            <a:pPr algn="l">
              <a:lnSpc>
                <a:spcPct val="100000"/>
              </a:lnSpc>
            </a:pPr>
            <a:r>
              <a:rPr sz="750" b="1">
                <a:solidFill>
                  <a:srgbClr val="A4B0BF"/>
                </a:solidFill>
                <a:latin typeface="Aptos"/>
              </a:rPr>
              <a:t>PARKING AVAILABILITY AI</a:t>
            </a:r>
          </a:p>
        </p:txBody>
      </p:sp>
      <p:sp>
        <p:nvSpPr>
          <p:cNvPr id="27" name="TextBox 26"/>
          <p:cNvSpPr txBox="1"/>
          <p:nvPr/>
        </p:nvSpPr>
        <p:spPr>
          <a:xfrm>
            <a:off x="8503920" y="6537960"/>
            <a:ext cx="3108960" cy="164592"/>
          </a:xfrm>
          <a:prstGeom prst="rect">
            <a:avLst/>
          </a:prstGeom>
          <a:noFill/>
        </p:spPr>
        <p:txBody>
          <a:bodyPr wrap="square" lIns="18288" tIns="18288" rIns="18288" bIns="18288" anchor="t">
            <a:spAutoFit/>
          </a:bodyPr>
          <a:lstStyle/>
          <a:p>
            <a:pPr algn="r">
              <a:lnSpc>
                <a:spcPct val="100000"/>
              </a:lnSpc>
            </a:pPr>
            <a:r>
              <a:rPr sz="750" b="0">
                <a:solidFill>
                  <a:srgbClr val="A4B0BF"/>
                </a:solidFill>
                <a:latin typeface="Aptos"/>
              </a:rPr>
              <a:t>Machine Learning • Final Review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0D1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2743200" cy="256032"/>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02 • MOTIVATION</a:t>
            </a:r>
          </a:p>
        </p:txBody>
      </p:sp>
      <p:sp>
        <p:nvSpPr>
          <p:cNvPr id="3" name="TextBox 2"/>
          <p:cNvSpPr txBox="1"/>
          <p:nvPr/>
        </p:nvSpPr>
        <p:spPr>
          <a:xfrm>
            <a:off x="502920" y="612648"/>
            <a:ext cx="10789920" cy="658368"/>
          </a:xfrm>
          <a:prstGeom prst="rect">
            <a:avLst/>
          </a:prstGeom>
          <a:noFill/>
        </p:spPr>
        <p:txBody>
          <a:bodyPr wrap="square" lIns="18288" tIns="18288" rIns="18288" bIns="18288" anchor="t">
            <a:spAutoFit/>
          </a:bodyPr>
          <a:lstStyle/>
          <a:p>
            <a:pPr algn="l">
              <a:lnSpc>
                <a:spcPct val="100000"/>
              </a:lnSpc>
            </a:pPr>
            <a:r>
              <a:rPr sz="2800" b="1">
                <a:solidFill>
                  <a:srgbClr val="F2F6FA"/>
                </a:solidFill>
                <a:latin typeface="Aptos Display"/>
              </a:rPr>
              <a:t>Why predict parking availability?</a:t>
            </a:r>
          </a:p>
        </p:txBody>
      </p:sp>
      <p:sp>
        <p:nvSpPr>
          <p:cNvPr id="4" name="TextBox 3"/>
          <p:cNvSpPr txBox="1"/>
          <p:nvPr/>
        </p:nvSpPr>
        <p:spPr>
          <a:xfrm>
            <a:off x="530352" y="1261872"/>
            <a:ext cx="10698480" cy="384048"/>
          </a:xfrm>
          <a:prstGeom prst="rect">
            <a:avLst/>
          </a:prstGeom>
          <a:noFill/>
        </p:spPr>
        <p:txBody>
          <a:bodyPr wrap="square" lIns="18288" tIns="18288" rIns="18288" bIns="18288" anchor="t">
            <a:spAutoFit/>
          </a:bodyPr>
          <a:lstStyle/>
          <a:p>
            <a:pPr algn="l">
              <a:lnSpc>
                <a:spcPct val="100000"/>
              </a:lnSpc>
            </a:pPr>
            <a:r>
              <a:rPr sz="1250" b="0">
                <a:solidFill>
                  <a:srgbClr val="A4B0BF"/>
                </a:solidFill>
                <a:latin typeface="Aptos"/>
              </a:rPr>
              <a:t>The model connects historical behavior with a usable decision layer.</a:t>
            </a:r>
          </a:p>
        </p:txBody>
      </p:sp>
      <p:sp>
        <p:nvSpPr>
          <p:cNvPr id="5" name="TextBox 4"/>
          <p:cNvSpPr txBox="1"/>
          <p:nvPr/>
        </p:nvSpPr>
        <p:spPr>
          <a:xfrm>
            <a:off x="11292840" y="329184"/>
            <a:ext cx="411480" cy="274320"/>
          </a:xfrm>
          <a:prstGeom prst="rect">
            <a:avLst/>
          </a:prstGeom>
          <a:noFill/>
        </p:spPr>
        <p:txBody>
          <a:bodyPr wrap="square" lIns="18288" tIns="18288" rIns="18288" bIns="18288" anchor="t">
            <a:spAutoFit/>
          </a:bodyPr>
          <a:lstStyle/>
          <a:p>
            <a:pPr algn="r">
              <a:lnSpc>
                <a:spcPct val="100000"/>
              </a:lnSpc>
            </a:pPr>
            <a:r>
              <a:rPr sz="1000" b="1">
                <a:solidFill>
                  <a:srgbClr val="A4B0BF"/>
                </a:solidFill>
                <a:latin typeface="Aptos"/>
              </a:rPr>
              <a:t>03</a:t>
            </a:r>
          </a:p>
        </p:txBody>
      </p:sp>
      <p:sp>
        <p:nvSpPr>
          <p:cNvPr id="6" name="Rounded Rectangle 5"/>
          <p:cNvSpPr/>
          <p:nvPr/>
        </p:nvSpPr>
        <p:spPr>
          <a:xfrm>
            <a:off x="685800" y="1874519"/>
            <a:ext cx="3337560" cy="1874519"/>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130552"/>
            <a:ext cx="1188720" cy="274320"/>
          </a:xfrm>
          <a:prstGeom prst="rect">
            <a:avLst/>
          </a:prstGeom>
          <a:noFill/>
        </p:spPr>
        <p:txBody>
          <a:bodyPr wrap="square" lIns="18288" tIns="18288" rIns="18288" bIns="18288" anchor="t">
            <a:spAutoFit/>
          </a:bodyPr>
          <a:lstStyle/>
          <a:p>
            <a:pPr algn="l">
              <a:lnSpc>
                <a:spcPct val="100000"/>
              </a:lnSpc>
            </a:pPr>
            <a:r>
              <a:rPr sz="1000" b="1">
                <a:solidFill>
                  <a:srgbClr val="49D3EC"/>
                </a:solidFill>
                <a:latin typeface="Aptos"/>
              </a:rPr>
              <a:t>TIME</a:t>
            </a:r>
          </a:p>
        </p:txBody>
      </p:sp>
      <p:sp>
        <p:nvSpPr>
          <p:cNvPr id="8" name="TextBox 7"/>
          <p:cNvSpPr txBox="1"/>
          <p:nvPr/>
        </p:nvSpPr>
        <p:spPr>
          <a:xfrm>
            <a:off x="914400" y="2615184"/>
            <a:ext cx="2834640" cy="685800"/>
          </a:xfrm>
          <a:prstGeom prst="rect">
            <a:avLst/>
          </a:prstGeom>
          <a:noFill/>
        </p:spPr>
        <p:txBody>
          <a:bodyPr wrap="square" lIns="18288" tIns="18288" rIns="18288" bIns="18288" anchor="t">
            <a:spAutoFit/>
          </a:bodyPr>
          <a:lstStyle/>
          <a:p>
            <a:pPr algn="l">
              <a:lnSpc>
                <a:spcPct val="100000"/>
              </a:lnSpc>
            </a:pPr>
            <a:r>
              <a:rPr sz="1800" b="1">
                <a:solidFill>
                  <a:srgbClr val="F2F6FA"/>
                </a:solidFill>
                <a:latin typeface="Aptos Display"/>
              </a:rPr>
              <a:t>Hour • Day • Month • Weekend</a:t>
            </a:r>
          </a:p>
        </p:txBody>
      </p:sp>
      <p:cxnSp>
        <p:nvCxnSpPr>
          <p:cNvPr id="9" name="Connector 8"/>
          <p:cNvCxnSpPr/>
          <p:nvPr/>
        </p:nvCxnSpPr>
        <p:spPr>
          <a:xfrm>
            <a:off x="914400" y="3456432"/>
            <a:ext cx="2788920" cy="0"/>
          </a:xfrm>
          <a:prstGeom prst="line">
            <a:avLst/>
          </a:prstGeom>
          <a:ln w="25400">
            <a:solidFill>
              <a:srgbClr val="49D3EC"/>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416552" y="1874519"/>
            <a:ext cx="3337560" cy="1874519"/>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45152" y="2130552"/>
            <a:ext cx="1188720" cy="274320"/>
          </a:xfrm>
          <a:prstGeom prst="rect">
            <a:avLst/>
          </a:prstGeom>
          <a:noFill/>
        </p:spPr>
        <p:txBody>
          <a:bodyPr wrap="square" lIns="18288" tIns="18288" rIns="18288" bIns="18288" anchor="t">
            <a:spAutoFit/>
          </a:bodyPr>
          <a:lstStyle/>
          <a:p>
            <a:pPr algn="l">
              <a:lnSpc>
                <a:spcPct val="100000"/>
              </a:lnSpc>
            </a:pPr>
            <a:r>
              <a:rPr sz="1000" b="1">
                <a:solidFill>
                  <a:srgbClr val="2DBEAA"/>
                </a:solidFill>
                <a:latin typeface="Aptos"/>
              </a:rPr>
              <a:t>LOCATION</a:t>
            </a:r>
          </a:p>
        </p:txBody>
      </p:sp>
      <p:sp>
        <p:nvSpPr>
          <p:cNvPr id="12" name="TextBox 11"/>
          <p:cNvSpPr txBox="1"/>
          <p:nvPr/>
        </p:nvSpPr>
        <p:spPr>
          <a:xfrm>
            <a:off x="4645152" y="2615184"/>
            <a:ext cx="2834640" cy="685800"/>
          </a:xfrm>
          <a:prstGeom prst="rect">
            <a:avLst/>
          </a:prstGeom>
          <a:noFill/>
        </p:spPr>
        <p:txBody>
          <a:bodyPr wrap="square" lIns="18288" tIns="18288" rIns="18288" bIns="18288" anchor="t">
            <a:spAutoFit/>
          </a:bodyPr>
          <a:lstStyle/>
          <a:p>
            <a:pPr algn="l">
              <a:lnSpc>
                <a:spcPct val="100000"/>
              </a:lnSpc>
            </a:pPr>
            <a:r>
              <a:rPr sz="1800" b="1">
                <a:solidFill>
                  <a:srgbClr val="F2F6FA"/>
                </a:solidFill>
                <a:latin typeface="Aptos Display"/>
              </a:rPr>
              <a:t>Parking site identity and capacity</a:t>
            </a:r>
          </a:p>
        </p:txBody>
      </p:sp>
      <p:cxnSp>
        <p:nvCxnSpPr>
          <p:cNvPr id="13" name="Connector 12"/>
          <p:cNvCxnSpPr/>
          <p:nvPr/>
        </p:nvCxnSpPr>
        <p:spPr>
          <a:xfrm>
            <a:off x="4645152" y="3456432"/>
            <a:ext cx="2788919" cy="0"/>
          </a:xfrm>
          <a:prstGeom prst="line">
            <a:avLst/>
          </a:prstGeom>
          <a:ln w="25400">
            <a:solidFill>
              <a:srgbClr val="2DBEAA"/>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147304" y="1874519"/>
            <a:ext cx="3337560" cy="1874519"/>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75904" y="2130552"/>
            <a:ext cx="1188720" cy="274320"/>
          </a:xfrm>
          <a:prstGeom prst="rect">
            <a:avLst/>
          </a:prstGeom>
          <a:noFill/>
        </p:spPr>
        <p:txBody>
          <a:bodyPr wrap="square" lIns="18288" tIns="18288" rIns="18288" bIns="18288" anchor="t">
            <a:spAutoFit/>
          </a:bodyPr>
          <a:lstStyle/>
          <a:p>
            <a:pPr algn="l">
              <a:lnSpc>
                <a:spcPct val="100000"/>
              </a:lnSpc>
            </a:pPr>
            <a:r>
              <a:rPr sz="1000" b="1">
                <a:solidFill>
                  <a:srgbClr val="8E77FF"/>
                </a:solidFill>
                <a:latin typeface="Aptos"/>
              </a:rPr>
              <a:t>RECENT STATE</a:t>
            </a:r>
          </a:p>
        </p:txBody>
      </p:sp>
      <p:sp>
        <p:nvSpPr>
          <p:cNvPr id="16" name="TextBox 15"/>
          <p:cNvSpPr txBox="1"/>
          <p:nvPr/>
        </p:nvSpPr>
        <p:spPr>
          <a:xfrm>
            <a:off x="8375904" y="2615184"/>
            <a:ext cx="2834640" cy="685800"/>
          </a:xfrm>
          <a:prstGeom prst="rect">
            <a:avLst/>
          </a:prstGeom>
          <a:noFill/>
        </p:spPr>
        <p:txBody>
          <a:bodyPr wrap="square" lIns="18288" tIns="18288" rIns="18288" bIns="18288" anchor="t">
            <a:spAutoFit/>
          </a:bodyPr>
          <a:lstStyle/>
          <a:p>
            <a:pPr algn="l">
              <a:lnSpc>
                <a:spcPct val="100000"/>
              </a:lnSpc>
            </a:pPr>
            <a:r>
              <a:rPr sz="1800" b="1">
                <a:solidFill>
                  <a:srgbClr val="F2F6FA"/>
                </a:solidFill>
                <a:latin typeface="Aptos Display"/>
              </a:rPr>
              <a:t>Previous • lag • rolling availability</a:t>
            </a:r>
          </a:p>
        </p:txBody>
      </p:sp>
      <p:cxnSp>
        <p:nvCxnSpPr>
          <p:cNvPr id="17" name="Connector 16"/>
          <p:cNvCxnSpPr/>
          <p:nvPr/>
        </p:nvCxnSpPr>
        <p:spPr>
          <a:xfrm>
            <a:off x="8375904" y="3456432"/>
            <a:ext cx="2788920" cy="0"/>
          </a:xfrm>
          <a:prstGeom prst="line">
            <a:avLst/>
          </a:prstGeom>
          <a:ln w="25400">
            <a:solidFill>
              <a:srgbClr val="8E77FF"/>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85800" y="4160520"/>
            <a:ext cx="10808208" cy="1325880"/>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4416552"/>
            <a:ext cx="1463040" cy="228600"/>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PROJECT VALUE</a:t>
            </a:r>
          </a:p>
        </p:txBody>
      </p:sp>
      <p:sp>
        <p:nvSpPr>
          <p:cNvPr id="20" name="TextBox 19"/>
          <p:cNvSpPr txBox="1"/>
          <p:nvPr/>
        </p:nvSpPr>
        <p:spPr>
          <a:xfrm>
            <a:off x="914400" y="4773168"/>
            <a:ext cx="9966960" cy="457200"/>
          </a:xfrm>
          <a:prstGeom prst="rect">
            <a:avLst/>
          </a:prstGeom>
          <a:noFill/>
        </p:spPr>
        <p:txBody>
          <a:bodyPr wrap="square" lIns="18288" tIns="18288" rIns="18288" bIns="18288" anchor="t">
            <a:spAutoFit/>
          </a:bodyPr>
          <a:lstStyle/>
          <a:p>
            <a:pPr algn="l">
              <a:lnSpc>
                <a:spcPct val="100000"/>
              </a:lnSpc>
            </a:pPr>
            <a:r>
              <a:rPr sz="1700" b="1">
                <a:solidFill>
                  <a:srgbClr val="F2F6FA"/>
                </a:solidFill>
                <a:latin typeface="Aptos"/>
              </a:rPr>
              <a:t>Turn historical parking data into a numerical availability estimate that can be consumed by a web application.</a:t>
            </a:r>
          </a:p>
        </p:txBody>
      </p:sp>
      <p:cxnSp>
        <p:nvCxnSpPr>
          <p:cNvPr id="21" name="Connector 20"/>
          <p:cNvCxnSpPr/>
          <p:nvPr/>
        </p:nvCxnSpPr>
        <p:spPr>
          <a:xfrm>
            <a:off x="502920" y="6473952"/>
            <a:ext cx="11183112" cy="0"/>
          </a:xfrm>
          <a:prstGeom prst="line">
            <a:avLst/>
          </a:prstGeom>
          <a:ln w="8890">
            <a:solidFill>
              <a:srgbClr val="26314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30352" y="6537960"/>
            <a:ext cx="2926080" cy="164592"/>
          </a:xfrm>
          <a:prstGeom prst="rect">
            <a:avLst/>
          </a:prstGeom>
          <a:noFill/>
        </p:spPr>
        <p:txBody>
          <a:bodyPr wrap="square" lIns="18288" tIns="18288" rIns="18288" bIns="18288" anchor="t">
            <a:spAutoFit/>
          </a:bodyPr>
          <a:lstStyle/>
          <a:p>
            <a:pPr algn="l">
              <a:lnSpc>
                <a:spcPct val="100000"/>
              </a:lnSpc>
            </a:pPr>
            <a:r>
              <a:rPr sz="750" b="1">
                <a:solidFill>
                  <a:srgbClr val="A4B0BF"/>
                </a:solidFill>
                <a:latin typeface="Aptos"/>
              </a:rPr>
              <a:t>PARKING AVAILABILITY AI</a:t>
            </a:r>
          </a:p>
        </p:txBody>
      </p:sp>
      <p:sp>
        <p:nvSpPr>
          <p:cNvPr id="23" name="TextBox 22"/>
          <p:cNvSpPr txBox="1"/>
          <p:nvPr/>
        </p:nvSpPr>
        <p:spPr>
          <a:xfrm>
            <a:off x="8503920" y="6537960"/>
            <a:ext cx="3108960" cy="164592"/>
          </a:xfrm>
          <a:prstGeom prst="rect">
            <a:avLst/>
          </a:prstGeom>
          <a:noFill/>
        </p:spPr>
        <p:txBody>
          <a:bodyPr wrap="square" lIns="18288" tIns="18288" rIns="18288" bIns="18288" anchor="t">
            <a:spAutoFit/>
          </a:bodyPr>
          <a:lstStyle/>
          <a:p>
            <a:pPr algn="r">
              <a:lnSpc>
                <a:spcPct val="100000"/>
              </a:lnSpc>
            </a:pPr>
            <a:r>
              <a:rPr sz="750" b="0">
                <a:solidFill>
                  <a:srgbClr val="A4B0BF"/>
                </a:solidFill>
                <a:latin typeface="Aptos"/>
              </a:rPr>
              <a:t>Machine Learning • Final Review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0D1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2743200" cy="256032"/>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03 • OBJECTIVES</a:t>
            </a:r>
          </a:p>
        </p:txBody>
      </p:sp>
      <p:sp>
        <p:nvSpPr>
          <p:cNvPr id="3" name="TextBox 2"/>
          <p:cNvSpPr txBox="1"/>
          <p:nvPr/>
        </p:nvSpPr>
        <p:spPr>
          <a:xfrm>
            <a:off x="502920" y="612648"/>
            <a:ext cx="10789920" cy="658368"/>
          </a:xfrm>
          <a:prstGeom prst="rect">
            <a:avLst/>
          </a:prstGeom>
          <a:noFill/>
        </p:spPr>
        <p:txBody>
          <a:bodyPr wrap="square" lIns="18288" tIns="18288" rIns="18288" bIns="18288" anchor="t">
            <a:spAutoFit/>
          </a:bodyPr>
          <a:lstStyle/>
          <a:p>
            <a:pPr algn="l">
              <a:lnSpc>
                <a:spcPct val="100000"/>
              </a:lnSpc>
            </a:pPr>
            <a:r>
              <a:rPr sz="2800" b="1">
                <a:solidFill>
                  <a:srgbClr val="F2F6FA"/>
                </a:solidFill>
                <a:latin typeface="Aptos Display"/>
              </a:rPr>
              <a:t>Project objectives</a:t>
            </a:r>
          </a:p>
        </p:txBody>
      </p:sp>
      <p:sp>
        <p:nvSpPr>
          <p:cNvPr id="4" name="TextBox 3"/>
          <p:cNvSpPr txBox="1"/>
          <p:nvPr/>
        </p:nvSpPr>
        <p:spPr>
          <a:xfrm>
            <a:off x="530352" y="1261872"/>
            <a:ext cx="10698480" cy="384048"/>
          </a:xfrm>
          <a:prstGeom prst="rect">
            <a:avLst/>
          </a:prstGeom>
          <a:noFill/>
        </p:spPr>
        <p:txBody>
          <a:bodyPr wrap="square" lIns="18288" tIns="18288" rIns="18288" bIns="18288" anchor="t">
            <a:spAutoFit/>
          </a:bodyPr>
          <a:lstStyle/>
          <a:p>
            <a:pPr algn="l">
              <a:lnSpc>
                <a:spcPct val="100000"/>
              </a:lnSpc>
            </a:pPr>
            <a:r>
              <a:rPr sz="1250" b="0">
                <a:solidFill>
                  <a:srgbClr val="A4B0BF"/>
                </a:solidFill>
                <a:latin typeface="Aptos"/>
              </a:rPr>
              <a:t>A complete ML lifecycle from data preparation to deployment.</a:t>
            </a:r>
          </a:p>
        </p:txBody>
      </p:sp>
      <p:sp>
        <p:nvSpPr>
          <p:cNvPr id="5" name="TextBox 4"/>
          <p:cNvSpPr txBox="1"/>
          <p:nvPr/>
        </p:nvSpPr>
        <p:spPr>
          <a:xfrm>
            <a:off x="11292840" y="329184"/>
            <a:ext cx="411480" cy="274320"/>
          </a:xfrm>
          <a:prstGeom prst="rect">
            <a:avLst/>
          </a:prstGeom>
          <a:noFill/>
        </p:spPr>
        <p:txBody>
          <a:bodyPr wrap="square" lIns="18288" tIns="18288" rIns="18288" bIns="18288" anchor="t">
            <a:spAutoFit/>
          </a:bodyPr>
          <a:lstStyle/>
          <a:p>
            <a:pPr algn="r">
              <a:lnSpc>
                <a:spcPct val="100000"/>
              </a:lnSpc>
            </a:pPr>
            <a:r>
              <a:rPr sz="1000" b="1">
                <a:solidFill>
                  <a:srgbClr val="A4B0BF"/>
                </a:solidFill>
                <a:latin typeface="Aptos"/>
              </a:rPr>
              <a:t>04</a:t>
            </a:r>
          </a:p>
        </p:txBody>
      </p:sp>
      <p:sp>
        <p:nvSpPr>
          <p:cNvPr id="6" name="TextBox 5"/>
          <p:cNvSpPr txBox="1"/>
          <p:nvPr/>
        </p:nvSpPr>
        <p:spPr>
          <a:xfrm>
            <a:off x="731520" y="1783080"/>
            <a:ext cx="411480" cy="365760"/>
          </a:xfrm>
          <a:prstGeom prst="rect">
            <a:avLst/>
          </a:prstGeom>
          <a:noFill/>
        </p:spPr>
        <p:txBody>
          <a:bodyPr wrap="square" lIns="18288" tIns="18288" rIns="18288" bIns="18288" anchor="t">
            <a:spAutoFit/>
          </a:bodyPr>
          <a:lstStyle/>
          <a:p>
            <a:pPr algn="l">
              <a:lnSpc>
                <a:spcPct val="100000"/>
              </a:lnSpc>
            </a:pPr>
            <a:r>
              <a:rPr sz="1200" b="1">
                <a:solidFill>
                  <a:srgbClr val="49D3EC"/>
                </a:solidFill>
                <a:latin typeface="Aptos Display"/>
              </a:rPr>
              <a:t>01</a:t>
            </a:r>
          </a:p>
        </p:txBody>
      </p:sp>
      <p:cxnSp>
        <p:nvCxnSpPr>
          <p:cNvPr id="7" name="Connector 6"/>
          <p:cNvCxnSpPr/>
          <p:nvPr/>
        </p:nvCxnSpPr>
        <p:spPr>
          <a:xfrm>
            <a:off x="1280160" y="1956816"/>
            <a:ext cx="411480" cy="0"/>
          </a:xfrm>
          <a:prstGeom prst="line">
            <a:avLst/>
          </a:prstGeom>
          <a:ln w="12700">
            <a:solidFill>
              <a:srgbClr val="26314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874519" y="1764792"/>
            <a:ext cx="1417320" cy="320040"/>
          </a:xfrm>
          <a:prstGeom prst="rect">
            <a:avLst/>
          </a:prstGeom>
          <a:noFill/>
        </p:spPr>
        <p:txBody>
          <a:bodyPr wrap="square" lIns="18288" tIns="18288" rIns="18288" bIns="18288" anchor="t">
            <a:spAutoFit/>
          </a:bodyPr>
          <a:lstStyle/>
          <a:p>
            <a:pPr algn="l">
              <a:lnSpc>
                <a:spcPct val="100000"/>
              </a:lnSpc>
            </a:pPr>
            <a:r>
              <a:rPr sz="1300" b="1">
                <a:solidFill>
                  <a:srgbClr val="F2F6FA"/>
                </a:solidFill>
                <a:latin typeface="Aptos"/>
              </a:rPr>
              <a:t>Prepare</a:t>
            </a:r>
          </a:p>
        </p:txBody>
      </p:sp>
      <p:sp>
        <p:nvSpPr>
          <p:cNvPr id="9" name="TextBox 8"/>
          <p:cNvSpPr txBox="1"/>
          <p:nvPr/>
        </p:nvSpPr>
        <p:spPr>
          <a:xfrm>
            <a:off x="3246120" y="1764792"/>
            <a:ext cx="7589520" cy="438912"/>
          </a:xfrm>
          <a:prstGeom prst="rect">
            <a:avLst/>
          </a:prstGeom>
          <a:noFill/>
        </p:spPr>
        <p:txBody>
          <a:bodyPr wrap="square" lIns="18288" tIns="18288" rIns="18288" bIns="18288" anchor="t">
            <a:spAutoFit/>
          </a:bodyPr>
          <a:lstStyle/>
          <a:p>
            <a:pPr algn="l">
              <a:lnSpc>
                <a:spcPct val="100000"/>
              </a:lnSpc>
            </a:pPr>
            <a:r>
              <a:rPr sz="1150" b="0">
                <a:solidFill>
                  <a:srgbClr val="A4B0BF"/>
                </a:solidFill>
                <a:latin typeface="Aptos"/>
              </a:rPr>
              <a:t>Create a model-ready parking dataset.</a:t>
            </a:r>
          </a:p>
        </p:txBody>
      </p:sp>
      <p:sp>
        <p:nvSpPr>
          <p:cNvPr id="10" name="TextBox 9"/>
          <p:cNvSpPr txBox="1"/>
          <p:nvPr/>
        </p:nvSpPr>
        <p:spPr>
          <a:xfrm>
            <a:off x="731520" y="2624328"/>
            <a:ext cx="411480" cy="365760"/>
          </a:xfrm>
          <a:prstGeom prst="rect">
            <a:avLst/>
          </a:prstGeom>
          <a:noFill/>
        </p:spPr>
        <p:txBody>
          <a:bodyPr wrap="square" lIns="18288" tIns="18288" rIns="18288" bIns="18288" anchor="t">
            <a:spAutoFit/>
          </a:bodyPr>
          <a:lstStyle/>
          <a:p>
            <a:pPr algn="l">
              <a:lnSpc>
                <a:spcPct val="100000"/>
              </a:lnSpc>
            </a:pPr>
            <a:r>
              <a:rPr sz="1200" b="1">
                <a:solidFill>
                  <a:srgbClr val="49D3EC"/>
                </a:solidFill>
                <a:latin typeface="Aptos Display"/>
              </a:rPr>
              <a:t>02</a:t>
            </a:r>
          </a:p>
        </p:txBody>
      </p:sp>
      <p:cxnSp>
        <p:nvCxnSpPr>
          <p:cNvPr id="11" name="Connector 10"/>
          <p:cNvCxnSpPr/>
          <p:nvPr/>
        </p:nvCxnSpPr>
        <p:spPr>
          <a:xfrm>
            <a:off x="1280160" y="2798064"/>
            <a:ext cx="411480" cy="0"/>
          </a:xfrm>
          <a:prstGeom prst="line">
            <a:avLst/>
          </a:prstGeom>
          <a:ln w="12700">
            <a:solidFill>
              <a:srgbClr val="26314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874519" y="2606040"/>
            <a:ext cx="1417320" cy="320040"/>
          </a:xfrm>
          <a:prstGeom prst="rect">
            <a:avLst/>
          </a:prstGeom>
          <a:noFill/>
        </p:spPr>
        <p:txBody>
          <a:bodyPr wrap="square" lIns="18288" tIns="18288" rIns="18288" bIns="18288" anchor="t">
            <a:spAutoFit/>
          </a:bodyPr>
          <a:lstStyle/>
          <a:p>
            <a:pPr algn="l">
              <a:lnSpc>
                <a:spcPct val="100000"/>
              </a:lnSpc>
            </a:pPr>
            <a:r>
              <a:rPr sz="1300" b="1">
                <a:solidFill>
                  <a:srgbClr val="F2F6FA"/>
                </a:solidFill>
                <a:latin typeface="Aptos"/>
              </a:rPr>
              <a:t>Explore</a:t>
            </a:r>
          </a:p>
        </p:txBody>
      </p:sp>
      <p:sp>
        <p:nvSpPr>
          <p:cNvPr id="13" name="TextBox 12"/>
          <p:cNvSpPr txBox="1"/>
          <p:nvPr/>
        </p:nvSpPr>
        <p:spPr>
          <a:xfrm>
            <a:off x="3246120" y="2606040"/>
            <a:ext cx="7589520" cy="438912"/>
          </a:xfrm>
          <a:prstGeom prst="rect">
            <a:avLst/>
          </a:prstGeom>
          <a:noFill/>
        </p:spPr>
        <p:txBody>
          <a:bodyPr wrap="square" lIns="18288" tIns="18288" rIns="18288" bIns="18288" anchor="t">
            <a:spAutoFit/>
          </a:bodyPr>
          <a:lstStyle/>
          <a:p>
            <a:pPr algn="l">
              <a:lnSpc>
                <a:spcPct val="100000"/>
              </a:lnSpc>
            </a:pPr>
            <a:r>
              <a:rPr sz="1150" b="0">
                <a:solidFill>
                  <a:srgbClr val="A4B0BF"/>
                </a:solidFill>
                <a:latin typeface="Aptos"/>
              </a:rPr>
              <a:t>Use EDA to understand distributions, trends and relationships.</a:t>
            </a:r>
          </a:p>
        </p:txBody>
      </p:sp>
      <p:sp>
        <p:nvSpPr>
          <p:cNvPr id="14" name="TextBox 13"/>
          <p:cNvSpPr txBox="1"/>
          <p:nvPr/>
        </p:nvSpPr>
        <p:spPr>
          <a:xfrm>
            <a:off x="731520" y="3465576"/>
            <a:ext cx="411480" cy="365760"/>
          </a:xfrm>
          <a:prstGeom prst="rect">
            <a:avLst/>
          </a:prstGeom>
          <a:noFill/>
        </p:spPr>
        <p:txBody>
          <a:bodyPr wrap="square" lIns="18288" tIns="18288" rIns="18288" bIns="18288" anchor="t">
            <a:spAutoFit/>
          </a:bodyPr>
          <a:lstStyle/>
          <a:p>
            <a:pPr algn="l">
              <a:lnSpc>
                <a:spcPct val="100000"/>
              </a:lnSpc>
            </a:pPr>
            <a:r>
              <a:rPr sz="1200" b="1">
                <a:solidFill>
                  <a:srgbClr val="49D3EC"/>
                </a:solidFill>
                <a:latin typeface="Aptos Display"/>
              </a:rPr>
              <a:t>03</a:t>
            </a:r>
          </a:p>
        </p:txBody>
      </p:sp>
      <p:cxnSp>
        <p:nvCxnSpPr>
          <p:cNvPr id="15" name="Connector 14"/>
          <p:cNvCxnSpPr/>
          <p:nvPr/>
        </p:nvCxnSpPr>
        <p:spPr>
          <a:xfrm>
            <a:off x="1280160" y="3639312"/>
            <a:ext cx="411480" cy="0"/>
          </a:xfrm>
          <a:prstGeom prst="line">
            <a:avLst/>
          </a:prstGeom>
          <a:ln w="12700">
            <a:solidFill>
              <a:srgbClr val="26314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874519" y="3447288"/>
            <a:ext cx="1417320" cy="320040"/>
          </a:xfrm>
          <a:prstGeom prst="rect">
            <a:avLst/>
          </a:prstGeom>
          <a:noFill/>
        </p:spPr>
        <p:txBody>
          <a:bodyPr wrap="square" lIns="18288" tIns="18288" rIns="18288" bIns="18288" anchor="t">
            <a:spAutoFit/>
          </a:bodyPr>
          <a:lstStyle/>
          <a:p>
            <a:pPr algn="l">
              <a:lnSpc>
                <a:spcPct val="100000"/>
              </a:lnSpc>
            </a:pPr>
            <a:r>
              <a:rPr sz="1300" b="1">
                <a:solidFill>
                  <a:srgbClr val="F2F6FA"/>
                </a:solidFill>
                <a:latin typeface="Aptos"/>
              </a:rPr>
              <a:t>Engineer</a:t>
            </a:r>
          </a:p>
        </p:txBody>
      </p:sp>
      <p:sp>
        <p:nvSpPr>
          <p:cNvPr id="17" name="TextBox 16"/>
          <p:cNvSpPr txBox="1"/>
          <p:nvPr/>
        </p:nvSpPr>
        <p:spPr>
          <a:xfrm>
            <a:off x="3246120" y="3447288"/>
            <a:ext cx="7589520" cy="438912"/>
          </a:xfrm>
          <a:prstGeom prst="rect">
            <a:avLst/>
          </a:prstGeom>
          <a:noFill/>
        </p:spPr>
        <p:txBody>
          <a:bodyPr wrap="square" lIns="18288" tIns="18288" rIns="18288" bIns="18288" anchor="t">
            <a:spAutoFit/>
          </a:bodyPr>
          <a:lstStyle/>
          <a:p>
            <a:pPr algn="l">
              <a:lnSpc>
                <a:spcPct val="100000"/>
              </a:lnSpc>
            </a:pPr>
            <a:r>
              <a:rPr sz="1150" b="0">
                <a:solidFill>
                  <a:srgbClr val="A4B0BF"/>
                </a:solidFill>
                <a:latin typeface="Aptos"/>
              </a:rPr>
              <a:t>Create temporal, lag and rolling-availability features.</a:t>
            </a:r>
          </a:p>
        </p:txBody>
      </p:sp>
      <p:sp>
        <p:nvSpPr>
          <p:cNvPr id="18" name="TextBox 17"/>
          <p:cNvSpPr txBox="1"/>
          <p:nvPr/>
        </p:nvSpPr>
        <p:spPr>
          <a:xfrm>
            <a:off x="731520" y="4306824"/>
            <a:ext cx="411480" cy="365760"/>
          </a:xfrm>
          <a:prstGeom prst="rect">
            <a:avLst/>
          </a:prstGeom>
          <a:noFill/>
        </p:spPr>
        <p:txBody>
          <a:bodyPr wrap="square" lIns="18288" tIns="18288" rIns="18288" bIns="18288" anchor="t">
            <a:spAutoFit/>
          </a:bodyPr>
          <a:lstStyle/>
          <a:p>
            <a:pPr algn="l">
              <a:lnSpc>
                <a:spcPct val="100000"/>
              </a:lnSpc>
            </a:pPr>
            <a:r>
              <a:rPr sz="1200" b="1">
                <a:solidFill>
                  <a:srgbClr val="49D3EC"/>
                </a:solidFill>
                <a:latin typeface="Aptos Display"/>
              </a:rPr>
              <a:t>04</a:t>
            </a:r>
          </a:p>
        </p:txBody>
      </p:sp>
      <p:cxnSp>
        <p:nvCxnSpPr>
          <p:cNvPr id="19" name="Connector 18"/>
          <p:cNvCxnSpPr/>
          <p:nvPr/>
        </p:nvCxnSpPr>
        <p:spPr>
          <a:xfrm>
            <a:off x="1280160" y="4480560"/>
            <a:ext cx="411480" cy="0"/>
          </a:xfrm>
          <a:prstGeom prst="line">
            <a:avLst/>
          </a:prstGeom>
          <a:ln w="12700">
            <a:solidFill>
              <a:srgbClr val="26314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874519" y="4288536"/>
            <a:ext cx="1417320" cy="320040"/>
          </a:xfrm>
          <a:prstGeom prst="rect">
            <a:avLst/>
          </a:prstGeom>
          <a:noFill/>
        </p:spPr>
        <p:txBody>
          <a:bodyPr wrap="square" lIns="18288" tIns="18288" rIns="18288" bIns="18288" anchor="t">
            <a:spAutoFit/>
          </a:bodyPr>
          <a:lstStyle/>
          <a:p>
            <a:pPr algn="l">
              <a:lnSpc>
                <a:spcPct val="100000"/>
              </a:lnSpc>
            </a:pPr>
            <a:r>
              <a:rPr sz="1300" b="1">
                <a:solidFill>
                  <a:srgbClr val="F2F6FA"/>
                </a:solidFill>
                <a:latin typeface="Aptos"/>
              </a:rPr>
              <a:t>Compare</a:t>
            </a:r>
          </a:p>
        </p:txBody>
      </p:sp>
      <p:sp>
        <p:nvSpPr>
          <p:cNvPr id="21" name="TextBox 20"/>
          <p:cNvSpPr txBox="1"/>
          <p:nvPr/>
        </p:nvSpPr>
        <p:spPr>
          <a:xfrm>
            <a:off x="3246120" y="4288536"/>
            <a:ext cx="7589520" cy="438912"/>
          </a:xfrm>
          <a:prstGeom prst="rect">
            <a:avLst/>
          </a:prstGeom>
          <a:noFill/>
        </p:spPr>
        <p:txBody>
          <a:bodyPr wrap="square" lIns="18288" tIns="18288" rIns="18288" bIns="18288" anchor="t">
            <a:spAutoFit/>
          </a:bodyPr>
          <a:lstStyle/>
          <a:p>
            <a:pPr algn="l">
              <a:lnSpc>
                <a:spcPct val="100000"/>
              </a:lnSpc>
            </a:pPr>
            <a:r>
              <a:rPr sz="1150" b="0">
                <a:solidFill>
                  <a:srgbClr val="A4B0BF"/>
                </a:solidFill>
                <a:latin typeface="Aptos"/>
              </a:rPr>
              <a:t>Train three ensemble regression approaches.</a:t>
            </a:r>
          </a:p>
        </p:txBody>
      </p:sp>
      <p:sp>
        <p:nvSpPr>
          <p:cNvPr id="22" name="TextBox 21"/>
          <p:cNvSpPr txBox="1"/>
          <p:nvPr/>
        </p:nvSpPr>
        <p:spPr>
          <a:xfrm>
            <a:off x="731520" y="5148072"/>
            <a:ext cx="411480" cy="365760"/>
          </a:xfrm>
          <a:prstGeom prst="rect">
            <a:avLst/>
          </a:prstGeom>
          <a:noFill/>
        </p:spPr>
        <p:txBody>
          <a:bodyPr wrap="square" lIns="18288" tIns="18288" rIns="18288" bIns="18288" anchor="t">
            <a:spAutoFit/>
          </a:bodyPr>
          <a:lstStyle/>
          <a:p>
            <a:pPr algn="l">
              <a:lnSpc>
                <a:spcPct val="100000"/>
              </a:lnSpc>
            </a:pPr>
            <a:r>
              <a:rPr sz="1200" b="1">
                <a:solidFill>
                  <a:srgbClr val="49D3EC"/>
                </a:solidFill>
                <a:latin typeface="Aptos Display"/>
              </a:rPr>
              <a:t>05</a:t>
            </a:r>
          </a:p>
        </p:txBody>
      </p:sp>
      <p:cxnSp>
        <p:nvCxnSpPr>
          <p:cNvPr id="23" name="Connector 22"/>
          <p:cNvCxnSpPr/>
          <p:nvPr/>
        </p:nvCxnSpPr>
        <p:spPr>
          <a:xfrm>
            <a:off x="1280160" y="5321808"/>
            <a:ext cx="411480" cy="0"/>
          </a:xfrm>
          <a:prstGeom prst="line">
            <a:avLst/>
          </a:prstGeom>
          <a:ln w="12700">
            <a:solidFill>
              <a:srgbClr val="26314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74519" y="5129784"/>
            <a:ext cx="1417320" cy="320040"/>
          </a:xfrm>
          <a:prstGeom prst="rect">
            <a:avLst/>
          </a:prstGeom>
          <a:noFill/>
        </p:spPr>
        <p:txBody>
          <a:bodyPr wrap="square" lIns="18288" tIns="18288" rIns="18288" bIns="18288" anchor="t">
            <a:spAutoFit/>
          </a:bodyPr>
          <a:lstStyle/>
          <a:p>
            <a:pPr algn="l">
              <a:lnSpc>
                <a:spcPct val="100000"/>
              </a:lnSpc>
            </a:pPr>
            <a:r>
              <a:rPr sz="1300" b="1">
                <a:solidFill>
                  <a:srgbClr val="F2F6FA"/>
                </a:solidFill>
                <a:latin typeface="Aptos"/>
              </a:rPr>
              <a:t>Deploy</a:t>
            </a:r>
          </a:p>
        </p:txBody>
      </p:sp>
      <p:sp>
        <p:nvSpPr>
          <p:cNvPr id="25" name="TextBox 24"/>
          <p:cNvSpPr txBox="1"/>
          <p:nvPr/>
        </p:nvSpPr>
        <p:spPr>
          <a:xfrm>
            <a:off x="3246120" y="5129784"/>
            <a:ext cx="7589520" cy="438912"/>
          </a:xfrm>
          <a:prstGeom prst="rect">
            <a:avLst/>
          </a:prstGeom>
          <a:noFill/>
        </p:spPr>
        <p:txBody>
          <a:bodyPr wrap="square" lIns="18288" tIns="18288" rIns="18288" bIns="18288" anchor="t">
            <a:spAutoFit/>
          </a:bodyPr>
          <a:lstStyle/>
          <a:p>
            <a:pPr algn="l">
              <a:lnSpc>
                <a:spcPct val="100000"/>
              </a:lnSpc>
            </a:pPr>
            <a:r>
              <a:rPr sz="1150" b="0">
                <a:solidFill>
                  <a:srgbClr val="A4B0BF"/>
                </a:solidFill>
                <a:latin typeface="Aptos"/>
              </a:rPr>
              <a:t>Expose the selected model through Flask and an interactive UI.</a:t>
            </a:r>
          </a:p>
        </p:txBody>
      </p:sp>
      <p:cxnSp>
        <p:nvCxnSpPr>
          <p:cNvPr id="26" name="Connector 25"/>
          <p:cNvCxnSpPr/>
          <p:nvPr/>
        </p:nvCxnSpPr>
        <p:spPr>
          <a:xfrm>
            <a:off x="502920" y="6473952"/>
            <a:ext cx="11183112" cy="0"/>
          </a:xfrm>
          <a:prstGeom prst="line">
            <a:avLst/>
          </a:prstGeom>
          <a:ln w="8890">
            <a:solidFill>
              <a:srgbClr val="26314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30352" y="6537960"/>
            <a:ext cx="2926080" cy="164592"/>
          </a:xfrm>
          <a:prstGeom prst="rect">
            <a:avLst/>
          </a:prstGeom>
          <a:noFill/>
        </p:spPr>
        <p:txBody>
          <a:bodyPr wrap="square" lIns="18288" tIns="18288" rIns="18288" bIns="18288" anchor="t">
            <a:spAutoFit/>
          </a:bodyPr>
          <a:lstStyle/>
          <a:p>
            <a:pPr algn="l">
              <a:lnSpc>
                <a:spcPct val="100000"/>
              </a:lnSpc>
            </a:pPr>
            <a:r>
              <a:rPr sz="750" b="1">
                <a:solidFill>
                  <a:srgbClr val="A4B0BF"/>
                </a:solidFill>
                <a:latin typeface="Aptos"/>
              </a:rPr>
              <a:t>PARKING AVAILABILITY AI</a:t>
            </a:r>
          </a:p>
        </p:txBody>
      </p:sp>
      <p:sp>
        <p:nvSpPr>
          <p:cNvPr id="28" name="TextBox 27"/>
          <p:cNvSpPr txBox="1"/>
          <p:nvPr/>
        </p:nvSpPr>
        <p:spPr>
          <a:xfrm>
            <a:off x="8503920" y="6537960"/>
            <a:ext cx="3108960" cy="164592"/>
          </a:xfrm>
          <a:prstGeom prst="rect">
            <a:avLst/>
          </a:prstGeom>
          <a:noFill/>
        </p:spPr>
        <p:txBody>
          <a:bodyPr wrap="square" lIns="18288" tIns="18288" rIns="18288" bIns="18288" anchor="t">
            <a:spAutoFit/>
          </a:bodyPr>
          <a:lstStyle/>
          <a:p>
            <a:pPr algn="r">
              <a:lnSpc>
                <a:spcPct val="100000"/>
              </a:lnSpc>
            </a:pPr>
            <a:r>
              <a:rPr sz="750" b="0">
                <a:solidFill>
                  <a:srgbClr val="A4B0BF"/>
                </a:solidFill>
                <a:latin typeface="Aptos"/>
              </a:rPr>
              <a:t>Machine Learning • Final Review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0D1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2743200" cy="256032"/>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04 • SYSTEM</a:t>
            </a:r>
          </a:p>
        </p:txBody>
      </p:sp>
      <p:sp>
        <p:nvSpPr>
          <p:cNvPr id="3" name="TextBox 2"/>
          <p:cNvSpPr txBox="1"/>
          <p:nvPr/>
        </p:nvSpPr>
        <p:spPr>
          <a:xfrm>
            <a:off x="502920" y="612648"/>
            <a:ext cx="10789920" cy="658368"/>
          </a:xfrm>
          <a:prstGeom prst="rect">
            <a:avLst/>
          </a:prstGeom>
          <a:noFill/>
        </p:spPr>
        <p:txBody>
          <a:bodyPr wrap="square" lIns="18288" tIns="18288" rIns="18288" bIns="18288" anchor="t">
            <a:spAutoFit/>
          </a:bodyPr>
          <a:lstStyle/>
          <a:p>
            <a:pPr algn="l">
              <a:lnSpc>
                <a:spcPct val="100000"/>
              </a:lnSpc>
            </a:pPr>
            <a:r>
              <a:rPr sz="2800" b="1">
                <a:solidFill>
                  <a:srgbClr val="F2F6FA"/>
                </a:solidFill>
                <a:latin typeface="Aptos Display"/>
              </a:rPr>
              <a:t>End-to-end system architecture</a:t>
            </a:r>
          </a:p>
        </p:txBody>
      </p:sp>
      <p:sp>
        <p:nvSpPr>
          <p:cNvPr id="4" name="TextBox 3"/>
          <p:cNvSpPr txBox="1"/>
          <p:nvPr/>
        </p:nvSpPr>
        <p:spPr>
          <a:xfrm>
            <a:off x="530352" y="1261872"/>
            <a:ext cx="10698480" cy="384048"/>
          </a:xfrm>
          <a:prstGeom prst="rect">
            <a:avLst/>
          </a:prstGeom>
          <a:noFill/>
        </p:spPr>
        <p:txBody>
          <a:bodyPr wrap="square" lIns="18288" tIns="18288" rIns="18288" bIns="18288" anchor="t">
            <a:spAutoFit/>
          </a:bodyPr>
          <a:lstStyle/>
          <a:p>
            <a:pPr algn="l">
              <a:lnSpc>
                <a:spcPct val="100000"/>
              </a:lnSpc>
            </a:pPr>
            <a:r>
              <a:rPr sz="1250" b="0">
                <a:solidFill>
                  <a:srgbClr val="A4B0BF"/>
                </a:solidFill>
                <a:latin typeface="Aptos"/>
              </a:rPr>
              <a:t>One pipeline connects data engineering, ML evaluation and the web application.</a:t>
            </a:r>
          </a:p>
        </p:txBody>
      </p:sp>
      <p:sp>
        <p:nvSpPr>
          <p:cNvPr id="5" name="TextBox 4"/>
          <p:cNvSpPr txBox="1"/>
          <p:nvPr/>
        </p:nvSpPr>
        <p:spPr>
          <a:xfrm>
            <a:off x="11292840" y="329184"/>
            <a:ext cx="411480" cy="274320"/>
          </a:xfrm>
          <a:prstGeom prst="rect">
            <a:avLst/>
          </a:prstGeom>
          <a:noFill/>
        </p:spPr>
        <p:txBody>
          <a:bodyPr wrap="square" lIns="18288" tIns="18288" rIns="18288" bIns="18288" anchor="t">
            <a:spAutoFit/>
          </a:bodyPr>
          <a:lstStyle/>
          <a:p>
            <a:pPr algn="r">
              <a:lnSpc>
                <a:spcPct val="100000"/>
              </a:lnSpc>
            </a:pPr>
            <a:r>
              <a:rPr sz="1000" b="1">
                <a:solidFill>
                  <a:srgbClr val="A4B0BF"/>
                </a:solidFill>
                <a:latin typeface="Aptos"/>
              </a:rPr>
              <a:t>05</a:t>
            </a:r>
          </a:p>
        </p:txBody>
      </p:sp>
      <p:sp>
        <p:nvSpPr>
          <p:cNvPr id="6" name="Rounded Rectangle 5"/>
          <p:cNvSpPr/>
          <p:nvPr/>
        </p:nvSpPr>
        <p:spPr>
          <a:xfrm>
            <a:off x="502920" y="1828800"/>
            <a:ext cx="3246120" cy="6400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828800"/>
            <a:ext cx="54864" cy="640080"/>
          </a:xfrm>
          <a:prstGeom prst="rect">
            <a:avLst/>
          </a:prstGeom>
          <a:solidFill>
            <a:srgbClr val="49D3EC"/>
          </a:solidFill>
          <a:ln w="10160">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 y="1901952"/>
            <a:ext cx="2990087" cy="530352"/>
          </a:xfrm>
          <a:prstGeom prst="rect">
            <a:avLst/>
          </a:prstGeom>
          <a:noFill/>
        </p:spPr>
        <p:txBody>
          <a:bodyPr wrap="square" lIns="18288" tIns="18288" rIns="18288" bIns="18288" anchor="ctr">
            <a:spAutoFit/>
          </a:bodyPr>
          <a:lstStyle/>
          <a:p>
            <a:pPr algn="l">
              <a:lnSpc>
                <a:spcPct val="100000"/>
              </a:lnSpc>
            </a:pPr>
            <a:r>
              <a:rPr sz="1200" b="1">
                <a:solidFill>
                  <a:srgbClr val="F2F6FA"/>
                </a:solidFill>
                <a:latin typeface="Aptos"/>
              </a:rPr>
              <a:t>Parking Dataset</a:t>
            </a:r>
          </a:p>
        </p:txBody>
      </p:sp>
      <p:sp>
        <p:nvSpPr>
          <p:cNvPr id="9" name="Right Arrow 8"/>
          <p:cNvSpPr/>
          <p:nvPr/>
        </p:nvSpPr>
        <p:spPr>
          <a:xfrm>
            <a:off x="3831336" y="2057400"/>
            <a:ext cx="347472" cy="201168"/>
          </a:xfrm>
          <a:prstGeom prst="rightArrow">
            <a:avLst/>
          </a:prstGeom>
          <a:solidFill>
            <a:srgbClr val="49D3EC"/>
          </a:solidFill>
          <a:ln>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297680" y="1828800"/>
            <a:ext cx="3246120" cy="6400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97680" y="1828800"/>
            <a:ext cx="54864" cy="640080"/>
          </a:xfrm>
          <a:prstGeom prst="rect">
            <a:avLst/>
          </a:prstGeom>
          <a:solidFill>
            <a:srgbClr val="2DBEAA"/>
          </a:solidFill>
          <a:ln w="10160">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62272" y="1901952"/>
            <a:ext cx="2990087" cy="530352"/>
          </a:xfrm>
          <a:prstGeom prst="rect">
            <a:avLst/>
          </a:prstGeom>
          <a:noFill/>
        </p:spPr>
        <p:txBody>
          <a:bodyPr wrap="square" lIns="18288" tIns="18288" rIns="18288" bIns="18288" anchor="ctr">
            <a:spAutoFit/>
          </a:bodyPr>
          <a:lstStyle/>
          <a:p>
            <a:pPr algn="l">
              <a:lnSpc>
                <a:spcPct val="100000"/>
              </a:lnSpc>
            </a:pPr>
            <a:r>
              <a:rPr sz="1200" b="1">
                <a:solidFill>
                  <a:srgbClr val="F2F6FA"/>
                </a:solidFill>
                <a:latin typeface="Aptos"/>
              </a:rPr>
              <a:t>Preparation</a:t>
            </a:r>
          </a:p>
        </p:txBody>
      </p:sp>
      <p:sp>
        <p:nvSpPr>
          <p:cNvPr id="13" name="Right Arrow 12"/>
          <p:cNvSpPr/>
          <p:nvPr/>
        </p:nvSpPr>
        <p:spPr>
          <a:xfrm>
            <a:off x="7626096" y="2057400"/>
            <a:ext cx="347472" cy="201168"/>
          </a:xfrm>
          <a:prstGeom prst="rightArrow">
            <a:avLst/>
          </a:prstGeom>
          <a:solidFill>
            <a:srgbClr val="2DBEAA"/>
          </a:solidFill>
          <a:ln>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092440" y="1828800"/>
            <a:ext cx="3246120" cy="6400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92440" y="1828800"/>
            <a:ext cx="54864" cy="640080"/>
          </a:xfrm>
          <a:prstGeom prst="rect">
            <a:avLst/>
          </a:prstGeom>
          <a:solidFill>
            <a:srgbClr val="8E77FF"/>
          </a:solidFill>
          <a:ln w="10160">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57032" y="1901952"/>
            <a:ext cx="2990087" cy="530352"/>
          </a:xfrm>
          <a:prstGeom prst="rect">
            <a:avLst/>
          </a:prstGeom>
          <a:noFill/>
        </p:spPr>
        <p:txBody>
          <a:bodyPr wrap="square" lIns="18288" tIns="18288" rIns="18288" bIns="18288" anchor="ctr">
            <a:spAutoFit/>
          </a:bodyPr>
          <a:lstStyle/>
          <a:p>
            <a:pPr algn="l">
              <a:lnSpc>
                <a:spcPct val="100000"/>
              </a:lnSpc>
            </a:pPr>
            <a:r>
              <a:rPr sz="1200" b="1">
                <a:solidFill>
                  <a:srgbClr val="F2F6FA"/>
                </a:solidFill>
                <a:latin typeface="Aptos"/>
              </a:rPr>
              <a:t>Feature Engineering</a:t>
            </a:r>
          </a:p>
        </p:txBody>
      </p:sp>
      <p:cxnSp>
        <p:nvCxnSpPr>
          <p:cNvPr id="17" name="Connector 16"/>
          <p:cNvCxnSpPr/>
          <p:nvPr/>
        </p:nvCxnSpPr>
        <p:spPr>
          <a:xfrm>
            <a:off x="9710928" y="2487168"/>
            <a:ext cx="0" cy="438912"/>
          </a:xfrm>
          <a:prstGeom prst="line">
            <a:avLst/>
          </a:prstGeom>
          <a:ln w="15240">
            <a:solidFill>
              <a:srgbClr val="263140"/>
            </a:solidFill>
          </a:ln>
        </p:spPr>
        <p:style>
          <a:lnRef idx="2">
            <a:schemeClr val="accent1"/>
          </a:lnRef>
          <a:fillRef idx="0">
            <a:schemeClr val="accent1"/>
          </a:fillRef>
          <a:effectRef idx="1">
            <a:schemeClr val="accent1"/>
          </a:effectRef>
          <a:fontRef idx="minor">
            <a:schemeClr val="tx1"/>
          </a:fontRef>
        </p:style>
      </p:cxnSp>
      <p:sp>
        <p:nvSpPr>
          <p:cNvPr id="18" name="Down Arrow 17"/>
          <p:cNvSpPr/>
          <p:nvPr/>
        </p:nvSpPr>
        <p:spPr>
          <a:xfrm>
            <a:off x="9573768" y="2724912"/>
            <a:ext cx="274320" cy="256032"/>
          </a:xfrm>
          <a:prstGeom prst="downArrow">
            <a:avLst/>
          </a:prstGeom>
          <a:solidFill>
            <a:srgbClr val="8E77FF"/>
          </a:solidFill>
          <a:ln>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02920" y="2971800"/>
            <a:ext cx="3246120" cy="6400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02920" y="2971800"/>
            <a:ext cx="54864" cy="640080"/>
          </a:xfrm>
          <a:prstGeom prst="rect">
            <a:avLst/>
          </a:prstGeom>
          <a:solidFill>
            <a:srgbClr val="49D3EC"/>
          </a:solidFill>
          <a:ln w="10160">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7512" y="3044952"/>
            <a:ext cx="2990087" cy="530352"/>
          </a:xfrm>
          <a:prstGeom prst="rect">
            <a:avLst/>
          </a:prstGeom>
          <a:noFill/>
        </p:spPr>
        <p:txBody>
          <a:bodyPr wrap="square" lIns="18288" tIns="18288" rIns="18288" bIns="18288" anchor="ctr">
            <a:spAutoFit/>
          </a:bodyPr>
          <a:lstStyle/>
          <a:p>
            <a:pPr algn="l">
              <a:lnSpc>
                <a:spcPct val="100000"/>
              </a:lnSpc>
            </a:pPr>
            <a:r>
              <a:rPr sz="1200" b="1">
                <a:solidFill>
                  <a:srgbClr val="F2F6FA"/>
                </a:solidFill>
                <a:latin typeface="Aptos"/>
              </a:rPr>
              <a:t>Train / Validate / Test</a:t>
            </a:r>
          </a:p>
        </p:txBody>
      </p:sp>
      <p:sp>
        <p:nvSpPr>
          <p:cNvPr id="22" name="Right Arrow 21"/>
          <p:cNvSpPr/>
          <p:nvPr/>
        </p:nvSpPr>
        <p:spPr>
          <a:xfrm>
            <a:off x="3831336" y="3200400"/>
            <a:ext cx="347472" cy="201168"/>
          </a:xfrm>
          <a:prstGeom prst="rightArrow">
            <a:avLst/>
          </a:prstGeom>
          <a:solidFill>
            <a:srgbClr val="49D3EC"/>
          </a:solidFill>
          <a:ln>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297680" y="2971800"/>
            <a:ext cx="3246120" cy="6400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297680" y="2971800"/>
            <a:ext cx="54864" cy="640080"/>
          </a:xfrm>
          <a:prstGeom prst="rect">
            <a:avLst/>
          </a:prstGeom>
          <a:solidFill>
            <a:srgbClr val="2DBEAA"/>
          </a:solidFill>
          <a:ln w="10160">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62272" y="3044952"/>
            <a:ext cx="2990087" cy="530352"/>
          </a:xfrm>
          <a:prstGeom prst="rect">
            <a:avLst/>
          </a:prstGeom>
          <a:noFill/>
        </p:spPr>
        <p:txBody>
          <a:bodyPr wrap="square" lIns="18288" tIns="18288" rIns="18288" bIns="18288" anchor="ctr">
            <a:spAutoFit/>
          </a:bodyPr>
          <a:lstStyle/>
          <a:p>
            <a:pPr algn="l">
              <a:lnSpc>
                <a:spcPct val="100000"/>
              </a:lnSpc>
            </a:pPr>
            <a:r>
              <a:rPr sz="1200" b="1">
                <a:solidFill>
                  <a:srgbClr val="F2F6FA"/>
                </a:solidFill>
                <a:latin typeface="Aptos"/>
              </a:rPr>
              <a:t>Model Comparison</a:t>
            </a:r>
          </a:p>
        </p:txBody>
      </p:sp>
      <p:sp>
        <p:nvSpPr>
          <p:cNvPr id="26" name="Right Arrow 25"/>
          <p:cNvSpPr/>
          <p:nvPr/>
        </p:nvSpPr>
        <p:spPr>
          <a:xfrm>
            <a:off x="7626096" y="3200400"/>
            <a:ext cx="347472" cy="201168"/>
          </a:xfrm>
          <a:prstGeom prst="rightArrow">
            <a:avLst/>
          </a:prstGeom>
          <a:solidFill>
            <a:srgbClr val="2DBEAA"/>
          </a:solidFill>
          <a:ln>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092440" y="2971800"/>
            <a:ext cx="3246120" cy="6400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092440" y="2971800"/>
            <a:ext cx="54864" cy="640080"/>
          </a:xfrm>
          <a:prstGeom prst="rect">
            <a:avLst/>
          </a:prstGeom>
          <a:solidFill>
            <a:srgbClr val="F5AE42"/>
          </a:solidFill>
          <a:ln w="10160">
            <a:solidFill>
              <a:srgbClr val="F5A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57032" y="3044952"/>
            <a:ext cx="2990087" cy="530352"/>
          </a:xfrm>
          <a:prstGeom prst="rect">
            <a:avLst/>
          </a:prstGeom>
          <a:noFill/>
        </p:spPr>
        <p:txBody>
          <a:bodyPr wrap="square" lIns="18288" tIns="18288" rIns="18288" bIns="18288" anchor="ctr">
            <a:spAutoFit/>
          </a:bodyPr>
          <a:lstStyle/>
          <a:p>
            <a:pPr algn="l">
              <a:lnSpc>
                <a:spcPct val="100000"/>
              </a:lnSpc>
            </a:pPr>
            <a:r>
              <a:rPr sz="1200" b="1">
                <a:solidFill>
                  <a:srgbClr val="F2F6FA"/>
                </a:solidFill>
                <a:latin typeface="Aptos"/>
              </a:rPr>
              <a:t>Extra Trees</a:t>
            </a:r>
          </a:p>
        </p:txBody>
      </p:sp>
      <p:cxnSp>
        <p:nvCxnSpPr>
          <p:cNvPr id="30" name="Connector 29"/>
          <p:cNvCxnSpPr/>
          <p:nvPr/>
        </p:nvCxnSpPr>
        <p:spPr>
          <a:xfrm>
            <a:off x="9710928" y="3630168"/>
            <a:ext cx="0" cy="438912"/>
          </a:xfrm>
          <a:prstGeom prst="line">
            <a:avLst/>
          </a:prstGeom>
          <a:ln w="15240">
            <a:solidFill>
              <a:srgbClr val="263140"/>
            </a:solidFill>
          </a:ln>
        </p:spPr>
        <p:style>
          <a:lnRef idx="2">
            <a:schemeClr val="accent1"/>
          </a:lnRef>
          <a:fillRef idx="0">
            <a:schemeClr val="accent1"/>
          </a:fillRef>
          <a:effectRef idx="1">
            <a:schemeClr val="accent1"/>
          </a:effectRef>
          <a:fontRef idx="minor">
            <a:schemeClr val="tx1"/>
          </a:fontRef>
        </p:style>
      </p:cxnSp>
      <p:sp>
        <p:nvSpPr>
          <p:cNvPr id="31" name="Down Arrow 30"/>
          <p:cNvSpPr/>
          <p:nvPr/>
        </p:nvSpPr>
        <p:spPr>
          <a:xfrm>
            <a:off x="9573768" y="3867912"/>
            <a:ext cx="274320" cy="256032"/>
          </a:xfrm>
          <a:prstGeom prst="downArrow">
            <a:avLst/>
          </a:prstGeom>
          <a:solidFill>
            <a:srgbClr val="F5AE42"/>
          </a:solidFill>
          <a:ln>
            <a:solidFill>
              <a:srgbClr val="F5A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502920" y="4114800"/>
            <a:ext cx="3246120" cy="6400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02920" y="4114800"/>
            <a:ext cx="54864" cy="640080"/>
          </a:xfrm>
          <a:prstGeom prst="rect">
            <a:avLst/>
          </a:prstGeom>
          <a:solidFill>
            <a:srgbClr val="8E77FF"/>
          </a:solidFill>
          <a:ln w="10160">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7512" y="4187952"/>
            <a:ext cx="2990087" cy="530352"/>
          </a:xfrm>
          <a:prstGeom prst="rect">
            <a:avLst/>
          </a:prstGeom>
          <a:noFill/>
        </p:spPr>
        <p:txBody>
          <a:bodyPr wrap="square" lIns="18288" tIns="18288" rIns="18288" bIns="18288" anchor="ctr">
            <a:spAutoFit/>
          </a:bodyPr>
          <a:lstStyle/>
          <a:p>
            <a:pPr algn="l">
              <a:lnSpc>
                <a:spcPct val="100000"/>
              </a:lnSpc>
            </a:pPr>
            <a:r>
              <a:rPr sz="1200" b="1">
                <a:solidFill>
                  <a:srgbClr val="F2F6FA"/>
                </a:solidFill>
                <a:latin typeface="Aptos"/>
              </a:rPr>
              <a:t>best_parking_prediction_model.pkl</a:t>
            </a:r>
          </a:p>
        </p:txBody>
      </p:sp>
      <p:sp>
        <p:nvSpPr>
          <p:cNvPr id="35" name="Right Arrow 34"/>
          <p:cNvSpPr/>
          <p:nvPr/>
        </p:nvSpPr>
        <p:spPr>
          <a:xfrm>
            <a:off x="3831336" y="4343400"/>
            <a:ext cx="347472" cy="201168"/>
          </a:xfrm>
          <a:prstGeom prst="rightArrow">
            <a:avLst/>
          </a:prstGeom>
          <a:solidFill>
            <a:srgbClr val="8E77FF"/>
          </a:solidFill>
          <a:ln>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4297680" y="4114800"/>
            <a:ext cx="3246120" cy="6400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297680" y="4114800"/>
            <a:ext cx="54864" cy="640080"/>
          </a:xfrm>
          <a:prstGeom prst="rect">
            <a:avLst/>
          </a:prstGeom>
          <a:solidFill>
            <a:srgbClr val="49D3EC"/>
          </a:solidFill>
          <a:ln w="10160">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462272" y="4187952"/>
            <a:ext cx="2990087" cy="530352"/>
          </a:xfrm>
          <a:prstGeom prst="rect">
            <a:avLst/>
          </a:prstGeom>
          <a:noFill/>
        </p:spPr>
        <p:txBody>
          <a:bodyPr wrap="square" lIns="18288" tIns="18288" rIns="18288" bIns="18288" anchor="ctr">
            <a:spAutoFit/>
          </a:bodyPr>
          <a:lstStyle/>
          <a:p>
            <a:pPr algn="l">
              <a:lnSpc>
                <a:spcPct val="100000"/>
              </a:lnSpc>
            </a:pPr>
            <a:r>
              <a:rPr sz="1200" b="1">
                <a:solidFill>
                  <a:srgbClr val="F2F6FA"/>
                </a:solidFill>
                <a:latin typeface="Aptos"/>
              </a:rPr>
              <a:t>Flask API</a:t>
            </a:r>
          </a:p>
        </p:txBody>
      </p:sp>
      <p:sp>
        <p:nvSpPr>
          <p:cNvPr id="39" name="Right Arrow 38"/>
          <p:cNvSpPr/>
          <p:nvPr/>
        </p:nvSpPr>
        <p:spPr>
          <a:xfrm>
            <a:off x="7626096" y="4343400"/>
            <a:ext cx="347472" cy="201168"/>
          </a:xfrm>
          <a:prstGeom prst="rightArrow">
            <a:avLst/>
          </a:prstGeom>
          <a:solidFill>
            <a:srgbClr val="49D3EC"/>
          </a:solidFill>
          <a:ln>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8092440" y="4114800"/>
            <a:ext cx="3246120" cy="6400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8092440" y="4114800"/>
            <a:ext cx="54864" cy="640080"/>
          </a:xfrm>
          <a:prstGeom prst="rect">
            <a:avLst/>
          </a:prstGeom>
          <a:solidFill>
            <a:srgbClr val="2DBEAA"/>
          </a:solidFill>
          <a:ln w="10160">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257032" y="4187952"/>
            <a:ext cx="2990087" cy="530352"/>
          </a:xfrm>
          <a:prstGeom prst="rect">
            <a:avLst/>
          </a:prstGeom>
          <a:noFill/>
        </p:spPr>
        <p:txBody>
          <a:bodyPr wrap="square" lIns="18288" tIns="18288" rIns="18288" bIns="18288" anchor="ctr">
            <a:spAutoFit/>
          </a:bodyPr>
          <a:lstStyle/>
          <a:p>
            <a:pPr algn="l">
              <a:lnSpc>
                <a:spcPct val="100000"/>
              </a:lnSpc>
            </a:pPr>
            <a:r>
              <a:rPr sz="1200" b="1">
                <a:solidFill>
                  <a:srgbClr val="F2F6FA"/>
                </a:solidFill>
                <a:latin typeface="Aptos"/>
              </a:rPr>
              <a:t>Web Dashboard</a:t>
            </a:r>
          </a:p>
        </p:txBody>
      </p:sp>
      <p:sp>
        <p:nvSpPr>
          <p:cNvPr id="43" name="TextBox 42"/>
          <p:cNvSpPr txBox="1"/>
          <p:nvPr/>
        </p:nvSpPr>
        <p:spPr>
          <a:xfrm>
            <a:off x="685800" y="5669280"/>
            <a:ext cx="1188720" cy="228600"/>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LIVE OUTPUT</a:t>
            </a:r>
          </a:p>
        </p:txBody>
      </p:sp>
      <p:sp>
        <p:nvSpPr>
          <p:cNvPr id="44" name="TextBox 43"/>
          <p:cNvSpPr txBox="1"/>
          <p:nvPr/>
        </p:nvSpPr>
        <p:spPr>
          <a:xfrm>
            <a:off x="1874519" y="5623560"/>
            <a:ext cx="8869680" cy="347472"/>
          </a:xfrm>
          <a:prstGeom prst="rect">
            <a:avLst/>
          </a:prstGeom>
          <a:noFill/>
        </p:spPr>
        <p:txBody>
          <a:bodyPr wrap="square" lIns="18288" tIns="18288" rIns="18288" bIns="18288" anchor="t">
            <a:spAutoFit/>
          </a:bodyPr>
          <a:lstStyle/>
          <a:p>
            <a:pPr algn="l">
              <a:lnSpc>
                <a:spcPct val="100000"/>
              </a:lnSpc>
            </a:pPr>
            <a:r>
              <a:rPr sz="1300" b="1">
                <a:solidFill>
                  <a:srgbClr val="F2F6FA"/>
                </a:solidFill>
                <a:latin typeface="Aptos"/>
              </a:rPr>
              <a:t>Predicted free spaces  •  Occupancy %  •  Availability %  •  Congestion level</a:t>
            </a:r>
          </a:p>
        </p:txBody>
      </p:sp>
      <p:cxnSp>
        <p:nvCxnSpPr>
          <p:cNvPr id="45" name="Connector 44"/>
          <p:cNvCxnSpPr/>
          <p:nvPr/>
        </p:nvCxnSpPr>
        <p:spPr>
          <a:xfrm>
            <a:off x="502920" y="6473952"/>
            <a:ext cx="11183112" cy="0"/>
          </a:xfrm>
          <a:prstGeom prst="line">
            <a:avLst/>
          </a:prstGeom>
          <a:ln w="8890">
            <a:solidFill>
              <a:srgbClr val="263140"/>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30352" y="6537960"/>
            <a:ext cx="2926080" cy="164592"/>
          </a:xfrm>
          <a:prstGeom prst="rect">
            <a:avLst/>
          </a:prstGeom>
          <a:noFill/>
        </p:spPr>
        <p:txBody>
          <a:bodyPr wrap="square" lIns="18288" tIns="18288" rIns="18288" bIns="18288" anchor="t">
            <a:spAutoFit/>
          </a:bodyPr>
          <a:lstStyle/>
          <a:p>
            <a:pPr algn="l">
              <a:lnSpc>
                <a:spcPct val="100000"/>
              </a:lnSpc>
            </a:pPr>
            <a:r>
              <a:rPr sz="750" b="1">
                <a:solidFill>
                  <a:srgbClr val="A4B0BF"/>
                </a:solidFill>
                <a:latin typeface="Aptos"/>
              </a:rPr>
              <a:t>PARKING AVAILABILITY AI</a:t>
            </a:r>
          </a:p>
        </p:txBody>
      </p:sp>
      <p:sp>
        <p:nvSpPr>
          <p:cNvPr id="47" name="TextBox 46"/>
          <p:cNvSpPr txBox="1"/>
          <p:nvPr/>
        </p:nvSpPr>
        <p:spPr>
          <a:xfrm>
            <a:off x="8503920" y="6537960"/>
            <a:ext cx="3108960" cy="164592"/>
          </a:xfrm>
          <a:prstGeom prst="rect">
            <a:avLst/>
          </a:prstGeom>
          <a:noFill/>
        </p:spPr>
        <p:txBody>
          <a:bodyPr wrap="square" lIns="18288" tIns="18288" rIns="18288" bIns="18288" anchor="t">
            <a:spAutoFit/>
          </a:bodyPr>
          <a:lstStyle/>
          <a:p>
            <a:pPr algn="r">
              <a:lnSpc>
                <a:spcPct val="100000"/>
              </a:lnSpc>
            </a:pPr>
            <a:r>
              <a:rPr sz="750" b="0">
                <a:solidFill>
                  <a:srgbClr val="A4B0BF"/>
                </a:solidFill>
                <a:latin typeface="Aptos"/>
              </a:rPr>
              <a:t>Machine Learning • Final Review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0D1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2743200" cy="256032"/>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05 • DATA</a:t>
            </a:r>
          </a:p>
        </p:txBody>
      </p:sp>
      <p:sp>
        <p:nvSpPr>
          <p:cNvPr id="3" name="TextBox 2"/>
          <p:cNvSpPr txBox="1"/>
          <p:nvPr/>
        </p:nvSpPr>
        <p:spPr>
          <a:xfrm>
            <a:off x="502920" y="612648"/>
            <a:ext cx="10789920" cy="658368"/>
          </a:xfrm>
          <a:prstGeom prst="rect">
            <a:avLst/>
          </a:prstGeom>
          <a:noFill/>
        </p:spPr>
        <p:txBody>
          <a:bodyPr wrap="square" lIns="18288" tIns="18288" rIns="18288" bIns="18288" anchor="t">
            <a:spAutoFit/>
          </a:bodyPr>
          <a:lstStyle/>
          <a:p>
            <a:pPr algn="l">
              <a:lnSpc>
                <a:spcPct val="100000"/>
              </a:lnSpc>
            </a:pPr>
            <a:r>
              <a:rPr sz="2800" b="1">
                <a:solidFill>
                  <a:srgbClr val="F2F6FA"/>
                </a:solidFill>
                <a:latin typeface="Aptos Display"/>
              </a:rPr>
              <a:t>Dataset &amp; 11 model features</a:t>
            </a:r>
          </a:p>
        </p:txBody>
      </p:sp>
      <p:sp>
        <p:nvSpPr>
          <p:cNvPr id="4" name="TextBox 3"/>
          <p:cNvSpPr txBox="1"/>
          <p:nvPr/>
        </p:nvSpPr>
        <p:spPr>
          <a:xfrm>
            <a:off x="530352" y="1261872"/>
            <a:ext cx="10698480" cy="384048"/>
          </a:xfrm>
          <a:prstGeom prst="rect">
            <a:avLst/>
          </a:prstGeom>
          <a:noFill/>
        </p:spPr>
        <p:txBody>
          <a:bodyPr wrap="square" lIns="18288" tIns="18288" rIns="18288" bIns="18288" anchor="t">
            <a:spAutoFit/>
          </a:bodyPr>
          <a:lstStyle/>
          <a:p>
            <a:pPr algn="l">
              <a:lnSpc>
                <a:spcPct val="100000"/>
              </a:lnSpc>
            </a:pPr>
            <a:r>
              <a:rPr sz="1250" b="0">
                <a:solidFill>
                  <a:srgbClr val="A4B0BF"/>
                </a:solidFill>
                <a:latin typeface="Aptos"/>
              </a:rPr>
              <a:t>Curated and cleaned parking-availability data for supervised regression.</a:t>
            </a:r>
          </a:p>
        </p:txBody>
      </p:sp>
      <p:sp>
        <p:nvSpPr>
          <p:cNvPr id="5" name="TextBox 4"/>
          <p:cNvSpPr txBox="1"/>
          <p:nvPr/>
        </p:nvSpPr>
        <p:spPr>
          <a:xfrm>
            <a:off x="11292840" y="329184"/>
            <a:ext cx="411480" cy="274320"/>
          </a:xfrm>
          <a:prstGeom prst="rect">
            <a:avLst/>
          </a:prstGeom>
          <a:noFill/>
        </p:spPr>
        <p:txBody>
          <a:bodyPr wrap="square" lIns="18288" tIns="18288" rIns="18288" bIns="18288" anchor="t">
            <a:spAutoFit/>
          </a:bodyPr>
          <a:lstStyle/>
          <a:p>
            <a:pPr algn="r">
              <a:lnSpc>
                <a:spcPct val="100000"/>
              </a:lnSpc>
            </a:pPr>
            <a:r>
              <a:rPr sz="1000" b="1">
                <a:solidFill>
                  <a:srgbClr val="A4B0BF"/>
                </a:solidFill>
                <a:latin typeface="Aptos"/>
              </a:rPr>
              <a:t>06</a:t>
            </a:r>
          </a:p>
        </p:txBody>
      </p:sp>
      <p:sp>
        <p:nvSpPr>
          <p:cNvPr id="6" name="Rounded Rectangle 5"/>
          <p:cNvSpPr/>
          <p:nvPr/>
        </p:nvSpPr>
        <p:spPr>
          <a:xfrm>
            <a:off x="685800" y="1783080"/>
            <a:ext cx="2103120" cy="114300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783080"/>
            <a:ext cx="50292" cy="1143000"/>
          </a:xfrm>
          <a:prstGeom prst="rect">
            <a:avLst/>
          </a:prstGeom>
          <a:solidFill>
            <a:srgbClr val="49D3EC"/>
          </a:solidFill>
          <a:ln w="10160">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947672"/>
            <a:ext cx="1783079" cy="228600"/>
          </a:xfrm>
          <a:prstGeom prst="rect">
            <a:avLst/>
          </a:prstGeom>
          <a:noFill/>
        </p:spPr>
        <p:txBody>
          <a:bodyPr wrap="square" lIns="18288" tIns="18288" rIns="18288" bIns="18288" anchor="t">
            <a:spAutoFit/>
          </a:bodyPr>
          <a:lstStyle/>
          <a:p>
            <a:pPr algn="l">
              <a:lnSpc>
                <a:spcPct val="100000"/>
              </a:lnSpc>
            </a:pPr>
            <a:r>
              <a:rPr sz="850" b="1">
                <a:solidFill>
                  <a:srgbClr val="A4B0BF"/>
                </a:solidFill>
                <a:latin typeface="Aptos"/>
              </a:rPr>
              <a:t>TRAINING ROWS</a:t>
            </a:r>
          </a:p>
        </p:txBody>
      </p:sp>
      <p:sp>
        <p:nvSpPr>
          <p:cNvPr id="9" name="TextBox 8"/>
          <p:cNvSpPr txBox="1"/>
          <p:nvPr/>
        </p:nvSpPr>
        <p:spPr>
          <a:xfrm>
            <a:off x="886968" y="2221991"/>
            <a:ext cx="1783079" cy="50292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24,779</a:t>
            </a:r>
          </a:p>
        </p:txBody>
      </p:sp>
      <p:sp>
        <p:nvSpPr>
          <p:cNvPr id="10" name="Rounded Rectangle 9"/>
          <p:cNvSpPr/>
          <p:nvPr/>
        </p:nvSpPr>
        <p:spPr>
          <a:xfrm>
            <a:off x="2971800" y="1783080"/>
            <a:ext cx="2103120" cy="114300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971800" y="1783080"/>
            <a:ext cx="50292" cy="1143000"/>
          </a:xfrm>
          <a:prstGeom prst="rect">
            <a:avLst/>
          </a:prstGeom>
          <a:solidFill>
            <a:srgbClr val="2DBEAA"/>
          </a:solidFill>
          <a:ln w="10160">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172968" y="1947672"/>
            <a:ext cx="1783079" cy="228600"/>
          </a:xfrm>
          <a:prstGeom prst="rect">
            <a:avLst/>
          </a:prstGeom>
          <a:noFill/>
        </p:spPr>
        <p:txBody>
          <a:bodyPr wrap="square" lIns="18288" tIns="18288" rIns="18288" bIns="18288" anchor="t">
            <a:spAutoFit/>
          </a:bodyPr>
          <a:lstStyle/>
          <a:p>
            <a:pPr algn="l">
              <a:lnSpc>
                <a:spcPct val="100000"/>
              </a:lnSpc>
            </a:pPr>
            <a:r>
              <a:rPr sz="850" b="1">
                <a:solidFill>
                  <a:srgbClr val="A4B0BF"/>
                </a:solidFill>
                <a:latin typeface="Aptos"/>
              </a:rPr>
              <a:t>VALIDATION ROWS</a:t>
            </a:r>
          </a:p>
        </p:txBody>
      </p:sp>
      <p:sp>
        <p:nvSpPr>
          <p:cNvPr id="13" name="TextBox 12"/>
          <p:cNvSpPr txBox="1"/>
          <p:nvPr/>
        </p:nvSpPr>
        <p:spPr>
          <a:xfrm>
            <a:off x="3172968" y="2221991"/>
            <a:ext cx="1783079" cy="50292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5,310</a:t>
            </a:r>
          </a:p>
        </p:txBody>
      </p:sp>
      <p:sp>
        <p:nvSpPr>
          <p:cNvPr id="14" name="Rounded Rectangle 13"/>
          <p:cNvSpPr/>
          <p:nvPr/>
        </p:nvSpPr>
        <p:spPr>
          <a:xfrm>
            <a:off x="5257800" y="1783080"/>
            <a:ext cx="2103120" cy="114300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257800" y="1783080"/>
            <a:ext cx="50292" cy="1143000"/>
          </a:xfrm>
          <a:prstGeom prst="rect">
            <a:avLst/>
          </a:prstGeom>
          <a:solidFill>
            <a:srgbClr val="8E77FF"/>
          </a:solidFill>
          <a:ln w="10160">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58968" y="1947672"/>
            <a:ext cx="1783079" cy="228600"/>
          </a:xfrm>
          <a:prstGeom prst="rect">
            <a:avLst/>
          </a:prstGeom>
          <a:noFill/>
        </p:spPr>
        <p:txBody>
          <a:bodyPr wrap="square" lIns="18288" tIns="18288" rIns="18288" bIns="18288" anchor="t">
            <a:spAutoFit/>
          </a:bodyPr>
          <a:lstStyle/>
          <a:p>
            <a:pPr algn="l">
              <a:lnSpc>
                <a:spcPct val="100000"/>
              </a:lnSpc>
            </a:pPr>
            <a:r>
              <a:rPr sz="850" b="1">
                <a:solidFill>
                  <a:srgbClr val="A4B0BF"/>
                </a:solidFill>
                <a:latin typeface="Aptos"/>
              </a:rPr>
              <a:t>TEST ROWS</a:t>
            </a:r>
          </a:p>
        </p:txBody>
      </p:sp>
      <p:sp>
        <p:nvSpPr>
          <p:cNvPr id="17" name="TextBox 16"/>
          <p:cNvSpPr txBox="1"/>
          <p:nvPr/>
        </p:nvSpPr>
        <p:spPr>
          <a:xfrm>
            <a:off x="5458968" y="2221991"/>
            <a:ext cx="1783079" cy="50292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5,310</a:t>
            </a:r>
          </a:p>
        </p:txBody>
      </p:sp>
      <p:sp>
        <p:nvSpPr>
          <p:cNvPr id="18" name="Rounded Rectangle 17"/>
          <p:cNvSpPr/>
          <p:nvPr/>
        </p:nvSpPr>
        <p:spPr>
          <a:xfrm>
            <a:off x="7543800" y="1783080"/>
            <a:ext cx="2103120" cy="114300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543800" y="1783080"/>
            <a:ext cx="50292" cy="1143000"/>
          </a:xfrm>
          <a:prstGeom prst="rect">
            <a:avLst/>
          </a:prstGeom>
          <a:solidFill>
            <a:srgbClr val="F5AE42"/>
          </a:solidFill>
          <a:ln w="10160">
            <a:solidFill>
              <a:srgbClr val="F5A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44968" y="1947672"/>
            <a:ext cx="1783079" cy="228600"/>
          </a:xfrm>
          <a:prstGeom prst="rect">
            <a:avLst/>
          </a:prstGeom>
          <a:noFill/>
        </p:spPr>
        <p:txBody>
          <a:bodyPr wrap="square" lIns="18288" tIns="18288" rIns="18288" bIns="18288" anchor="t">
            <a:spAutoFit/>
          </a:bodyPr>
          <a:lstStyle/>
          <a:p>
            <a:pPr algn="l">
              <a:lnSpc>
                <a:spcPct val="100000"/>
              </a:lnSpc>
            </a:pPr>
            <a:r>
              <a:rPr sz="850" b="1">
                <a:solidFill>
                  <a:srgbClr val="A4B0BF"/>
                </a:solidFill>
                <a:latin typeface="Aptos"/>
              </a:rPr>
              <a:t>MODEL FEATURES</a:t>
            </a:r>
          </a:p>
        </p:txBody>
      </p:sp>
      <p:sp>
        <p:nvSpPr>
          <p:cNvPr id="21" name="TextBox 20"/>
          <p:cNvSpPr txBox="1"/>
          <p:nvPr/>
        </p:nvSpPr>
        <p:spPr>
          <a:xfrm>
            <a:off x="7744968" y="2221991"/>
            <a:ext cx="1783079" cy="50292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11</a:t>
            </a:r>
          </a:p>
        </p:txBody>
      </p:sp>
      <p:sp>
        <p:nvSpPr>
          <p:cNvPr id="22" name="Rounded Rectangle 21"/>
          <p:cNvSpPr/>
          <p:nvPr/>
        </p:nvSpPr>
        <p:spPr>
          <a:xfrm>
            <a:off x="685800" y="3246120"/>
            <a:ext cx="5074920" cy="1170432"/>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8680" y="3410712"/>
            <a:ext cx="2560320" cy="228600"/>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LOCATION</a:t>
            </a:r>
          </a:p>
        </p:txBody>
      </p:sp>
      <p:sp>
        <p:nvSpPr>
          <p:cNvPr id="24" name="TextBox 23"/>
          <p:cNvSpPr txBox="1"/>
          <p:nvPr/>
        </p:nvSpPr>
        <p:spPr>
          <a:xfrm>
            <a:off x="868680" y="3749039"/>
            <a:ext cx="4617720" cy="438912"/>
          </a:xfrm>
          <a:prstGeom prst="rect">
            <a:avLst/>
          </a:prstGeom>
          <a:noFill/>
        </p:spPr>
        <p:txBody>
          <a:bodyPr wrap="square" lIns="18288" tIns="18288" rIns="18288" bIns="18288" anchor="t">
            <a:spAutoFit/>
          </a:bodyPr>
          <a:lstStyle/>
          <a:p>
            <a:pPr algn="l">
              <a:lnSpc>
                <a:spcPct val="100000"/>
              </a:lnSpc>
            </a:pPr>
            <a:r>
              <a:rPr sz="1150" b="1">
                <a:solidFill>
                  <a:srgbClr val="F2F6FA"/>
                </a:solidFill>
                <a:latin typeface="Aptos"/>
              </a:rPr>
              <a:t>SystemCodeNumber</a:t>
            </a:r>
          </a:p>
        </p:txBody>
      </p:sp>
      <p:sp>
        <p:nvSpPr>
          <p:cNvPr id="25" name="Rounded Rectangle 24"/>
          <p:cNvSpPr/>
          <p:nvPr/>
        </p:nvSpPr>
        <p:spPr>
          <a:xfrm>
            <a:off x="6172200" y="3246120"/>
            <a:ext cx="5074920" cy="1170432"/>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5080" y="3410712"/>
            <a:ext cx="2560320" cy="228600"/>
          </a:xfrm>
          <a:prstGeom prst="rect">
            <a:avLst/>
          </a:prstGeom>
          <a:noFill/>
        </p:spPr>
        <p:txBody>
          <a:bodyPr wrap="square" lIns="18288" tIns="18288" rIns="18288" bIns="18288" anchor="t">
            <a:spAutoFit/>
          </a:bodyPr>
          <a:lstStyle/>
          <a:p>
            <a:pPr algn="l">
              <a:lnSpc>
                <a:spcPct val="100000"/>
              </a:lnSpc>
            </a:pPr>
            <a:r>
              <a:rPr sz="900" b="1">
                <a:solidFill>
                  <a:srgbClr val="2DBEAA"/>
                </a:solidFill>
                <a:latin typeface="Aptos"/>
              </a:rPr>
              <a:t>CAPACITY</a:t>
            </a:r>
          </a:p>
        </p:txBody>
      </p:sp>
      <p:sp>
        <p:nvSpPr>
          <p:cNvPr id="27" name="TextBox 26"/>
          <p:cNvSpPr txBox="1"/>
          <p:nvPr/>
        </p:nvSpPr>
        <p:spPr>
          <a:xfrm>
            <a:off x="6355080" y="3749039"/>
            <a:ext cx="4617720" cy="438912"/>
          </a:xfrm>
          <a:prstGeom prst="rect">
            <a:avLst/>
          </a:prstGeom>
          <a:noFill/>
        </p:spPr>
        <p:txBody>
          <a:bodyPr wrap="square" lIns="18288" tIns="18288" rIns="18288" bIns="18288" anchor="t">
            <a:spAutoFit/>
          </a:bodyPr>
          <a:lstStyle/>
          <a:p>
            <a:pPr algn="l">
              <a:lnSpc>
                <a:spcPct val="100000"/>
              </a:lnSpc>
            </a:pPr>
            <a:r>
              <a:rPr sz="1150" b="1">
                <a:solidFill>
                  <a:srgbClr val="F2F6FA"/>
                </a:solidFill>
                <a:latin typeface="Aptos"/>
              </a:rPr>
              <a:t>Capacity</a:t>
            </a:r>
          </a:p>
        </p:txBody>
      </p:sp>
      <p:sp>
        <p:nvSpPr>
          <p:cNvPr id="28" name="Rounded Rectangle 27"/>
          <p:cNvSpPr/>
          <p:nvPr/>
        </p:nvSpPr>
        <p:spPr>
          <a:xfrm>
            <a:off x="685800" y="4663440"/>
            <a:ext cx="5074920" cy="1170432"/>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68680" y="4828031"/>
            <a:ext cx="2560320" cy="228600"/>
          </a:xfrm>
          <a:prstGeom prst="rect">
            <a:avLst/>
          </a:prstGeom>
          <a:noFill/>
        </p:spPr>
        <p:txBody>
          <a:bodyPr wrap="square" lIns="18288" tIns="18288" rIns="18288" bIns="18288" anchor="t">
            <a:spAutoFit/>
          </a:bodyPr>
          <a:lstStyle/>
          <a:p>
            <a:pPr algn="l">
              <a:lnSpc>
                <a:spcPct val="100000"/>
              </a:lnSpc>
            </a:pPr>
            <a:r>
              <a:rPr sz="900" b="1">
                <a:solidFill>
                  <a:srgbClr val="8E77FF"/>
                </a:solidFill>
                <a:latin typeface="Aptos"/>
              </a:rPr>
              <a:t>TIME</a:t>
            </a:r>
          </a:p>
        </p:txBody>
      </p:sp>
      <p:sp>
        <p:nvSpPr>
          <p:cNvPr id="30" name="TextBox 29"/>
          <p:cNvSpPr txBox="1"/>
          <p:nvPr/>
        </p:nvSpPr>
        <p:spPr>
          <a:xfrm>
            <a:off x="868680" y="5166359"/>
            <a:ext cx="4617720" cy="438912"/>
          </a:xfrm>
          <a:prstGeom prst="rect">
            <a:avLst/>
          </a:prstGeom>
          <a:noFill/>
        </p:spPr>
        <p:txBody>
          <a:bodyPr wrap="square" lIns="18288" tIns="18288" rIns="18288" bIns="18288" anchor="t">
            <a:spAutoFit/>
          </a:bodyPr>
          <a:lstStyle/>
          <a:p>
            <a:pPr algn="l">
              <a:lnSpc>
                <a:spcPct val="100000"/>
              </a:lnSpc>
            </a:pPr>
            <a:r>
              <a:rPr sz="1150" b="1">
                <a:solidFill>
                  <a:srgbClr val="F2F6FA"/>
                </a:solidFill>
                <a:latin typeface="Aptos"/>
              </a:rPr>
              <a:t>Hour  •  Day  •  Month  •  DayOfWeek  •  IsWeekend</a:t>
            </a:r>
          </a:p>
        </p:txBody>
      </p:sp>
      <p:sp>
        <p:nvSpPr>
          <p:cNvPr id="31" name="Rounded Rectangle 30"/>
          <p:cNvSpPr/>
          <p:nvPr/>
        </p:nvSpPr>
        <p:spPr>
          <a:xfrm>
            <a:off x="6172200" y="4663440"/>
            <a:ext cx="5074920" cy="1170432"/>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55080" y="4828031"/>
            <a:ext cx="2560320" cy="228600"/>
          </a:xfrm>
          <a:prstGeom prst="rect">
            <a:avLst/>
          </a:prstGeom>
          <a:noFill/>
        </p:spPr>
        <p:txBody>
          <a:bodyPr wrap="square" lIns="18288" tIns="18288" rIns="18288" bIns="18288" anchor="t">
            <a:spAutoFit/>
          </a:bodyPr>
          <a:lstStyle/>
          <a:p>
            <a:pPr algn="l">
              <a:lnSpc>
                <a:spcPct val="100000"/>
              </a:lnSpc>
            </a:pPr>
            <a:r>
              <a:rPr sz="900" b="1">
                <a:solidFill>
                  <a:srgbClr val="F5AE42"/>
                </a:solidFill>
                <a:latin typeface="Aptos"/>
              </a:rPr>
              <a:t>RECENT AVAILABILITY</a:t>
            </a:r>
          </a:p>
        </p:txBody>
      </p:sp>
      <p:sp>
        <p:nvSpPr>
          <p:cNvPr id="33" name="TextBox 32"/>
          <p:cNvSpPr txBox="1"/>
          <p:nvPr/>
        </p:nvSpPr>
        <p:spPr>
          <a:xfrm>
            <a:off x="6355080" y="5166359"/>
            <a:ext cx="4617720" cy="438912"/>
          </a:xfrm>
          <a:prstGeom prst="rect">
            <a:avLst/>
          </a:prstGeom>
          <a:noFill/>
        </p:spPr>
        <p:txBody>
          <a:bodyPr wrap="square" lIns="18288" tIns="18288" rIns="18288" bIns="18288" anchor="t">
            <a:spAutoFit/>
          </a:bodyPr>
          <a:lstStyle/>
          <a:p>
            <a:pPr algn="l">
              <a:lnSpc>
                <a:spcPct val="100000"/>
              </a:lnSpc>
            </a:pPr>
            <a:r>
              <a:rPr sz="1150" b="1">
                <a:solidFill>
                  <a:srgbClr val="F2F6FA"/>
                </a:solidFill>
                <a:latin typeface="Aptos"/>
              </a:rPr>
              <a:t>Previous_Availability  •  Lag_2_Availability  •  Lag_3_Availability  •  Rolling_Average_Availability</a:t>
            </a:r>
          </a:p>
        </p:txBody>
      </p:sp>
      <p:cxnSp>
        <p:nvCxnSpPr>
          <p:cNvPr id="34" name="Connector 33"/>
          <p:cNvCxnSpPr/>
          <p:nvPr/>
        </p:nvCxnSpPr>
        <p:spPr>
          <a:xfrm>
            <a:off x="502920" y="6473952"/>
            <a:ext cx="11183112" cy="0"/>
          </a:xfrm>
          <a:prstGeom prst="line">
            <a:avLst/>
          </a:prstGeom>
          <a:ln w="8890">
            <a:solidFill>
              <a:srgbClr val="26314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30352" y="6537960"/>
            <a:ext cx="2926080" cy="164592"/>
          </a:xfrm>
          <a:prstGeom prst="rect">
            <a:avLst/>
          </a:prstGeom>
          <a:noFill/>
        </p:spPr>
        <p:txBody>
          <a:bodyPr wrap="square" lIns="18288" tIns="18288" rIns="18288" bIns="18288" anchor="t">
            <a:spAutoFit/>
          </a:bodyPr>
          <a:lstStyle/>
          <a:p>
            <a:pPr algn="l">
              <a:lnSpc>
                <a:spcPct val="100000"/>
              </a:lnSpc>
            </a:pPr>
            <a:r>
              <a:rPr sz="750" b="1">
                <a:solidFill>
                  <a:srgbClr val="A4B0BF"/>
                </a:solidFill>
                <a:latin typeface="Aptos"/>
              </a:rPr>
              <a:t>PARKING AVAILABILITY AI</a:t>
            </a:r>
          </a:p>
        </p:txBody>
      </p:sp>
      <p:sp>
        <p:nvSpPr>
          <p:cNvPr id="36" name="TextBox 35"/>
          <p:cNvSpPr txBox="1"/>
          <p:nvPr/>
        </p:nvSpPr>
        <p:spPr>
          <a:xfrm>
            <a:off x="8503920" y="6537960"/>
            <a:ext cx="3108960" cy="164592"/>
          </a:xfrm>
          <a:prstGeom prst="rect">
            <a:avLst/>
          </a:prstGeom>
          <a:noFill/>
        </p:spPr>
        <p:txBody>
          <a:bodyPr wrap="square" lIns="18288" tIns="18288" rIns="18288" bIns="18288" anchor="t">
            <a:spAutoFit/>
          </a:bodyPr>
          <a:lstStyle/>
          <a:p>
            <a:pPr algn="r">
              <a:lnSpc>
                <a:spcPct val="100000"/>
              </a:lnSpc>
            </a:pPr>
            <a:r>
              <a:rPr sz="750" b="0">
                <a:solidFill>
                  <a:srgbClr val="A4B0BF"/>
                </a:solidFill>
                <a:latin typeface="Aptos"/>
              </a:rPr>
              <a:t>Machine Learning • Final Review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0D1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2743200" cy="256032"/>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06 • FEATURE ENGINEERING</a:t>
            </a:r>
          </a:p>
        </p:txBody>
      </p:sp>
      <p:sp>
        <p:nvSpPr>
          <p:cNvPr id="3" name="TextBox 2"/>
          <p:cNvSpPr txBox="1"/>
          <p:nvPr/>
        </p:nvSpPr>
        <p:spPr>
          <a:xfrm>
            <a:off x="502920" y="612648"/>
            <a:ext cx="10789920" cy="658368"/>
          </a:xfrm>
          <a:prstGeom prst="rect">
            <a:avLst/>
          </a:prstGeom>
          <a:noFill/>
        </p:spPr>
        <p:txBody>
          <a:bodyPr wrap="square" lIns="18288" tIns="18288" rIns="18288" bIns="18288" anchor="t">
            <a:spAutoFit/>
          </a:bodyPr>
          <a:lstStyle/>
          <a:p>
            <a:pPr algn="l">
              <a:lnSpc>
                <a:spcPct val="100000"/>
              </a:lnSpc>
            </a:pPr>
            <a:r>
              <a:rPr sz="2800" b="1">
                <a:solidFill>
                  <a:srgbClr val="F2F6FA"/>
                </a:solidFill>
                <a:latin typeface="Aptos Display"/>
              </a:rPr>
              <a:t>Recent availability becomes predictive context</a:t>
            </a:r>
          </a:p>
        </p:txBody>
      </p:sp>
      <p:sp>
        <p:nvSpPr>
          <p:cNvPr id="4" name="TextBox 3"/>
          <p:cNvSpPr txBox="1"/>
          <p:nvPr/>
        </p:nvSpPr>
        <p:spPr>
          <a:xfrm>
            <a:off x="530352" y="1261872"/>
            <a:ext cx="10698480" cy="384048"/>
          </a:xfrm>
          <a:prstGeom prst="rect">
            <a:avLst/>
          </a:prstGeom>
          <a:noFill/>
        </p:spPr>
        <p:txBody>
          <a:bodyPr wrap="square" lIns="18288" tIns="18288" rIns="18288" bIns="18288" anchor="t">
            <a:spAutoFit/>
          </a:bodyPr>
          <a:lstStyle/>
          <a:p>
            <a:pPr algn="l">
              <a:lnSpc>
                <a:spcPct val="100000"/>
              </a:lnSpc>
            </a:pPr>
            <a:r>
              <a:rPr sz="1250" b="0">
                <a:solidFill>
                  <a:srgbClr val="A4B0BF"/>
                </a:solidFill>
                <a:latin typeface="Aptos"/>
              </a:rPr>
              <a:t>Lag and rolling features represent the recent state of a parking site.</a:t>
            </a:r>
          </a:p>
        </p:txBody>
      </p:sp>
      <p:sp>
        <p:nvSpPr>
          <p:cNvPr id="5" name="TextBox 4"/>
          <p:cNvSpPr txBox="1"/>
          <p:nvPr/>
        </p:nvSpPr>
        <p:spPr>
          <a:xfrm>
            <a:off x="11292840" y="329184"/>
            <a:ext cx="411480" cy="274320"/>
          </a:xfrm>
          <a:prstGeom prst="rect">
            <a:avLst/>
          </a:prstGeom>
          <a:noFill/>
        </p:spPr>
        <p:txBody>
          <a:bodyPr wrap="square" lIns="18288" tIns="18288" rIns="18288" bIns="18288" anchor="t">
            <a:spAutoFit/>
          </a:bodyPr>
          <a:lstStyle/>
          <a:p>
            <a:pPr algn="r">
              <a:lnSpc>
                <a:spcPct val="100000"/>
              </a:lnSpc>
            </a:pPr>
            <a:r>
              <a:rPr sz="1000" b="1">
                <a:solidFill>
                  <a:srgbClr val="A4B0BF"/>
                </a:solidFill>
                <a:latin typeface="Aptos"/>
              </a:rPr>
              <a:t>07</a:t>
            </a:r>
          </a:p>
        </p:txBody>
      </p:sp>
      <p:sp>
        <p:nvSpPr>
          <p:cNvPr id="6" name="Oval 5"/>
          <p:cNvSpPr/>
          <p:nvPr/>
        </p:nvSpPr>
        <p:spPr>
          <a:xfrm>
            <a:off x="777240" y="2011680"/>
            <a:ext cx="438912" cy="438912"/>
          </a:xfrm>
          <a:prstGeom prst="ellipse">
            <a:avLst/>
          </a:prstGeom>
          <a:solidFill>
            <a:srgbClr val="49D3EC"/>
          </a:solidFill>
          <a:ln>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2578608"/>
            <a:ext cx="1965960" cy="640080"/>
          </a:xfrm>
          <a:prstGeom prst="rect">
            <a:avLst/>
          </a:prstGeom>
          <a:noFill/>
        </p:spPr>
        <p:txBody>
          <a:bodyPr wrap="square" lIns="18288" tIns="18288" rIns="18288" bIns="18288" anchor="t">
            <a:spAutoFit/>
          </a:bodyPr>
          <a:lstStyle/>
          <a:p>
            <a:pPr algn="ctr">
              <a:lnSpc>
                <a:spcPct val="100000"/>
              </a:lnSpc>
            </a:pPr>
            <a:r>
              <a:rPr sz="1500" b="1">
                <a:solidFill>
                  <a:srgbClr val="F2F6FA"/>
                </a:solidFill>
                <a:latin typeface="Aptos"/>
              </a:rPr>
              <a:t>Previous
Availability</a:t>
            </a:r>
          </a:p>
        </p:txBody>
      </p:sp>
      <p:sp>
        <p:nvSpPr>
          <p:cNvPr id="8" name="Right Arrow 7"/>
          <p:cNvSpPr/>
          <p:nvPr/>
        </p:nvSpPr>
        <p:spPr>
          <a:xfrm>
            <a:off x="1344168" y="2121408"/>
            <a:ext cx="2057400" cy="164592"/>
          </a:xfrm>
          <a:prstGeom prst="rightArrow">
            <a:avLst/>
          </a:prstGeom>
          <a:solidFill>
            <a:srgbClr val="263140"/>
          </a:solidFill>
          <a:ln>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3566160" y="2011680"/>
            <a:ext cx="438912" cy="438912"/>
          </a:xfrm>
          <a:prstGeom prst="ellipse">
            <a:avLst/>
          </a:prstGeom>
          <a:solidFill>
            <a:srgbClr val="2DBEAA"/>
          </a:solidFill>
          <a:ln>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37560" y="2578608"/>
            <a:ext cx="1965960" cy="640080"/>
          </a:xfrm>
          <a:prstGeom prst="rect">
            <a:avLst/>
          </a:prstGeom>
          <a:noFill/>
        </p:spPr>
        <p:txBody>
          <a:bodyPr wrap="square" lIns="18288" tIns="18288" rIns="18288" bIns="18288" anchor="t">
            <a:spAutoFit/>
          </a:bodyPr>
          <a:lstStyle/>
          <a:p>
            <a:pPr algn="ctr">
              <a:lnSpc>
                <a:spcPct val="100000"/>
              </a:lnSpc>
            </a:pPr>
            <a:r>
              <a:rPr sz="1500" b="1">
                <a:solidFill>
                  <a:srgbClr val="F2F6FA"/>
                </a:solidFill>
                <a:latin typeface="Aptos"/>
              </a:rPr>
              <a:t>Lag 2
Availability</a:t>
            </a:r>
          </a:p>
        </p:txBody>
      </p:sp>
      <p:sp>
        <p:nvSpPr>
          <p:cNvPr id="11" name="Right Arrow 10"/>
          <p:cNvSpPr/>
          <p:nvPr/>
        </p:nvSpPr>
        <p:spPr>
          <a:xfrm>
            <a:off x="4133087" y="2121408"/>
            <a:ext cx="2057400" cy="164592"/>
          </a:xfrm>
          <a:prstGeom prst="rightArrow">
            <a:avLst/>
          </a:prstGeom>
          <a:solidFill>
            <a:srgbClr val="263140"/>
          </a:solidFill>
          <a:ln>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355079" y="2011680"/>
            <a:ext cx="438912" cy="438912"/>
          </a:xfrm>
          <a:prstGeom prst="ellipse">
            <a:avLst/>
          </a:prstGeom>
          <a:solidFill>
            <a:srgbClr val="8E77FF"/>
          </a:solidFill>
          <a:ln>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26479" y="2578608"/>
            <a:ext cx="1965960" cy="640080"/>
          </a:xfrm>
          <a:prstGeom prst="rect">
            <a:avLst/>
          </a:prstGeom>
          <a:noFill/>
        </p:spPr>
        <p:txBody>
          <a:bodyPr wrap="square" lIns="18288" tIns="18288" rIns="18288" bIns="18288" anchor="t">
            <a:spAutoFit/>
          </a:bodyPr>
          <a:lstStyle/>
          <a:p>
            <a:pPr algn="ctr">
              <a:lnSpc>
                <a:spcPct val="100000"/>
              </a:lnSpc>
            </a:pPr>
            <a:r>
              <a:rPr sz="1500" b="1">
                <a:solidFill>
                  <a:srgbClr val="F2F6FA"/>
                </a:solidFill>
                <a:latin typeface="Aptos"/>
              </a:rPr>
              <a:t>Lag 3
Availability</a:t>
            </a:r>
          </a:p>
        </p:txBody>
      </p:sp>
      <p:sp>
        <p:nvSpPr>
          <p:cNvPr id="14" name="Right Arrow 13"/>
          <p:cNvSpPr/>
          <p:nvPr/>
        </p:nvSpPr>
        <p:spPr>
          <a:xfrm>
            <a:off x="6922007" y="2121408"/>
            <a:ext cx="2057400" cy="164592"/>
          </a:xfrm>
          <a:prstGeom prst="rightArrow">
            <a:avLst/>
          </a:prstGeom>
          <a:solidFill>
            <a:srgbClr val="263140"/>
          </a:solidFill>
          <a:ln>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9143999" y="2011680"/>
            <a:ext cx="438912" cy="438912"/>
          </a:xfrm>
          <a:prstGeom prst="ellipse">
            <a:avLst/>
          </a:prstGeom>
          <a:solidFill>
            <a:srgbClr val="F5AE42"/>
          </a:solidFill>
          <a:ln>
            <a:solidFill>
              <a:srgbClr val="F5A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15399" y="2578608"/>
            <a:ext cx="1965960" cy="640080"/>
          </a:xfrm>
          <a:prstGeom prst="rect">
            <a:avLst/>
          </a:prstGeom>
          <a:noFill/>
        </p:spPr>
        <p:txBody>
          <a:bodyPr wrap="square" lIns="18288" tIns="18288" rIns="18288" bIns="18288" anchor="t">
            <a:spAutoFit/>
          </a:bodyPr>
          <a:lstStyle/>
          <a:p>
            <a:pPr algn="ctr">
              <a:lnSpc>
                <a:spcPct val="100000"/>
              </a:lnSpc>
            </a:pPr>
            <a:r>
              <a:rPr sz="1500" b="1">
                <a:solidFill>
                  <a:srgbClr val="F2F6FA"/>
                </a:solidFill>
                <a:latin typeface="Aptos"/>
              </a:rPr>
              <a:t>Rolling Average
Availability</a:t>
            </a:r>
          </a:p>
        </p:txBody>
      </p:sp>
      <p:sp>
        <p:nvSpPr>
          <p:cNvPr id="17" name="Rounded Rectangle 16"/>
          <p:cNvSpPr/>
          <p:nvPr/>
        </p:nvSpPr>
        <p:spPr>
          <a:xfrm>
            <a:off x="777240" y="3749039"/>
            <a:ext cx="10561320" cy="13258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5840" y="4023360"/>
            <a:ext cx="1554480" cy="228600"/>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FEATURE GROUP</a:t>
            </a:r>
          </a:p>
        </p:txBody>
      </p:sp>
      <p:sp>
        <p:nvSpPr>
          <p:cNvPr id="19" name="TextBox 18"/>
          <p:cNvSpPr txBox="1"/>
          <p:nvPr/>
        </p:nvSpPr>
        <p:spPr>
          <a:xfrm>
            <a:off x="1005840" y="4370832"/>
            <a:ext cx="9875520" cy="457200"/>
          </a:xfrm>
          <a:prstGeom prst="rect">
            <a:avLst/>
          </a:prstGeom>
          <a:noFill/>
        </p:spPr>
        <p:txBody>
          <a:bodyPr wrap="square" lIns="18288" tIns="18288" rIns="18288" bIns="18288" anchor="t">
            <a:spAutoFit/>
          </a:bodyPr>
          <a:lstStyle/>
          <a:p>
            <a:pPr algn="l">
              <a:lnSpc>
                <a:spcPct val="100000"/>
              </a:lnSpc>
            </a:pPr>
            <a:r>
              <a:rPr sz="1700" b="1">
                <a:solidFill>
                  <a:srgbClr val="F2F6FA"/>
                </a:solidFill>
                <a:latin typeface="Aptos"/>
              </a:rPr>
              <a:t>Recent availability features give the regression models a representation of what the parking site has been doing recently.</a:t>
            </a:r>
          </a:p>
        </p:txBody>
      </p:sp>
      <p:sp>
        <p:nvSpPr>
          <p:cNvPr id="20" name="TextBox 19"/>
          <p:cNvSpPr txBox="1"/>
          <p:nvPr/>
        </p:nvSpPr>
        <p:spPr>
          <a:xfrm>
            <a:off x="1005840" y="5349240"/>
            <a:ext cx="1554480" cy="228600"/>
          </a:xfrm>
          <a:prstGeom prst="rect">
            <a:avLst/>
          </a:prstGeom>
          <a:noFill/>
        </p:spPr>
        <p:txBody>
          <a:bodyPr wrap="square" lIns="18288" tIns="18288" rIns="18288" bIns="18288" anchor="t">
            <a:spAutoFit/>
          </a:bodyPr>
          <a:lstStyle/>
          <a:p>
            <a:pPr algn="l">
              <a:lnSpc>
                <a:spcPct val="100000"/>
              </a:lnSpc>
            </a:pPr>
            <a:r>
              <a:rPr sz="900" b="1">
                <a:solidFill>
                  <a:srgbClr val="F5AE42"/>
                </a:solidFill>
                <a:latin typeface="Aptos"/>
              </a:rPr>
              <a:t>Important distinction</a:t>
            </a:r>
          </a:p>
        </p:txBody>
      </p:sp>
      <p:sp>
        <p:nvSpPr>
          <p:cNvPr id="21" name="TextBox 20"/>
          <p:cNvSpPr txBox="1"/>
          <p:nvPr/>
        </p:nvSpPr>
        <p:spPr>
          <a:xfrm>
            <a:off x="2468880" y="5321808"/>
            <a:ext cx="6858000" cy="256032"/>
          </a:xfrm>
          <a:prstGeom prst="rect">
            <a:avLst/>
          </a:prstGeom>
          <a:noFill/>
        </p:spPr>
        <p:txBody>
          <a:bodyPr wrap="square" lIns="18288" tIns="18288" rIns="18288" bIns="18288" anchor="t">
            <a:spAutoFit/>
          </a:bodyPr>
          <a:lstStyle/>
          <a:p>
            <a:pPr algn="l">
              <a:lnSpc>
                <a:spcPct val="100000"/>
              </a:lnSpc>
            </a:pPr>
            <a:r>
              <a:rPr sz="1100" b="0">
                <a:solidFill>
                  <a:srgbClr val="A4B0BF"/>
                </a:solidFill>
                <a:latin typeface="Aptos"/>
              </a:rPr>
              <a:t>Feature importance describes model usage, not causation.</a:t>
            </a:r>
          </a:p>
        </p:txBody>
      </p:sp>
      <p:cxnSp>
        <p:nvCxnSpPr>
          <p:cNvPr id="22" name="Connector 21"/>
          <p:cNvCxnSpPr/>
          <p:nvPr/>
        </p:nvCxnSpPr>
        <p:spPr>
          <a:xfrm>
            <a:off x="502920" y="6473952"/>
            <a:ext cx="11183112" cy="0"/>
          </a:xfrm>
          <a:prstGeom prst="line">
            <a:avLst/>
          </a:prstGeom>
          <a:ln w="8890">
            <a:solidFill>
              <a:srgbClr val="26314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30352" y="6537960"/>
            <a:ext cx="2926080" cy="164592"/>
          </a:xfrm>
          <a:prstGeom prst="rect">
            <a:avLst/>
          </a:prstGeom>
          <a:noFill/>
        </p:spPr>
        <p:txBody>
          <a:bodyPr wrap="square" lIns="18288" tIns="18288" rIns="18288" bIns="18288" anchor="t">
            <a:spAutoFit/>
          </a:bodyPr>
          <a:lstStyle/>
          <a:p>
            <a:pPr algn="l">
              <a:lnSpc>
                <a:spcPct val="100000"/>
              </a:lnSpc>
            </a:pPr>
            <a:r>
              <a:rPr sz="750" b="1">
                <a:solidFill>
                  <a:srgbClr val="A4B0BF"/>
                </a:solidFill>
                <a:latin typeface="Aptos"/>
              </a:rPr>
              <a:t>PARKING AVAILABILITY AI</a:t>
            </a:r>
          </a:p>
        </p:txBody>
      </p:sp>
      <p:sp>
        <p:nvSpPr>
          <p:cNvPr id="24" name="TextBox 23"/>
          <p:cNvSpPr txBox="1"/>
          <p:nvPr/>
        </p:nvSpPr>
        <p:spPr>
          <a:xfrm>
            <a:off x="8503920" y="6537960"/>
            <a:ext cx="3108960" cy="164592"/>
          </a:xfrm>
          <a:prstGeom prst="rect">
            <a:avLst/>
          </a:prstGeom>
          <a:noFill/>
        </p:spPr>
        <p:txBody>
          <a:bodyPr wrap="square" lIns="18288" tIns="18288" rIns="18288" bIns="18288" anchor="t">
            <a:spAutoFit/>
          </a:bodyPr>
          <a:lstStyle/>
          <a:p>
            <a:pPr algn="r">
              <a:lnSpc>
                <a:spcPct val="100000"/>
              </a:lnSpc>
            </a:pPr>
            <a:r>
              <a:rPr sz="750" b="0">
                <a:solidFill>
                  <a:srgbClr val="A4B0BF"/>
                </a:solidFill>
                <a:latin typeface="Aptos"/>
              </a:rPr>
              <a:t>Machine Learning • Final Review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90D1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2743200" cy="256032"/>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07 • EDA</a:t>
            </a:r>
          </a:p>
        </p:txBody>
      </p:sp>
      <p:sp>
        <p:nvSpPr>
          <p:cNvPr id="3" name="TextBox 2"/>
          <p:cNvSpPr txBox="1"/>
          <p:nvPr/>
        </p:nvSpPr>
        <p:spPr>
          <a:xfrm>
            <a:off x="502920" y="612648"/>
            <a:ext cx="10789920" cy="658368"/>
          </a:xfrm>
          <a:prstGeom prst="rect">
            <a:avLst/>
          </a:prstGeom>
          <a:noFill/>
        </p:spPr>
        <p:txBody>
          <a:bodyPr wrap="square" lIns="18288" tIns="18288" rIns="18288" bIns="18288" anchor="t">
            <a:spAutoFit/>
          </a:bodyPr>
          <a:lstStyle/>
          <a:p>
            <a:pPr algn="l">
              <a:lnSpc>
                <a:spcPct val="100000"/>
              </a:lnSpc>
            </a:pPr>
            <a:r>
              <a:rPr sz="2800" b="1">
                <a:solidFill>
                  <a:srgbClr val="F2F6FA"/>
                </a:solidFill>
                <a:latin typeface="Aptos Display"/>
              </a:rPr>
              <a:t>Exploratory data analysis</a:t>
            </a:r>
          </a:p>
        </p:txBody>
      </p:sp>
      <p:sp>
        <p:nvSpPr>
          <p:cNvPr id="4" name="TextBox 3"/>
          <p:cNvSpPr txBox="1"/>
          <p:nvPr/>
        </p:nvSpPr>
        <p:spPr>
          <a:xfrm>
            <a:off x="530352" y="1261872"/>
            <a:ext cx="10698480" cy="384048"/>
          </a:xfrm>
          <a:prstGeom prst="rect">
            <a:avLst/>
          </a:prstGeom>
          <a:noFill/>
        </p:spPr>
        <p:txBody>
          <a:bodyPr wrap="square" lIns="18288" tIns="18288" rIns="18288" bIns="18288" anchor="t">
            <a:spAutoFit/>
          </a:bodyPr>
          <a:lstStyle/>
          <a:p>
            <a:pPr algn="l">
              <a:lnSpc>
                <a:spcPct val="100000"/>
              </a:lnSpc>
            </a:pPr>
            <a:r>
              <a:rPr sz="1250" b="0">
                <a:solidFill>
                  <a:srgbClr val="A4B0BF"/>
                </a:solidFill>
                <a:latin typeface="Aptos"/>
              </a:rPr>
              <a:t>The project includes a visual EDA suite for distributions, trends, relationships and errors.</a:t>
            </a:r>
          </a:p>
        </p:txBody>
      </p:sp>
      <p:sp>
        <p:nvSpPr>
          <p:cNvPr id="5" name="TextBox 4"/>
          <p:cNvSpPr txBox="1"/>
          <p:nvPr/>
        </p:nvSpPr>
        <p:spPr>
          <a:xfrm>
            <a:off x="11292840" y="329184"/>
            <a:ext cx="411480" cy="274320"/>
          </a:xfrm>
          <a:prstGeom prst="rect">
            <a:avLst/>
          </a:prstGeom>
          <a:noFill/>
        </p:spPr>
        <p:txBody>
          <a:bodyPr wrap="square" lIns="18288" tIns="18288" rIns="18288" bIns="18288" anchor="t">
            <a:spAutoFit/>
          </a:bodyPr>
          <a:lstStyle/>
          <a:p>
            <a:pPr algn="r">
              <a:lnSpc>
                <a:spcPct val="100000"/>
              </a:lnSpc>
            </a:pPr>
            <a:r>
              <a:rPr sz="1000" b="1">
                <a:solidFill>
                  <a:srgbClr val="A4B0BF"/>
                </a:solidFill>
                <a:latin typeface="Aptos"/>
              </a:rPr>
              <a:t>08</a:t>
            </a:r>
          </a:p>
        </p:txBody>
      </p:sp>
      <p:sp>
        <p:nvSpPr>
          <p:cNvPr id="6" name="Rounded Rectangle 5"/>
          <p:cNvSpPr/>
          <p:nvPr/>
        </p:nvSpPr>
        <p:spPr>
          <a:xfrm>
            <a:off x="685800" y="1828800"/>
            <a:ext cx="3337560" cy="123444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993392"/>
            <a:ext cx="2880360" cy="292608"/>
          </a:xfrm>
          <a:prstGeom prst="rect">
            <a:avLst/>
          </a:prstGeom>
          <a:noFill/>
        </p:spPr>
        <p:txBody>
          <a:bodyPr wrap="square" lIns="18288" tIns="18288" rIns="18288" bIns="18288" anchor="t">
            <a:spAutoFit/>
          </a:bodyPr>
          <a:lstStyle/>
          <a:p>
            <a:pPr algn="l">
              <a:lnSpc>
                <a:spcPct val="100000"/>
              </a:lnSpc>
            </a:pPr>
            <a:r>
              <a:rPr sz="1200" b="1">
                <a:solidFill>
                  <a:srgbClr val="F2F6FA"/>
                </a:solidFill>
                <a:latin typeface="Aptos"/>
              </a:rPr>
              <a:t>Occupancy distribution</a:t>
            </a:r>
          </a:p>
        </p:txBody>
      </p:sp>
      <p:sp>
        <p:nvSpPr>
          <p:cNvPr id="8" name="TextBox 7"/>
          <p:cNvSpPr txBox="1"/>
          <p:nvPr/>
        </p:nvSpPr>
        <p:spPr>
          <a:xfrm>
            <a:off x="868680" y="2487168"/>
            <a:ext cx="2880360" cy="228600"/>
          </a:xfrm>
          <a:prstGeom prst="rect">
            <a:avLst/>
          </a:prstGeom>
          <a:noFill/>
        </p:spPr>
        <p:txBody>
          <a:bodyPr wrap="square" lIns="18288" tIns="18288" rIns="18288" bIns="18288" anchor="t">
            <a:spAutoFit/>
          </a:bodyPr>
          <a:lstStyle/>
          <a:p>
            <a:pPr algn="l">
              <a:lnSpc>
                <a:spcPct val="100000"/>
              </a:lnSpc>
            </a:pPr>
            <a:r>
              <a:rPr sz="850" b="0">
                <a:solidFill>
                  <a:srgbClr val="A4B0BF"/>
                </a:solidFill>
                <a:latin typeface="Aptos"/>
              </a:rPr>
              <a:t>01_occupancy_distribution.png</a:t>
            </a:r>
          </a:p>
        </p:txBody>
      </p:sp>
      <p:sp>
        <p:nvSpPr>
          <p:cNvPr id="9" name="Rectangle 8"/>
          <p:cNvSpPr/>
          <p:nvPr/>
        </p:nvSpPr>
        <p:spPr>
          <a:xfrm>
            <a:off x="868680" y="2816352"/>
            <a:ext cx="502920" cy="45720"/>
          </a:xfrm>
          <a:prstGeom prst="rect">
            <a:avLst/>
          </a:prstGeom>
          <a:solidFill>
            <a:srgbClr val="49D3EC"/>
          </a:solidFill>
          <a:ln w="10160">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389120" y="1828800"/>
            <a:ext cx="3337560" cy="123444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0" y="1993392"/>
            <a:ext cx="2880360" cy="292608"/>
          </a:xfrm>
          <a:prstGeom prst="rect">
            <a:avLst/>
          </a:prstGeom>
          <a:noFill/>
        </p:spPr>
        <p:txBody>
          <a:bodyPr wrap="square" lIns="18288" tIns="18288" rIns="18288" bIns="18288" anchor="t">
            <a:spAutoFit/>
          </a:bodyPr>
          <a:lstStyle/>
          <a:p>
            <a:pPr algn="l">
              <a:lnSpc>
                <a:spcPct val="100000"/>
              </a:lnSpc>
            </a:pPr>
            <a:r>
              <a:rPr sz="1200" b="1">
                <a:solidFill>
                  <a:srgbClr val="F2F6FA"/>
                </a:solidFill>
                <a:latin typeface="Aptos"/>
              </a:rPr>
              <a:t>Available-space distribution</a:t>
            </a:r>
          </a:p>
        </p:txBody>
      </p:sp>
      <p:sp>
        <p:nvSpPr>
          <p:cNvPr id="12" name="TextBox 11"/>
          <p:cNvSpPr txBox="1"/>
          <p:nvPr/>
        </p:nvSpPr>
        <p:spPr>
          <a:xfrm>
            <a:off x="4572000" y="2487168"/>
            <a:ext cx="2880360" cy="228600"/>
          </a:xfrm>
          <a:prstGeom prst="rect">
            <a:avLst/>
          </a:prstGeom>
          <a:noFill/>
        </p:spPr>
        <p:txBody>
          <a:bodyPr wrap="square" lIns="18288" tIns="18288" rIns="18288" bIns="18288" anchor="t">
            <a:spAutoFit/>
          </a:bodyPr>
          <a:lstStyle/>
          <a:p>
            <a:pPr algn="l">
              <a:lnSpc>
                <a:spcPct val="100000"/>
              </a:lnSpc>
            </a:pPr>
            <a:r>
              <a:rPr sz="850" b="0">
                <a:solidFill>
                  <a:srgbClr val="A4B0BF"/>
                </a:solidFill>
                <a:latin typeface="Aptos"/>
              </a:rPr>
              <a:t>02_available_spaces_distribution.png</a:t>
            </a:r>
          </a:p>
        </p:txBody>
      </p:sp>
      <p:sp>
        <p:nvSpPr>
          <p:cNvPr id="13" name="Rectangle 12"/>
          <p:cNvSpPr/>
          <p:nvPr/>
        </p:nvSpPr>
        <p:spPr>
          <a:xfrm>
            <a:off x="4572000" y="2816352"/>
            <a:ext cx="502920" cy="45720"/>
          </a:xfrm>
          <a:prstGeom prst="rect">
            <a:avLst/>
          </a:prstGeom>
          <a:solidFill>
            <a:srgbClr val="2DBEAA"/>
          </a:solidFill>
          <a:ln w="10160">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092440" y="1828800"/>
            <a:ext cx="3337560" cy="123444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75319" y="1993392"/>
            <a:ext cx="2880360" cy="292608"/>
          </a:xfrm>
          <a:prstGeom prst="rect">
            <a:avLst/>
          </a:prstGeom>
          <a:noFill/>
        </p:spPr>
        <p:txBody>
          <a:bodyPr wrap="square" lIns="18288" tIns="18288" rIns="18288" bIns="18288" anchor="t">
            <a:spAutoFit/>
          </a:bodyPr>
          <a:lstStyle/>
          <a:p>
            <a:pPr algn="l">
              <a:lnSpc>
                <a:spcPct val="100000"/>
              </a:lnSpc>
            </a:pPr>
            <a:r>
              <a:rPr sz="1200" b="1">
                <a:solidFill>
                  <a:srgbClr val="F2F6FA"/>
                </a:solidFill>
                <a:latin typeface="Aptos"/>
              </a:rPr>
              <a:t>Hourly occupancy trend</a:t>
            </a:r>
          </a:p>
        </p:txBody>
      </p:sp>
      <p:sp>
        <p:nvSpPr>
          <p:cNvPr id="16" name="TextBox 15"/>
          <p:cNvSpPr txBox="1"/>
          <p:nvPr/>
        </p:nvSpPr>
        <p:spPr>
          <a:xfrm>
            <a:off x="8275319" y="2487168"/>
            <a:ext cx="2880360" cy="228600"/>
          </a:xfrm>
          <a:prstGeom prst="rect">
            <a:avLst/>
          </a:prstGeom>
          <a:noFill/>
        </p:spPr>
        <p:txBody>
          <a:bodyPr wrap="square" lIns="18288" tIns="18288" rIns="18288" bIns="18288" anchor="t">
            <a:spAutoFit/>
          </a:bodyPr>
          <a:lstStyle/>
          <a:p>
            <a:pPr algn="l">
              <a:lnSpc>
                <a:spcPct val="100000"/>
              </a:lnSpc>
            </a:pPr>
            <a:r>
              <a:rPr sz="850" b="0">
                <a:solidFill>
                  <a:srgbClr val="A4B0BF"/>
                </a:solidFill>
                <a:latin typeface="Aptos"/>
              </a:rPr>
              <a:t>03_hourly_occupancy_trend.png</a:t>
            </a:r>
          </a:p>
        </p:txBody>
      </p:sp>
      <p:sp>
        <p:nvSpPr>
          <p:cNvPr id="17" name="Rectangle 16"/>
          <p:cNvSpPr/>
          <p:nvPr/>
        </p:nvSpPr>
        <p:spPr>
          <a:xfrm>
            <a:off x="8275319" y="2816352"/>
            <a:ext cx="502920" cy="45720"/>
          </a:xfrm>
          <a:prstGeom prst="rect">
            <a:avLst/>
          </a:prstGeom>
          <a:solidFill>
            <a:srgbClr val="8E77FF"/>
          </a:solidFill>
          <a:ln w="10160">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85800" y="3429000"/>
            <a:ext cx="3337560" cy="123444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 y="3593592"/>
            <a:ext cx="2880360" cy="292608"/>
          </a:xfrm>
          <a:prstGeom prst="rect">
            <a:avLst/>
          </a:prstGeom>
          <a:noFill/>
        </p:spPr>
        <p:txBody>
          <a:bodyPr wrap="square" lIns="18288" tIns="18288" rIns="18288" bIns="18288" anchor="t">
            <a:spAutoFit/>
          </a:bodyPr>
          <a:lstStyle/>
          <a:p>
            <a:pPr algn="l">
              <a:lnSpc>
                <a:spcPct val="100000"/>
              </a:lnSpc>
            </a:pPr>
            <a:r>
              <a:rPr sz="1200" b="1">
                <a:solidFill>
                  <a:srgbClr val="F2F6FA"/>
                </a:solidFill>
                <a:latin typeface="Aptos"/>
              </a:rPr>
              <a:t>Busiest parking locations</a:t>
            </a:r>
          </a:p>
        </p:txBody>
      </p:sp>
      <p:sp>
        <p:nvSpPr>
          <p:cNvPr id="20" name="TextBox 19"/>
          <p:cNvSpPr txBox="1"/>
          <p:nvPr/>
        </p:nvSpPr>
        <p:spPr>
          <a:xfrm>
            <a:off x="868680" y="4087368"/>
            <a:ext cx="2880360" cy="228600"/>
          </a:xfrm>
          <a:prstGeom prst="rect">
            <a:avLst/>
          </a:prstGeom>
          <a:noFill/>
        </p:spPr>
        <p:txBody>
          <a:bodyPr wrap="square" lIns="18288" tIns="18288" rIns="18288" bIns="18288" anchor="t">
            <a:spAutoFit/>
          </a:bodyPr>
          <a:lstStyle/>
          <a:p>
            <a:pPr algn="l">
              <a:lnSpc>
                <a:spcPct val="100000"/>
              </a:lnSpc>
            </a:pPr>
            <a:r>
              <a:rPr sz="850" b="0">
                <a:solidFill>
                  <a:srgbClr val="A4B0BF"/>
                </a:solidFill>
                <a:latin typeface="Aptos"/>
              </a:rPr>
              <a:t>04_top_busy_parking_locations.png</a:t>
            </a:r>
          </a:p>
        </p:txBody>
      </p:sp>
      <p:sp>
        <p:nvSpPr>
          <p:cNvPr id="21" name="Rectangle 20"/>
          <p:cNvSpPr/>
          <p:nvPr/>
        </p:nvSpPr>
        <p:spPr>
          <a:xfrm>
            <a:off x="868680" y="4416552"/>
            <a:ext cx="502920" cy="45720"/>
          </a:xfrm>
          <a:prstGeom prst="rect">
            <a:avLst/>
          </a:prstGeom>
          <a:solidFill>
            <a:srgbClr val="F5AE42"/>
          </a:solidFill>
          <a:ln w="10160">
            <a:solidFill>
              <a:srgbClr val="F5A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4389120" y="3429000"/>
            <a:ext cx="3337560" cy="123444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0" y="3593592"/>
            <a:ext cx="2880360" cy="292608"/>
          </a:xfrm>
          <a:prstGeom prst="rect">
            <a:avLst/>
          </a:prstGeom>
          <a:noFill/>
        </p:spPr>
        <p:txBody>
          <a:bodyPr wrap="square" lIns="18288" tIns="18288" rIns="18288" bIns="18288" anchor="t">
            <a:spAutoFit/>
          </a:bodyPr>
          <a:lstStyle/>
          <a:p>
            <a:pPr algn="l">
              <a:lnSpc>
                <a:spcPct val="100000"/>
              </a:lnSpc>
            </a:pPr>
            <a:r>
              <a:rPr sz="1200" b="1">
                <a:solidFill>
                  <a:srgbClr val="F2F6FA"/>
                </a:solidFill>
                <a:latin typeface="Aptos"/>
              </a:rPr>
              <a:t>Correlation heatmap</a:t>
            </a:r>
          </a:p>
        </p:txBody>
      </p:sp>
      <p:sp>
        <p:nvSpPr>
          <p:cNvPr id="24" name="TextBox 23"/>
          <p:cNvSpPr txBox="1"/>
          <p:nvPr/>
        </p:nvSpPr>
        <p:spPr>
          <a:xfrm>
            <a:off x="4572000" y="4087368"/>
            <a:ext cx="2880360" cy="228600"/>
          </a:xfrm>
          <a:prstGeom prst="rect">
            <a:avLst/>
          </a:prstGeom>
          <a:noFill/>
        </p:spPr>
        <p:txBody>
          <a:bodyPr wrap="square" lIns="18288" tIns="18288" rIns="18288" bIns="18288" anchor="t">
            <a:spAutoFit/>
          </a:bodyPr>
          <a:lstStyle/>
          <a:p>
            <a:pPr algn="l">
              <a:lnSpc>
                <a:spcPct val="100000"/>
              </a:lnSpc>
            </a:pPr>
            <a:r>
              <a:rPr sz="850" b="0">
                <a:solidFill>
                  <a:srgbClr val="A4B0BF"/>
                </a:solidFill>
                <a:latin typeface="Aptos"/>
              </a:rPr>
              <a:t>05_correlation_heatmap.png</a:t>
            </a:r>
          </a:p>
        </p:txBody>
      </p:sp>
      <p:sp>
        <p:nvSpPr>
          <p:cNvPr id="25" name="Rectangle 24"/>
          <p:cNvSpPr/>
          <p:nvPr/>
        </p:nvSpPr>
        <p:spPr>
          <a:xfrm>
            <a:off x="4572000" y="4416552"/>
            <a:ext cx="502920" cy="45720"/>
          </a:xfrm>
          <a:prstGeom prst="rect">
            <a:avLst/>
          </a:prstGeom>
          <a:solidFill>
            <a:srgbClr val="49D3EC"/>
          </a:solidFill>
          <a:ln w="10160">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8092440" y="3429000"/>
            <a:ext cx="3337560" cy="123444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75319" y="3593592"/>
            <a:ext cx="2880360" cy="292608"/>
          </a:xfrm>
          <a:prstGeom prst="rect">
            <a:avLst/>
          </a:prstGeom>
          <a:noFill/>
        </p:spPr>
        <p:txBody>
          <a:bodyPr wrap="square" lIns="18288" tIns="18288" rIns="18288" bIns="18288" anchor="t">
            <a:spAutoFit/>
          </a:bodyPr>
          <a:lstStyle/>
          <a:p>
            <a:pPr algn="l">
              <a:lnSpc>
                <a:spcPct val="100000"/>
              </a:lnSpc>
            </a:pPr>
            <a:r>
              <a:rPr sz="1200" b="1">
                <a:solidFill>
                  <a:srgbClr val="F2F6FA"/>
                </a:solidFill>
                <a:latin typeface="Aptos"/>
              </a:rPr>
              <a:t>Boxplots</a:t>
            </a:r>
          </a:p>
        </p:txBody>
      </p:sp>
      <p:sp>
        <p:nvSpPr>
          <p:cNvPr id="28" name="TextBox 27"/>
          <p:cNvSpPr txBox="1"/>
          <p:nvPr/>
        </p:nvSpPr>
        <p:spPr>
          <a:xfrm>
            <a:off x="8275319" y="4087368"/>
            <a:ext cx="2880360" cy="228600"/>
          </a:xfrm>
          <a:prstGeom prst="rect">
            <a:avLst/>
          </a:prstGeom>
          <a:noFill/>
        </p:spPr>
        <p:txBody>
          <a:bodyPr wrap="square" lIns="18288" tIns="18288" rIns="18288" bIns="18288" anchor="t">
            <a:spAutoFit/>
          </a:bodyPr>
          <a:lstStyle/>
          <a:p>
            <a:pPr algn="l">
              <a:lnSpc>
                <a:spcPct val="100000"/>
              </a:lnSpc>
            </a:pPr>
            <a:r>
              <a:rPr sz="850" b="0">
                <a:solidFill>
                  <a:srgbClr val="A4B0BF"/>
                </a:solidFill>
                <a:latin typeface="Aptos"/>
              </a:rPr>
              <a:t>06_boxplot_*.png</a:t>
            </a:r>
          </a:p>
        </p:txBody>
      </p:sp>
      <p:sp>
        <p:nvSpPr>
          <p:cNvPr id="29" name="Rectangle 28"/>
          <p:cNvSpPr/>
          <p:nvPr/>
        </p:nvSpPr>
        <p:spPr>
          <a:xfrm>
            <a:off x="8275319" y="4416552"/>
            <a:ext cx="502920" cy="45720"/>
          </a:xfrm>
          <a:prstGeom prst="rect">
            <a:avLst/>
          </a:prstGeom>
          <a:solidFill>
            <a:srgbClr val="2DBEAA"/>
          </a:solidFill>
          <a:ln w="10160">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2" y="5230368"/>
            <a:ext cx="9966960" cy="320040"/>
          </a:xfrm>
          <a:prstGeom prst="rect">
            <a:avLst/>
          </a:prstGeom>
          <a:noFill/>
        </p:spPr>
        <p:txBody>
          <a:bodyPr wrap="square" lIns="18288" tIns="18288" rIns="18288" bIns="18288" anchor="t">
            <a:spAutoFit/>
          </a:bodyPr>
          <a:lstStyle/>
          <a:p>
            <a:pPr algn="l">
              <a:lnSpc>
                <a:spcPct val="100000"/>
              </a:lnSpc>
            </a:pPr>
            <a:r>
              <a:rPr sz="1000" b="0">
                <a:solidFill>
                  <a:srgbClr val="A4B0BF"/>
                </a:solidFill>
                <a:latin typeface="Aptos"/>
              </a:rPr>
              <a:t>Note: this deck references the actual project EDA assets rather than inventing new measurements.</a:t>
            </a:r>
          </a:p>
        </p:txBody>
      </p:sp>
      <p:cxnSp>
        <p:nvCxnSpPr>
          <p:cNvPr id="31" name="Connector 30"/>
          <p:cNvCxnSpPr/>
          <p:nvPr/>
        </p:nvCxnSpPr>
        <p:spPr>
          <a:xfrm>
            <a:off x="502920" y="6473952"/>
            <a:ext cx="11183112" cy="0"/>
          </a:xfrm>
          <a:prstGeom prst="line">
            <a:avLst/>
          </a:prstGeom>
          <a:ln w="8890">
            <a:solidFill>
              <a:srgbClr val="26314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0352" y="6537960"/>
            <a:ext cx="2926080" cy="164592"/>
          </a:xfrm>
          <a:prstGeom prst="rect">
            <a:avLst/>
          </a:prstGeom>
          <a:noFill/>
        </p:spPr>
        <p:txBody>
          <a:bodyPr wrap="square" lIns="18288" tIns="18288" rIns="18288" bIns="18288" anchor="t">
            <a:spAutoFit/>
          </a:bodyPr>
          <a:lstStyle/>
          <a:p>
            <a:pPr algn="l">
              <a:lnSpc>
                <a:spcPct val="100000"/>
              </a:lnSpc>
            </a:pPr>
            <a:r>
              <a:rPr sz="750" b="1">
                <a:solidFill>
                  <a:srgbClr val="A4B0BF"/>
                </a:solidFill>
                <a:latin typeface="Aptos"/>
              </a:rPr>
              <a:t>PARKING AVAILABILITY AI</a:t>
            </a:r>
          </a:p>
        </p:txBody>
      </p:sp>
      <p:sp>
        <p:nvSpPr>
          <p:cNvPr id="33" name="TextBox 32"/>
          <p:cNvSpPr txBox="1"/>
          <p:nvPr/>
        </p:nvSpPr>
        <p:spPr>
          <a:xfrm>
            <a:off x="8503920" y="6537960"/>
            <a:ext cx="3108960" cy="164592"/>
          </a:xfrm>
          <a:prstGeom prst="rect">
            <a:avLst/>
          </a:prstGeom>
          <a:noFill/>
        </p:spPr>
        <p:txBody>
          <a:bodyPr wrap="square" lIns="18288" tIns="18288" rIns="18288" bIns="18288" anchor="t">
            <a:spAutoFit/>
          </a:bodyPr>
          <a:lstStyle/>
          <a:p>
            <a:pPr algn="r">
              <a:lnSpc>
                <a:spcPct val="100000"/>
              </a:lnSpc>
            </a:pPr>
            <a:r>
              <a:rPr sz="750" b="0">
                <a:solidFill>
                  <a:srgbClr val="A4B0BF"/>
                </a:solidFill>
                <a:latin typeface="Aptos"/>
              </a:rPr>
              <a:t>Machine Learning • Final Review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0D14"/>
        </a:solidFill>
        <a:effectLst/>
      </p:bgPr>
    </p:bg>
    <p:spTree>
      <p:nvGrpSpPr>
        <p:cNvPr id="1" name="">
          <a:extLst>
            <a:ext uri="{FF2B5EF4-FFF2-40B4-BE49-F238E27FC236}">
              <a16:creationId xmlns:a16="http://schemas.microsoft.com/office/drawing/2014/main" id="{37BB1F4E-2354-12BA-C912-2AE6659C4530}"/>
            </a:ext>
          </a:extLst>
        </p:cNvPr>
        <p:cNvGrpSpPr/>
        <p:nvPr/>
      </p:nvGrpSpPr>
      <p:grpSpPr>
        <a:xfrm>
          <a:off x="0" y="0"/>
          <a:ext cx="0" cy="0"/>
          <a:chOff x="0" y="0"/>
          <a:chExt cx="0" cy="0"/>
        </a:xfrm>
      </p:grpSpPr>
      <p:pic>
        <p:nvPicPr>
          <p:cNvPr id="35" name="Picture 34">
            <a:extLst>
              <a:ext uri="{FF2B5EF4-FFF2-40B4-BE49-F238E27FC236}">
                <a16:creationId xmlns:a16="http://schemas.microsoft.com/office/drawing/2014/main" id="{AEA12A3A-816B-74D4-B1D2-B4B6961CC199}"/>
              </a:ext>
            </a:extLst>
          </p:cNvPr>
          <p:cNvPicPr>
            <a:picLocks noChangeAspect="1"/>
          </p:cNvPicPr>
          <p:nvPr/>
        </p:nvPicPr>
        <p:blipFill>
          <a:blip r:embed="rId3"/>
          <a:stretch>
            <a:fillRect/>
          </a:stretch>
        </p:blipFill>
        <p:spPr>
          <a:xfrm>
            <a:off x="1095375" y="157162"/>
            <a:ext cx="10001250" cy="6543675"/>
          </a:xfrm>
          <a:prstGeom prst="rect">
            <a:avLst/>
          </a:prstGeom>
        </p:spPr>
      </p:pic>
    </p:spTree>
    <p:extLst>
      <p:ext uri="{BB962C8B-B14F-4D97-AF65-F5344CB8AC3E}">
        <p14:creationId xmlns:p14="http://schemas.microsoft.com/office/powerpoint/2010/main" val="2243707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90D1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2743200" cy="256032"/>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08 • ML FORMULATION</a:t>
            </a:r>
          </a:p>
        </p:txBody>
      </p:sp>
      <p:sp>
        <p:nvSpPr>
          <p:cNvPr id="3" name="TextBox 2"/>
          <p:cNvSpPr txBox="1"/>
          <p:nvPr/>
        </p:nvSpPr>
        <p:spPr>
          <a:xfrm>
            <a:off x="502920" y="612648"/>
            <a:ext cx="10789920" cy="658368"/>
          </a:xfrm>
          <a:prstGeom prst="rect">
            <a:avLst/>
          </a:prstGeom>
          <a:noFill/>
        </p:spPr>
        <p:txBody>
          <a:bodyPr wrap="square" lIns="18288" tIns="18288" rIns="18288" bIns="18288" anchor="t">
            <a:spAutoFit/>
          </a:bodyPr>
          <a:lstStyle/>
          <a:p>
            <a:pPr algn="l">
              <a:lnSpc>
                <a:spcPct val="100000"/>
              </a:lnSpc>
            </a:pPr>
            <a:r>
              <a:rPr sz="2800" b="1">
                <a:solidFill>
                  <a:srgbClr val="F2F6FA"/>
                </a:solidFill>
                <a:latin typeface="Aptos Display"/>
              </a:rPr>
              <a:t>Why this is a regression problem</a:t>
            </a:r>
          </a:p>
        </p:txBody>
      </p:sp>
      <p:sp>
        <p:nvSpPr>
          <p:cNvPr id="4" name="TextBox 3"/>
          <p:cNvSpPr txBox="1"/>
          <p:nvPr/>
        </p:nvSpPr>
        <p:spPr>
          <a:xfrm>
            <a:off x="530352" y="1261872"/>
            <a:ext cx="10698480" cy="384048"/>
          </a:xfrm>
          <a:prstGeom prst="rect">
            <a:avLst/>
          </a:prstGeom>
          <a:noFill/>
        </p:spPr>
        <p:txBody>
          <a:bodyPr wrap="square" lIns="18288" tIns="18288" rIns="18288" bIns="18288" anchor="t">
            <a:spAutoFit/>
          </a:bodyPr>
          <a:lstStyle/>
          <a:p>
            <a:pPr algn="l">
              <a:lnSpc>
                <a:spcPct val="100000"/>
              </a:lnSpc>
            </a:pPr>
            <a:r>
              <a:rPr sz="1250" b="0">
                <a:solidFill>
                  <a:srgbClr val="A4B0BF"/>
                </a:solidFill>
                <a:latin typeface="Aptos"/>
              </a:rPr>
              <a:t>The target is a continuous number of available parking spaces.</a:t>
            </a:r>
          </a:p>
        </p:txBody>
      </p:sp>
      <p:sp>
        <p:nvSpPr>
          <p:cNvPr id="5" name="TextBox 4"/>
          <p:cNvSpPr txBox="1"/>
          <p:nvPr/>
        </p:nvSpPr>
        <p:spPr>
          <a:xfrm>
            <a:off x="11292840" y="329184"/>
            <a:ext cx="411480" cy="274320"/>
          </a:xfrm>
          <a:prstGeom prst="rect">
            <a:avLst/>
          </a:prstGeom>
          <a:noFill/>
        </p:spPr>
        <p:txBody>
          <a:bodyPr wrap="square" lIns="18288" tIns="18288" rIns="18288" bIns="18288" anchor="t">
            <a:spAutoFit/>
          </a:bodyPr>
          <a:lstStyle/>
          <a:p>
            <a:pPr algn="r">
              <a:lnSpc>
                <a:spcPct val="100000"/>
              </a:lnSpc>
            </a:pPr>
            <a:r>
              <a:rPr sz="1000" b="1">
                <a:solidFill>
                  <a:srgbClr val="A4B0BF"/>
                </a:solidFill>
                <a:latin typeface="Aptos"/>
              </a:rPr>
              <a:t>09</a:t>
            </a:r>
          </a:p>
        </p:txBody>
      </p:sp>
      <p:sp>
        <p:nvSpPr>
          <p:cNvPr id="6" name="Rounded Rectangle 5"/>
          <p:cNvSpPr/>
          <p:nvPr/>
        </p:nvSpPr>
        <p:spPr>
          <a:xfrm>
            <a:off x="685800" y="1828800"/>
            <a:ext cx="2834640" cy="301752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103120"/>
            <a:ext cx="1097280" cy="228600"/>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INPUTS</a:t>
            </a:r>
          </a:p>
        </p:txBody>
      </p:sp>
      <p:sp>
        <p:nvSpPr>
          <p:cNvPr id="8" name="TextBox 7"/>
          <p:cNvSpPr txBox="1"/>
          <p:nvPr/>
        </p:nvSpPr>
        <p:spPr>
          <a:xfrm>
            <a:off x="914400" y="2542032"/>
            <a:ext cx="2011680" cy="274320"/>
          </a:xfrm>
          <a:prstGeom prst="rect">
            <a:avLst/>
          </a:prstGeom>
          <a:noFill/>
        </p:spPr>
        <p:txBody>
          <a:bodyPr wrap="square" lIns="18288" tIns="18288" rIns="18288" bIns="18288" anchor="t">
            <a:spAutoFit/>
          </a:bodyPr>
          <a:lstStyle/>
          <a:p>
            <a:pPr algn="l">
              <a:lnSpc>
                <a:spcPct val="100000"/>
              </a:lnSpc>
            </a:pPr>
            <a:r>
              <a:rPr sz="1300" b="1">
                <a:solidFill>
                  <a:srgbClr val="F2F6FA"/>
                </a:solidFill>
                <a:latin typeface="Aptos"/>
              </a:rPr>
              <a:t>• Location</a:t>
            </a:r>
          </a:p>
        </p:txBody>
      </p:sp>
      <p:sp>
        <p:nvSpPr>
          <p:cNvPr id="9" name="TextBox 8"/>
          <p:cNvSpPr txBox="1"/>
          <p:nvPr/>
        </p:nvSpPr>
        <p:spPr>
          <a:xfrm>
            <a:off x="914400" y="3017520"/>
            <a:ext cx="2011680" cy="274320"/>
          </a:xfrm>
          <a:prstGeom prst="rect">
            <a:avLst/>
          </a:prstGeom>
          <a:noFill/>
        </p:spPr>
        <p:txBody>
          <a:bodyPr wrap="square" lIns="18288" tIns="18288" rIns="18288" bIns="18288" anchor="t">
            <a:spAutoFit/>
          </a:bodyPr>
          <a:lstStyle/>
          <a:p>
            <a:pPr algn="l">
              <a:lnSpc>
                <a:spcPct val="100000"/>
              </a:lnSpc>
            </a:pPr>
            <a:r>
              <a:rPr sz="1300" b="1">
                <a:solidFill>
                  <a:srgbClr val="F2F6FA"/>
                </a:solidFill>
                <a:latin typeface="Aptos"/>
              </a:rPr>
              <a:t>• Capacity</a:t>
            </a:r>
          </a:p>
        </p:txBody>
      </p:sp>
      <p:sp>
        <p:nvSpPr>
          <p:cNvPr id="10" name="TextBox 9"/>
          <p:cNvSpPr txBox="1"/>
          <p:nvPr/>
        </p:nvSpPr>
        <p:spPr>
          <a:xfrm>
            <a:off x="914400" y="3493008"/>
            <a:ext cx="2011680" cy="274320"/>
          </a:xfrm>
          <a:prstGeom prst="rect">
            <a:avLst/>
          </a:prstGeom>
          <a:noFill/>
        </p:spPr>
        <p:txBody>
          <a:bodyPr wrap="square" lIns="18288" tIns="18288" rIns="18288" bIns="18288" anchor="t">
            <a:spAutoFit/>
          </a:bodyPr>
          <a:lstStyle/>
          <a:p>
            <a:pPr algn="l">
              <a:lnSpc>
                <a:spcPct val="100000"/>
              </a:lnSpc>
            </a:pPr>
            <a:r>
              <a:rPr sz="1300" b="1">
                <a:solidFill>
                  <a:srgbClr val="F2F6FA"/>
                </a:solidFill>
                <a:latin typeface="Aptos"/>
              </a:rPr>
              <a:t>• Time</a:t>
            </a:r>
          </a:p>
        </p:txBody>
      </p:sp>
      <p:sp>
        <p:nvSpPr>
          <p:cNvPr id="11" name="TextBox 10"/>
          <p:cNvSpPr txBox="1"/>
          <p:nvPr/>
        </p:nvSpPr>
        <p:spPr>
          <a:xfrm>
            <a:off x="914400" y="3968496"/>
            <a:ext cx="2011680" cy="274320"/>
          </a:xfrm>
          <a:prstGeom prst="rect">
            <a:avLst/>
          </a:prstGeom>
          <a:noFill/>
        </p:spPr>
        <p:txBody>
          <a:bodyPr wrap="square" lIns="18288" tIns="18288" rIns="18288" bIns="18288" anchor="t">
            <a:spAutoFit/>
          </a:bodyPr>
          <a:lstStyle/>
          <a:p>
            <a:pPr algn="l">
              <a:lnSpc>
                <a:spcPct val="100000"/>
              </a:lnSpc>
            </a:pPr>
            <a:r>
              <a:rPr sz="1300" b="1">
                <a:solidFill>
                  <a:srgbClr val="F2F6FA"/>
                </a:solidFill>
                <a:latin typeface="Aptos"/>
              </a:rPr>
              <a:t>• Recent availability</a:t>
            </a:r>
          </a:p>
        </p:txBody>
      </p:sp>
      <p:sp>
        <p:nvSpPr>
          <p:cNvPr id="12" name="Right Arrow 11"/>
          <p:cNvSpPr/>
          <p:nvPr/>
        </p:nvSpPr>
        <p:spPr>
          <a:xfrm>
            <a:off x="3703320" y="2926080"/>
            <a:ext cx="960120" cy="228600"/>
          </a:xfrm>
          <a:prstGeom prst="rightArrow">
            <a:avLst/>
          </a:prstGeom>
          <a:solidFill>
            <a:srgbClr val="49D3EC"/>
          </a:solidFill>
          <a:ln>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800600" y="1828800"/>
            <a:ext cx="2743200" cy="3017520"/>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74920" y="2103120"/>
            <a:ext cx="1645920" cy="228600"/>
          </a:xfrm>
          <a:prstGeom prst="rect">
            <a:avLst/>
          </a:prstGeom>
          <a:noFill/>
        </p:spPr>
        <p:txBody>
          <a:bodyPr wrap="square" lIns="18288" tIns="18288" rIns="18288" bIns="18288" anchor="t">
            <a:spAutoFit/>
          </a:bodyPr>
          <a:lstStyle/>
          <a:p>
            <a:pPr algn="l">
              <a:lnSpc>
                <a:spcPct val="100000"/>
              </a:lnSpc>
            </a:pPr>
            <a:r>
              <a:rPr sz="900" b="1">
                <a:solidFill>
                  <a:srgbClr val="2DBEAA"/>
                </a:solidFill>
                <a:latin typeface="Aptos"/>
              </a:rPr>
              <a:t>REGRESSION</a:t>
            </a:r>
          </a:p>
        </p:txBody>
      </p:sp>
      <p:sp>
        <p:nvSpPr>
          <p:cNvPr id="15" name="TextBox 14"/>
          <p:cNvSpPr txBox="1"/>
          <p:nvPr/>
        </p:nvSpPr>
        <p:spPr>
          <a:xfrm>
            <a:off x="5074920" y="2651760"/>
            <a:ext cx="2148840" cy="1234440"/>
          </a:xfrm>
          <a:prstGeom prst="rect">
            <a:avLst/>
          </a:prstGeom>
          <a:noFill/>
        </p:spPr>
        <p:txBody>
          <a:bodyPr wrap="square" lIns="18288" tIns="18288" rIns="18288" bIns="18288" anchor="t">
            <a:spAutoFit/>
          </a:bodyPr>
          <a:lstStyle/>
          <a:p>
            <a:pPr algn="l">
              <a:lnSpc>
                <a:spcPct val="100000"/>
              </a:lnSpc>
            </a:pPr>
            <a:r>
              <a:rPr sz="1700" b="1">
                <a:solidFill>
                  <a:srgbClr val="F2F6FA"/>
                </a:solidFill>
                <a:latin typeface="Aptos Display"/>
              </a:rPr>
              <a:t>Extra Trees
Random Forest
Gradient Boosting</a:t>
            </a:r>
          </a:p>
        </p:txBody>
      </p:sp>
      <p:sp>
        <p:nvSpPr>
          <p:cNvPr id="16" name="Right Arrow 15"/>
          <p:cNvSpPr/>
          <p:nvPr/>
        </p:nvSpPr>
        <p:spPr>
          <a:xfrm>
            <a:off x="7726679" y="2926080"/>
            <a:ext cx="960120" cy="228600"/>
          </a:xfrm>
          <a:prstGeom prst="rightArrow">
            <a:avLst/>
          </a:prstGeom>
          <a:solidFill>
            <a:srgbClr val="2DBEAA"/>
          </a:solidFill>
          <a:ln>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823960" y="1828800"/>
            <a:ext cx="2468880" cy="301752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098280" y="2103120"/>
            <a:ext cx="1097280" cy="228600"/>
          </a:xfrm>
          <a:prstGeom prst="rect">
            <a:avLst/>
          </a:prstGeom>
          <a:noFill/>
        </p:spPr>
        <p:txBody>
          <a:bodyPr wrap="square" lIns="18288" tIns="18288" rIns="18288" bIns="18288" anchor="t">
            <a:spAutoFit/>
          </a:bodyPr>
          <a:lstStyle/>
          <a:p>
            <a:pPr algn="l">
              <a:lnSpc>
                <a:spcPct val="100000"/>
              </a:lnSpc>
            </a:pPr>
            <a:r>
              <a:rPr sz="900" b="1">
                <a:solidFill>
                  <a:srgbClr val="F5AE42"/>
                </a:solidFill>
                <a:latin typeface="Aptos"/>
              </a:rPr>
              <a:t>OUTPUT</a:t>
            </a:r>
          </a:p>
        </p:txBody>
      </p:sp>
      <p:sp>
        <p:nvSpPr>
          <p:cNvPr id="19" name="TextBox 18"/>
          <p:cNvSpPr txBox="1"/>
          <p:nvPr/>
        </p:nvSpPr>
        <p:spPr>
          <a:xfrm>
            <a:off x="9098280" y="2743200"/>
            <a:ext cx="1737360" cy="822960"/>
          </a:xfrm>
          <a:prstGeom prst="rect">
            <a:avLst/>
          </a:prstGeom>
          <a:noFill/>
        </p:spPr>
        <p:txBody>
          <a:bodyPr wrap="square" lIns="18288" tIns="18288" rIns="18288" bIns="18288" anchor="t">
            <a:spAutoFit/>
          </a:bodyPr>
          <a:lstStyle/>
          <a:p>
            <a:pPr algn="l">
              <a:lnSpc>
                <a:spcPct val="100000"/>
              </a:lnSpc>
            </a:pPr>
            <a:r>
              <a:rPr sz="2200" b="1">
                <a:solidFill>
                  <a:srgbClr val="F2F6FA"/>
                </a:solidFill>
                <a:latin typeface="Aptos Display"/>
              </a:rPr>
              <a:t>Available
Parking Spaces</a:t>
            </a:r>
          </a:p>
        </p:txBody>
      </p:sp>
      <p:sp>
        <p:nvSpPr>
          <p:cNvPr id="20" name="TextBox 19"/>
          <p:cNvSpPr txBox="1"/>
          <p:nvPr/>
        </p:nvSpPr>
        <p:spPr>
          <a:xfrm>
            <a:off x="9098280" y="3931920"/>
            <a:ext cx="1645920" cy="274320"/>
          </a:xfrm>
          <a:prstGeom prst="rect">
            <a:avLst/>
          </a:prstGeom>
          <a:noFill/>
        </p:spPr>
        <p:txBody>
          <a:bodyPr wrap="square" lIns="18288" tIns="18288" rIns="18288" bIns="18288" anchor="t">
            <a:spAutoFit/>
          </a:bodyPr>
          <a:lstStyle/>
          <a:p>
            <a:pPr algn="l">
              <a:lnSpc>
                <a:spcPct val="100000"/>
              </a:lnSpc>
            </a:pPr>
            <a:r>
              <a:rPr sz="1000" b="0">
                <a:solidFill>
                  <a:srgbClr val="A4B0BF"/>
                </a:solidFill>
                <a:latin typeface="Aptos"/>
              </a:rPr>
              <a:t>Numerical prediction</a:t>
            </a:r>
          </a:p>
        </p:txBody>
      </p:sp>
      <p:sp>
        <p:nvSpPr>
          <p:cNvPr id="21" name="TextBox 20"/>
          <p:cNvSpPr txBox="1"/>
          <p:nvPr/>
        </p:nvSpPr>
        <p:spPr>
          <a:xfrm>
            <a:off x="914400" y="5257800"/>
            <a:ext cx="9784080" cy="502920"/>
          </a:xfrm>
          <a:prstGeom prst="rect">
            <a:avLst/>
          </a:prstGeom>
          <a:noFill/>
        </p:spPr>
        <p:txBody>
          <a:bodyPr wrap="square" lIns="18288" tIns="18288" rIns="18288" bIns="18288" anchor="t">
            <a:spAutoFit/>
          </a:bodyPr>
          <a:lstStyle/>
          <a:p>
            <a:pPr algn="l">
              <a:lnSpc>
                <a:spcPct val="100000"/>
              </a:lnSpc>
            </a:pPr>
            <a:r>
              <a:rPr sz="1400" b="1">
                <a:solidFill>
                  <a:srgbClr val="F2F6FA"/>
                </a:solidFill>
                <a:latin typeface="Aptos"/>
              </a:rPr>
              <a:t>The application then derives occupied spaces, occupancy %, availability % and congestion.</a:t>
            </a:r>
          </a:p>
        </p:txBody>
      </p:sp>
      <p:cxnSp>
        <p:nvCxnSpPr>
          <p:cNvPr id="22" name="Connector 21"/>
          <p:cNvCxnSpPr/>
          <p:nvPr/>
        </p:nvCxnSpPr>
        <p:spPr>
          <a:xfrm>
            <a:off x="502920" y="6473952"/>
            <a:ext cx="11183112" cy="0"/>
          </a:xfrm>
          <a:prstGeom prst="line">
            <a:avLst/>
          </a:prstGeom>
          <a:ln w="8890">
            <a:solidFill>
              <a:srgbClr val="26314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30352" y="6537960"/>
            <a:ext cx="2926080" cy="164592"/>
          </a:xfrm>
          <a:prstGeom prst="rect">
            <a:avLst/>
          </a:prstGeom>
          <a:noFill/>
        </p:spPr>
        <p:txBody>
          <a:bodyPr wrap="square" lIns="18288" tIns="18288" rIns="18288" bIns="18288" anchor="t">
            <a:spAutoFit/>
          </a:bodyPr>
          <a:lstStyle/>
          <a:p>
            <a:pPr algn="l">
              <a:lnSpc>
                <a:spcPct val="100000"/>
              </a:lnSpc>
            </a:pPr>
            <a:r>
              <a:rPr sz="750" b="1">
                <a:solidFill>
                  <a:srgbClr val="A4B0BF"/>
                </a:solidFill>
                <a:latin typeface="Aptos"/>
              </a:rPr>
              <a:t>PARKING AVAILABILITY AI</a:t>
            </a:r>
          </a:p>
        </p:txBody>
      </p:sp>
      <p:sp>
        <p:nvSpPr>
          <p:cNvPr id="24" name="TextBox 23"/>
          <p:cNvSpPr txBox="1"/>
          <p:nvPr/>
        </p:nvSpPr>
        <p:spPr>
          <a:xfrm>
            <a:off x="8503920" y="6537960"/>
            <a:ext cx="3108960" cy="164592"/>
          </a:xfrm>
          <a:prstGeom prst="rect">
            <a:avLst/>
          </a:prstGeom>
          <a:noFill/>
        </p:spPr>
        <p:txBody>
          <a:bodyPr wrap="square" lIns="18288" tIns="18288" rIns="18288" bIns="18288" anchor="t">
            <a:spAutoFit/>
          </a:bodyPr>
          <a:lstStyle/>
          <a:p>
            <a:pPr algn="r">
              <a:lnSpc>
                <a:spcPct val="100000"/>
              </a:lnSpc>
            </a:pPr>
            <a:r>
              <a:rPr sz="750" b="0">
                <a:solidFill>
                  <a:srgbClr val="A4B0BF"/>
                </a:solidFill>
                <a:latin typeface="Aptos"/>
              </a:rPr>
              <a:t>Machine Learning • Final Review</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90D1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2743200" cy="256032"/>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09 • MODEL STRATEGY</a:t>
            </a:r>
          </a:p>
        </p:txBody>
      </p:sp>
      <p:sp>
        <p:nvSpPr>
          <p:cNvPr id="3" name="TextBox 2"/>
          <p:cNvSpPr txBox="1"/>
          <p:nvPr/>
        </p:nvSpPr>
        <p:spPr>
          <a:xfrm>
            <a:off x="502920" y="612648"/>
            <a:ext cx="10789920" cy="658368"/>
          </a:xfrm>
          <a:prstGeom prst="rect">
            <a:avLst/>
          </a:prstGeom>
          <a:noFill/>
        </p:spPr>
        <p:txBody>
          <a:bodyPr wrap="square" lIns="18288" tIns="18288" rIns="18288" bIns="18288" anchor="t">
            <a:spAutoFit/>
          </a:bodyPr>
          <a:lstStyle/>
          <a:p>
            <a:pPr algn="l">
              <a:lnSpc>
                <a:spcPct val="100000"/>
              </a:lnSpc>
            </a:pPr>
            <a:r>
              <a:rPr sz="2800" b="1">
                <a:solidFill>
                  <a:srgbClr val="F2F6FA"/>
                </a:solidFill>
                <a:latin typeface="Aptos Display"/>
              </a:rPr>
              <a:t>Why compare three ensemble regressors?</a:t>
            </a:r>
          </a:p>
        </p:txBody>
      </p:sp>
      <p:sp>
        <p:nvSpPr>
          <p:cNvPr id="4" name="TextBox 3"/>
          <p:cNvSpPr txBox="1"/>
          <p:nvPr/>
        </p:nvSpPr>
        <p:spPr>
          <a:xfrm>
            <a:off x="530352" y="1261872"/>
            <a:ext cx="10698480" cy="384048"/>
          </a:xfrm>
          <a:prstGeom prst="rect">
            <a:avLst/>
          </a:prstGeom>
          <a:noFill/>
        </p:spPr>
        <p:txBody>
          <a:bodyPr wrap="square" lIns="18288" tIns="18288" rIns="18288" bIns="18288" anchor="t">
            <a:spAutoFit/>
          </a:bodyPr>
          <a:lstStyle/>
          <a:p>
            <a:pPr algn="l">
              <a:lnSpc>
                <a:spcPct val="100000"/>
              </a:lnSpc>
            </a:pPr>
            <a:r>
              <a:rPr sz="1250" b="0">
                <a:solidFill>
                  <a:srgbClr val="A4B0BF"/>
                </a:solidFill>
                <a:latin typeface="Aptos"/>
              </a:rPr>
              <a:t>Each model captures nonlinear relationships through a different ensemble strategy.</a:t>
            </a:r>
          </a:p>
        </p:txBody>
      </p:sp>
      <p:sp>
        <p:nvSpPr>
          <p:cNvPr id="5" name="TextBox 4"/>
          <p:cNvSpPr txBox="1"/>
          <p:nvPr/>
        </p:nvSpPr>
        <p:spPr>
          <a:xfrm>
            <a:off x="11292840" y="329184"/>
            <a:ext cx="411480" cy="274320"/>
          </a:xfrm>
          <a:prstGeom prst="rect">
            <a:avLst/>
          </a:prstGeom>
          <a:noFill/>
        </p:spPr>
        <p:txBody>
          <a:bodyPr wrap="square" lIns="18288" tIns="18288" rIns="18288" bIns="18288" anchor="t">
            <a:spAutoFit/>
          </a:bodyPr>
          <a:lstStyle/>
          <a:p>
            <a:pPr algn="r">
              <a:lnSpc>
                <a:spcPct val="100000"/>
              </a:lnSpc>
            </a:pPr>
            <a:r>
              <a:rPr sz="1000" b="1">
                <a:solidFill>
                  <a:srgbClr val="A4B0BF"/>
                </a:solidFill>
                <a:latin typeface="Aptos"/>
              </a:rPr>
              <a:t>10</a:t>
            </a:r>
          </a:p>
        </p:txBody>
      </p:sp>
      <p:sp>
        <p:nvSpPr>
          <p:cNvPr id="6" name="Rounded Rectangle 5"/>
          <p:cNvSpPr/>
          <p:nvPr/>
        </p:nvSpPr>
        <p:spPr>
          <a:xfrm>
            <a:off x="685800" y="1828800"/>
            <a:ext cx="3337560" cy="242316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14400" y="2103120"/>
            <a:ext cx="384048" cy="384048"/>
          </a:xfrm>
          <a:prstGeom prst="ellipse">
            <a:avLst/>
          </a:prstGeom>
          <a:solidFill>
            <a:srgbClr val="49D3EC"/>
          </a:solidFill>
          <a:ln>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35607" y="2066543"/>
            <a:ext cx="2286000" cy="274320"/>
          </a:xfrm>
          <a:prstGeom prst="rect">
            <a:avLst/>
          </a:prstGeom>
          <a:noFill/>
        </p:spPr>
        <p:txBody>
          <a:bodyPr wrap="square" lIns="18288" tIns="18288" rIns="18288" bIns="18288" anchor="t">
            <a:spAutoFit/>
          </a:bodyPr>
          <a:lstStyle/>
          <a:p>
            <a:pPr algn="l">
              <a:lnSpc>
                <a:spcPct val="100000"/>
              </a:lnSpc>
            </a:pPr>
            <a:r>
              <a:rPr sz="1100" b="1">
                <a:solidFill>
                  <a:srgbClr val="49D3EC"/>
                </a:solidFill>
                <a:latin typeface="Aptos"/>
              </a:rPr>
              <a:t>EXTRA TREES</a:t>
            </a:r>
          </a:p>
        </p:txBody>
      </p:sp>
      <p:sp>
        <p:nvSpPr>
          <p:cNvPr id="9" name="TextBox 8"/>
          <p:cNvSpPr txBox="1"/>
          <p:nvPr/>
        </p:nvSpPr>
        <p:spPr>
          <a:xfrm>
            <a:off x="914400" y="2788920"/>
            <a:ext cx="2788920" cy="822960"/>
          </a:xfrm>
          <a:prstGeom prst="rect">
            <a:avLst/>
          </a:prstGeom>
          <a:noFill/>
        </p:spPr>
        <p:txBody>
          <a:bodyPr wrap="square" lIns="18288" tIns="18288" rIns="18288" bIns="18288" anchor="t">
            <a:spAutoFit/>
          </a:bodyPr>
          <a:lstStyle/>
          <a:p>
            <a:pPr algn="l">
              <a:lnSpc>
                <a:spcPct val="100000"/>
              </a:lnSpc>
            </a:pPr>
            <a:r>
              <a:rPr sz="1700" b="1">
                <a:solidFill>
                  <a:srgbClr val="F2F6FA"/>
                </a:solidFill>
                <a:latin typeface="Aptos Display"/>
              </a:rPr>
              <a:t>Randomized decision trees
+ ensemble aggregation</a:t>
            </a:r>
          </a:p>
        </p:txBody>
      </p:sp>
      <p:sp>
        <p:nvSpPr>
          <p:cNvPr id="10" name="TextBox 9"/>
          <p:cNvSpPr txBox="1"/>
          <p:nvPr/>
        </p:nvSpPr>
        <p:spPr>
          <a:xfrm>
            <a:off x="914400" y="3703320"/>
            <a:ext cx="2743200" cy="228600"/>
          </a:xfrm>
          <a:prstGeom prst="rect">
            <a:avLst/>
          </a:prstGeom>
          <a:noFill/>
        </p:spPr>
        <p:txBody>
          <a:bodyPr wrap="square" lIns="18288" tIns="18288" rIns="18288" bIns="18288" anchor="t">
            <a:spAutoFit/>
          </a:bodyPr>
          <a:lstStyle/>
          <a:p>
            <a:pPr algn="l">
              <a:lnSpc>
                <a:spcPct val="100000"/>
              </a:lnSpc>
            </a:pPr>
            <a:r>
              <a:rPr sz="900" b="0">
                <a:solidFill>
                  <a:srgbClr val="A4B0BF"/>
                </a:solidFill>
                <a:latin typeface="Aptos"/>
              </a:rPr>
              <a:t>Compare → evaluate → select</a:t>
            </a:r>
          </a:p>
        </p:txBody>
      </p:sp>
      <p:sp>
        <p:nvSpPr>
          <p:cNvPr id="11" name="Rounded Rectangle 10"/>
          <p:cNvSpPr/>
          <p:nvPr/>
        </p:nvSpPr>
        <p:spPr>
          <a:xfrm>
            <a:off x="4416552" y="1828800"/>
            <a:ext cx="3337560" cy="242316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645152" y="2103120"/>
            <a:ext cx="384048" cy="384048"/>
          </a:xfrm>
          <a:prstGeom prst="ellipse">
            <a:avLst/>
          </a:prstGeom>
          <a:solidFill>
            <a:srgbClr val="2DBEAA"/>
          </a:solidFill>
          <a:ln>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66360" y="2066543"/>
            <a:ext cx="2286000" cy="274320"/>
          </a:xfrm>
          <a:prstGeom prst="rect">
            <a:avLst/>
          </a:prstGeom>
          <a:noFill/>
        </p:spPr>
        <p:txBody>
          <a:bodyPr wrap="square" lIns="18288" tIns="18288" rIns="18288" bIns="18288" anchor="t">
            <a:spAutoFit/>
          </a:bodyPr>
          <a:lstStyle/>
          <a:p>
            <a:pPr algn="l">
              <a:lnSpc>
                <a:spcPct val="100000"/>
              </a:lnSpc>
            </a:pPr>
            <a:r>
              <a:rPr sz="1100" b="1">
                <a:solidFill>
                  <a:srgbClr val="2DBEAA"/>
                </a:solidFill>
                <a:latin typeface="Aptos"/>
              </a:rPr>
              <a:t>RANDOM FOREST</a:t>
            </a:r>
          </a:p>
        </p:txBody>
      </p:sp>
      <p:sp>
        <p:nvSpPr>
          <p:cNvPr id="14" name="TextBox 13"/>
          <p:cNvSpPr txBox="1"/>
          <p:nvPr/>
        </p:nvSpPr>
        <p:spPr>
          <a:xfrm>
            <a:off x="4645152" y="2788920"/>
            <a:ext cx="2788920" cy="822960"/>
          </a:xfrm>
          <a:prstGeom prst="rect">
            <a:avLst/>
          </a:prstGeom>
          <a:noFill/>
        </p:spPr>
        <p:txBody>
          <a:bodyPr wrap="square" lIns="18288" tIns="18288" rIns="18288" bIns="18288" anchor="t">
            <a:spAutoFit/>
          </a:bodyPr>
          <a:lstStyle/>
          <a:p>
            <a:pPr algn="l">
              <a:lnSpc>
                <a:spcPct val="100000"/>
              </a:lnSpc>
            </a:pPr>
            <a:r>
              <a:rPr sz="1700" b="1">
                <a:solidFill>
                  <a:srgbClr val="F2F6FA"/>
                </a:solidFill>
                <a:latin typeface="Aptos Display"/>
              </a:rPr>
              <a:t>Multiple decision trees
+ averaged predictions</a:t>
            </a:r>
          </a:p>
        </p:txBody>
      </p:sp>
      <p:sp>
        <p:nvSpPr>
          <p:cNvPr id="15" name="TextBox 14"/>
          <p:cNvSpPr txBox="1"/>
          <p:nvPr/>
        </p:nvSpPr>
        <p:spPr>
          <a:xfrm>
            <a:off x="4645152" y="3703320"/>
            <a:ext cx="2743200" cy="228600"/>
          </a:xfrm>
          <a:prstGeom prst="rect">
            <a:avLst/>
          </a:prstGeom>
          <a:noFill/>
        </p:spPr>
        <p:txBody>
          <a:bodyPr wrap="square" lIns="18288" tIns="18288" rIns="18288" bIns="18288" anchor="t">
            <a:spAutoFit/>
          </a:bodyPr>
          <a:lstStyle/>
          <a:p>
            <a:pPr algn="l">
              <a:lnSpc>
                <a:spcPct val="100000"/>
              </a:lnSpc>
            </a:pPr>
            <a:r>
              <a:rPr sz="900" b="0">
                <a:solidFill>
                  <a:srgbClr val="A4B0BF"/>
                </a:solidFill>
                <a:latin typeface="Aptos"/>
              </a:rPr>
              <a:t>Compare → evaluate → select</a:t>
            </a:r>
          </a:p>
        </p:txBody>
      </p:sp>
      <p:sp>
        <p:nvSpPr>
          <p:cNvPr id="16" name="Rounded Rectangle 15"/>
          <p:cNvSpPr/>
          <p:nvPr/>
        </p:nvSpPr>
        <p:spPr>
          <a:xfrm>
            <a:off x="8147304" y="1828800"/>
            <a:ext cx="3337560" cy="242316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375904" y="2103120"/>
            <a:ext cx="384048" cy="384048"/>
          </a:xfrm>
          <a:prstGeom prst="ellipse">
            <a:avLst/>
          </a:prstGeom>
          <a:solidFill>
            <a:srgbClr val="8E77FF"/>
          </a:solidFill>
          <a:ln>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897112" y="2066543"/>
            <a:ext cx="2286000" cy="274320"/>
          </a:xfrm>
          <a:prstGeom prst="rect">
            <a:avLst/>
          </a:prstGeom>
          <a:noFill/>
        </p:spPr>
        <p:txBody>
          <a:bodyPr wrap="square" lIns="18288" tIns="18288" rIns="18288" bIns="18288" anchor="t">
            <a:spAutoFit/>
          </a:bodyPr>
          <a:lstStyle/>
          <a:p>
            <a:pPr algn="l">
              <a:lnSpc>
                <a:spcPct val="100000"/>
              </a:lnSpc>
            </a:pPr>
            <a:r>
              <a:rPr sz="1100" b="1">
                <a:solidFill>
                  <a:srgbClr val="8E77FF"/>
                </a:solidFill>
                <a:latin typeface="Aptos"/>
              </a:rPr>
              <a:t>GRADIENT BOOSTING</a:t>
            </a:r>
          </a:p>
        </p:txBody>
      </p:sp>
      <p:sp>
        <p:nvSpPr>
          <p:cNvPr id="19" name="TextBox 18"/>
          <p:cNvSpPr txBox="1"/>
          <p:nvPr/>
        </p:nvSpPr>
        <p:spPr>
          <a:xfrm>
            <a:off x="8375904" y="2788920"/>
            <a:ext cx="2788920" cy="822960"/>
          </a:xfrm>
          <a:prstGeom prst="rect">
            <a:avLst/>
          </a:prstGeom>
          <a:noFill/>
        </p:spPr>
        <p:txBody>
          <a:bodyPr wrap="square" lIns="18288" tIns="18288" rIns="18288" bIns="18288" anchor="t">
            <a:spAutoFit/>
          </a:bodyPr>
          <a:lstStyle/>
          <a:p>
            <a:pPr algn="l">
              <a:lnSpc>
                <a:spcPct val="100000"/>
              </a:lnSpc>
            </a:pPr>
            <a:r>
              <a:rPr sz="1700" b="1">
                <a:solidFill>
                  <a:srgbClr val="F2F6FA"/>
                </a:solidFill>
                <a:latin typeface="Aptos Display"/>
              </a:rPr>
              <a:t>Sequential trees
+ error correction</a:t>
            </a:r>
          </a:p>
        </p:txBody>
      </p:sp>
      <p:sp>
        <p:nvSpPr>
          <p:cNvPr id="20" name="TextBox 19"/>
          <p:cNvSpPr txBox="1"/>
          <p:nvPr/>
        </p:nvSpPr>
        <p:spPr>
          <a:xfrm>
            <a:off x="8375904" y="3703320"/>
            <a:ext cx="2743200" cy="228600"/>
          </a:xfrm>
          <a:prstGeom prst="rect">
            <a:avLst/>
          </a:prstGeom>
          <a:noFill/>
        </p:spPr>
        <p:txBody>
          <a:bodyPr wrap="square" lIns="18288" tIns="18288" rIns="18288" bIns="18288" anchor="t">
            <a:spAutoFit/>
          </a:bodyPr>
          <a:lstStyle/>
          <a:p>
            <a:pPr algn="l">
              <a:lnSpc>
                <a:spcPct val="100000"/>
              </a:lnSpc>
            </a:pPr>
            <a:r>
              <a:rPr sz="900" b="0">
                <a:solidFill>
                  <a:srgbClr val="A4B0BF"/>
                </a:solidFill>
                <a:latin typeface="Aptos"/>
              </a:rPr>
              <a:t>Compare → evaluate → select</a:t>
            </a:r>
          </a:p>
        </p:txBody>
      </p:sp>
      <p:sp>
        <p:nvSpPr>
          <p:cNvPr id="21" name="Rounded Rectangle 20"/>
          <p:cNvSpPr/>
          <p:nvPr/>
        </p:nvSpPr>
        <p:spPr>
          <a:xfrm>
            <a:off x="685800" y="4709160"/>
            <a:ext cx="10744200" cy="822960"/>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956048"/>
            <a:ext cx="1463040" cy="228600"/>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Selection principle</a:t>
            </a:r>
          </a:p>
        </p:txBody>
      </p:sp>
      <p:sp>
        <p:nvSpPr>
          <p:cNvPr id="23" name="TextBox 22"/>
          <p:cNvSpPr txBox="1"/>
          <p:nvPr/>
        </p:nvSpPr>
        <p:spPr>
          <a:xfrm>
            <a:off x="2331720" y="4919472"/>
            <a:ext cx="7955279" cy="320040"/>
          </a:xfrm>
          <a:prstGeom prst="rect">
            <a:avLst/>
          </a:prstGeom>
          <a:noFill/>
        </p:spPr>
        <p:txBody>
          <a:bodyPr wrap="square" lIns="18288" tIns="18288" rIns="18288" bIns="18288" anchor="t">
            <a:spAutoFit/>
          </a:bodyPr>
          <a:lstStyle/>
          <a:p>
            <a:pPr algn="l">
              <a:lnSpc>
                <a:spcPct val="100000"/>
              </a:lnSpc>
            </a:pPr>
            <a:r>
              <a:rPr sz="1300" b="1">
                <a:solidFill>
                  <a:srgbClr val="F2F6FA"/>
                </a:solidFill>
                <a:latin typeface="Aptos"/>
              </a:rPr>
              <a:t>Use MAE, RMSE and R² together — not a single “accuracy” number.</a:t>
            </a:r>
          </a:p>
        </p:txBody>
      </p:sp>
      <p:cxnSp>
        <p:nvCxnSpPr>
          <p:cNvPr id="24" name="Connector 23"/>
          <p:cNvCxnSpPr/>
          <p:nvPr/>
        </p:nvCxnSpPr>
        <p:spPr>
          <a:xfrm>
            <a:off x="502920" y="6473952"/>
            <a:ext cx="11183112" cy="0"/>
          </a:xfrm>
          <a:prstGeom prst="line">
            <a:avLst/>
          </a:prstGeom>
          <a:ln w="8890">
            <a:solidFill>
              <a:srgbClr val="2631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30352" y="6537960"/>
            <a:ext cx="2926080" cy="164592"/>
          </a:xfrm>
          <a:prstGeom prst="rect">
            <a:avLst/>
          </a:prstGeom>
          <a:noFill/>
        </p:spPr>
        <p:txBody>
          <a:bodyPr wrap="square" lIns="18288" tIns="18288" rIns="18288" bIns="18288" anchor="t">
            <a:spAutoFit/>
          </a:bodyPr>
          <a:lstStyle/>
          <a:p>
            <a:pPr algn="l">
              <a:lnSpc>
                <a:spcPct val="100000"/>
              </a:lnSpc>
            </a:pPr>
            <a:r>
              <a:rPr sz="750" b="1">
                <a:solidFill>
                  <a:srgbClr val="A4B0BF"/>
                </a:solidFill>
                <a:latin typeface="Aptos"/>
              </a:rPr>
              <a:t>PARKING AVAILABILITY AI</a:t>
            </a:r>
          </a:p>
        </p:txBody>
      </p:sp>
      <p:sp>
        <p:nvSpPr>
          <p:cNvPr id="26" name="TextBox 25"/>
          <p:cNvSpPr txBox="1"/>
          <p:nvPr/>
        </p:nvSpPr>
        <p:spPr>
          <a:xfrm>
            <a:off x="8503920" y="6537960"/>
            <a:ext cx="3108960" cy="164592"/>
          </a:xfrm>
          <a:prstGeom prst="rect">
            <a:avLst/>
          </a:prstGeom>
          <a:noFill/>
        </p:spPr>
        <p:txBody>
          <a:bodyPr wrap="square" lIns="18288" tIns="18288" rIns="18288" bIns="18288" anchor="t">
            <a:spAutoFit/>
          </a:bodyPr>
          <a:lstStyle/>
          <a:p>
            <a:pPr algn="r">
              <a:lnSpc>
                <a:spcPct val="100000"/>
              </a:lnSpc>
            </a:pPr>
            <a:r>
              <a:rPr sz="750" b="0">
                <a:solidFill>
                  <a:srgbClr val="A4B0BF"/>
                </a:solidFill>
                <a:latin typeface="Aptos"/>
              </a:rPr>
              <a:t>Machine Learning • Final Review</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90D1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2743200" cy="256032"/>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10 • FINAL MODEL</a:t>
            </a:r>
          </a:p>
        </p:txBody>
      </p:sp>
      <p:sp>
        <p:nvSpPr>
          <p:cNvPr id="3" name="TextBox 2"/>
          <p:cNvSpPr txBox="1"/>
          <p:nvPr/>
        </p:nvSpPr>
        <p:spPr>
          <a:xfrm>
            <a:off x="502920" y="612648"/>
            <a:ext cx="10789920" cy="658368"/>
          </a:xfrm>
          <a:prstGeom prst="rect">
            <a:avLst/>
          </a:prstGeom>
          <a:noFill/>
        </p:spPr>
        <p:txBody>
          <a:bodyPr wrap="square" lIns="18288" tIns="18288" rIns="18288" bIns="18288" anchor="t">
            <a:spAutoFit/>
          </a:bodyPr>
          <a:lstStyle/>
          <a:p>
            <a:pPr algn="l">
              <a:lnSpc>
                <a:spcPct val="100000"/>
              </a:lnSpc>
            </a:pPr>
            <a:r>
              <a:rPr sz="2800" b="1">
                <a:solidFill>
                  <a:srgbClr val="F2F6FA"/>
                </a:solidFill>
                <a:latin typeface="Aptos Display"/>
              </a:rPr>
              <a:t>Extra Trees Regressor</a:t>
            </a:r>
          </a:p>
        </p:txBody>
      </p:sp>
      <p:sp>
        <p:nvSpPr>
          <p:cNvPr id="4" name="TextBox 3"/>
          <p:cNvSpPr txBox="1"/>
          <p:nvPr/>
        </p:nvSpPr>
        <p:spPr>
          <a:xfrm>
            <a:off x="530352" y="1261872"/>
            <a:ext cx="10698480" cy="384048"/>
          </a:xfrm>
          <a:prstGeom prst="rect">
            <a:avLst/>
          </a:prstGeom>
          <a:noFill/>
        </p:spPr>
        <p:txBody>
          <a:bodyPr wrap="square" lIns="18288" tIns="18288" rIns="18288" bIns="18288" anchor="t">
            <a:spAutoFit/>
          </a:bodyPr>
          <a:lstStyle/>
          <a:p>
            <a:pPr algn="l">
              <a:lnSpc>
                <a:spcPct val="100000"/>
              </a:lnSpc>
            </a:pPr>
            <a:r>
              <a:rPr sz="1250" b="0">
                <a:solidFill>
                  <a:srgbClr val="A4B0BF"/>
                </a:solidFill>
                <a:latin typeface="Aptos"/>
              </a:rPr>
              <a:t>The selected model captures nonlinear relationships through an ensemble of randomized decision trees.</a:t>
            </a:r>
          </a:p>
        </p:txBody>
      </p:sp>
      <p:sp>
        <p:nvSpPr>
          <p:cNvPr id="5" name="TextBox 4"/>
          <p:cNvSpPr txBox="1"/>
          <p:nvPr/>
        </p:nvSpPr>
        <p:spPr>
          <a:xfrm>
            <a:off x="11292840" y="329184"/>
            <a:ext cx="411480" cy="274320"/>
          </a:xfrm>
          <a:prstGeom prst="rect">
            <a:avLst/>
          </a:prstGeom>
          <a:noFill/>
        </p:spPr>
        <p:txBody>
          <a:bodyPr wrap="square" lIns="18288" tIns="18288" rIns="18288" bIns="18288" anchor="t">
            <a:spAutoFit/>
          </a:bodyPr>
          <a:lstStyle/>
          <a:p>
            <a:pPr algn="r">
              <a:lnSpc>
                <a:spcPct val="100000"/>
              </a:lnSpc>
            </a:pPr>
            <a:r>
              <a:rPr sz="1000" b="1">
                <a:solidFill>
                  <a:srgbClr val="A4B0BF"/>
                </a:solidFill>
                <a:latin typeface="Aptos"/>
              </a:rPr>
              <a:t>11</a:t>
            </a:r>
          </a:p>
        </p:txBody>
      </p:sp>
      <p:cxnSp>
        <p:nvCxnSpPr>
          <p:cNvPr id="6" name="Connector 5"/>
          <p:cNvCxnSpPr/>
          <p:nvPr/>
        </p:nvCxnSpPr>
        <p:spPr>
          <a:xfrm>
            <a:off x="1051560" y="2103120"/>
            <a:ext cx="274320" cy="640080"/>
          </a:xfrm>
          <a:prstGeom prst="line">
            <a:avLst/>
          </a:prstGeom>
          <a:ln w="12700">
            <a:solidFill>
              <a:srgbClr val="26314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325880" y="2103120"/>
            <a:ext cx="274320" cy="640080"/>
          </a:xfrm>
          <a:prstGeom prst="line">
            <a:avLst/>
          </a:prstGeom>
          <a:ln w="12700">
            <a:solidFill>
              <a:srgbClr val="263140"/>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207008" y="2743200"/>
            <a:ext cx="256032" cy="256032"/>
          </a:xfrm>
          <a:prstGeom prst="ellipse">
            <a:avLst/>
          </a:prstGeom>
          <a:solidFill>
            <a:srgbClr val="49D3EC"/>
          </a:solidFill>
          <a:ln>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87552" y="3127248"/>
            <a:ext cx="685800" cy="201168"/>
          </a:xfrm>
          <a:prstGeom prst="rect">
            <a:avLst/>
          </a:prstGeom>
          <a:noFill/>
        </p:spPr>
        <p:txBody>
          <a:bodyPr wrap="square" lIns="18288" tIns="18288" rIns="18288" bIns="18288" anchor="t">
            <a:spAutoFit/>
          </a:bodyPr>
          <a:lstStyle/>
          <a:p>
            <a:pPr algn="ctr">
              <a:lnSpc>
                <a:spcPct val="100000"/>
              </a:lnSpc>
            </a:pPr>
            <a:r>
              <a:rPr sz="850" b="1">
                <a:solidFill>
                  <a:srgbClr val="A4B0BF"/>
                </a:solidFill>
                <a:latin typeface="Aptos"/>
              </a:rPr>
              <a:t>Tree</a:t>
            </a:r>
          </a:p>
        </p:txBody>
      </p:sp>
      <p:cxnSp>
        <p:nvCxnSpPr>
          <p:cNvPr id="10" name="Connector 9"/>
          <p:cNvCxnSpPr/>
          <p:nvPr/>
        </p:nvCxnSpPr>
        <p:spPr>
          <a:xfrm>
            <a:off x="2103120" y="2103120"/>
            <a:ext cx="274319" cy="640080"/>
          </a:xfrm>
          <a:prstGeom prst="line">
            <a:avLst/>
          </a:prstGeom>
          <a:ln w="12700">
            <a:solidFill>
              <a:srgbClr val="26314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377439" y="2103120"/>
            <a:ext cx="274321" cy="640080"/>
          </a:xfrm>
          <a:prstGeom prst="line">
            <a:avLst/>
          </a:prstGeom>
          <a:ln w="12700">
            <a:solidFill>
              <a:srgbClr val="263140"/>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2258568" y="2743200"/>
            <a:ext cx="256032" cy="256032"/>
          </a:xfrm>
          <a:prstGeom prst="ellipse">
            <a:avLst/>
          </a:prstGeom>
          <a:solidFill>
            <a:srgbClr val="2DBEAA"/>
          </a:solidFill>
          <a:ln>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39112" y="3127248"/>
            <a:ext cx="685800" cy="201168"/>
          </a:xfrm>
          <a:prstGeom prst="rect">
            <a:avLst/>
          </a:prstGeom>
          <a:noFill/>
        </p:spPr>
        <p:txBody>
          <a:bodyPr wrap="square" lIns="18288" tIns="18288" rIns="18288" bIns="18288" anchor="t">
            <a:spAutoFit/>
          </a:bodyPr>
          <a:lstStyle/>
          <a:p>
            <a:pPr algn="ctr">
              <a:lnSpc>
                <a:spcPct val="100000"/>
              </a:lnSpc>
            </a:pPr>
            <a:r>
              <a:rPr sz="850" b="1">
                <a:solidFill>
                  <a:srgbClr val="A4B0BF"/>
                </a:solidFill>
                <a:latin typeface="Aptos"/>
              </a:rPr>
              <a:t>Tree</a:t>
            </a:r>
          </a:p>
        </p:txBody>
      </p:sp>
      <p:cxnSp>
        <p:nvCxnSpPr>
          <p:cNvPr id="14" name="Connector 13"/>
          <p:cNvCxnSpPr/>
          <p:nvPr/>
        </p:nvCxnSpPr>
        <p:spPr>
          <a:xfrm>
            <a:off x="3154679" y="2103120"/>
            <a:ext cx="274321" cy="640080"/>
          </a:xfrm>
          <a:prstGeom prst="line">
            <a:avLst/>
          </a:prstGeom>
          <a:ln w="12700">
            <a:solidFill>
              <a:srgbClr val="2631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3429000" y="2103120"/>
            <a:ext cx="274320" cy="640080"/>
          </a:xfrm>
          <a:prstGeom prst="line">
            <a:avLst/>
          </a:prstGeom>
          <a:ln w="12700">
            <a:solidFill>
              <a:srgbClr val="263140"/>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310127" y="2743200"/>
            <a:ext cx="256032" cy="256032"/>
          </a:xfrm>
          <a:prstGeom prst="ellipse">
            <a:avLst/>
          </a:prstGeom>
          <a:solidFill>
            <a:srgbClr val="49D3EC"/>
          </a:solidFill>
          <a:ln>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090672" y="3127248"/>
            <a:ext cx="685800" cy="201168"/>
          </a:xfrm>
          <a:prstGeom prst="rect">
            <a:avLst/>
          </a:prstGeom>
          <a:noFill/>
        </p:spPr>
        <p:txBody>
          <a:bodyPr wrap="square" lIns="18288" tIns="18288" rIns="18288" bIns="18288" anchor="t">
            <a:spAutoFit/>
          </a:bodyPr>
          <a:lstStyle/>
          <a:p>
            <a:pPr algn="ctr">
              <a:lnSpc>
                <a:spcPct val="100000"/>
              </a:lnSpc>
            </a:pPr>
            <a:r>
              <a:rPr sz="850" b="1">
                <a:solidFill>
                  <a:srgbClr val="A4B0BF"/>
                </a:solidFill>
                <a:latin typeface="Aptos"/>
              </a:rPr>
              <a:t>Tree</a:t>
            </a:r>
          </a:p>
        </p:txBody>
      </p:sp>
      <p:cxnSp>
        <p:nvCxnSpPr>
          <p:cNvPr id="18" name="Connector 17"/>
          <p:cNvCxnSpPr/>
          <p:nvPr/>
        </p:nvCxnSpPr>
        <p:spPr>
          <a:xfrm>
            <a:off x="4206240" y="2103120"/>
            <a:ext cx="274319" cy="640080"/>
          </a:xfrm>
          <a:prstGeom prst="line">
            <a:avLst/>
          </a:prstGeom>
          <a:ln w="12700">
            <a:solidFill>
              <a:srgbClr val="26314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4480559" y="2103120"/>
            <a:ext cx="274320" cy="640080"/>
          </a:xfrm>
          <a:prstGeom prst="line">
            <a:avLst/>
          </a:prstGeom>
          <a:ln w="12700">
            <a:solidFill>
              <a:srgbClr val="26314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361688" y="2743200"/>
            <a:ext cx="256032" cy="256032"/>
          </a:xfrm>
          <a:prstGeom prst="ellipse">
            <a:avLst/>
          </a:prstGeom>
          <a:solidFill>
            <a:srgbClr val="2DBEAA"/>
          </a:solidFill>
          <a:ln>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42231" y="3127248"/>
            <a:ext cx="685800" cy="201168"/>
          </a:xfrm>
          <a:prstGeom prst="rect">
            <a:avLst/>
          </a:prstGeom>
          <a:noFill/>
        </p:spPr>
        <p:txBody>
          <a:bodyPr wrap="square" lIns="18288" tIns="18288" rIns="18288" bIns="18288" anchor="t">
            <a:spAutoFit/>
          </a:bodyPr>
          <a:lstStyle/>
          <a:p>
            <a:pPr algn="ctr">
              <a:lnSpc>
                <a:spcPct val="100000"/>
              </a:lnSpc>
            </a:pPr>
            <a:r>
              <a:rPr sz="850" b="1">
                <a:solidFill>
                  <a:srgbClr val="A4B0BF"/>
                </a:solidFill>
                <a:latin typeface="Aptos"/>
              </a:rPr>
              <a:t>Tree</a:t>
            </a:r>
          </a:p>
        </p:txBody>
      </p:sp>
      <p:cxnSp>
        <p:nvCxnSpPr>
          <p:cNvPr id="22" name="Connector 21"/>
          <p:cNvCxnSpPr/>
          <p:nvPr/>
        </p:nvCxnSpPr>
        <p:spPr>
          <a:xfrm>
            <a:off x="5257800" y="2103120"/>
            <a:ext cx="274320" cy="640080"/>
          </a:xfrm>
          <a:prstGeom prst="line">
            <a:avLst/>
          </a:prstGeom>
          <a:ln w="12700">
            <a:solidFill>
              <a:srgbClr val="26314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5532120" y="2103120"/>
            <a:ext cx="274320" cy="640080"/>
          </a:xfrm>
          <a:prstGeom prst="line">
            <a:avLst/>
          </a:prstGeom>
          <a:ln w="12700">
            <a:solidFill>
              <a:srgbClr val="263140"/>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5413248" y="2743200"/>
            <a:ext cx="256032" cy="256032"/>
          </a:xfrm>
          <a:prstGeom prst="ellipse">
            <a:avLst/>
          </a:prstGeom>
          <a:solidFill>
            <a:srgbClr val="49D3EC"/>
          </a:solidFill>
          <a:ln>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193792" y="3127248"/>
            <a:ext cx="685800" cy="201168"/>
          </a:xfrm>
          <a:prstGeom prst="rect">
            <a:avLst/>
          </a:prstGeom>
          <a:noFill/>
        </p:spPr>
        <p:txBody>
          <a:bodyPr wrap="square" lIns="18288" tIns="18288" rIns="18288" bIns="18288" anchor="t">
            <a:spAutoFit/>
          </a:bodyPr>
          <a:lstStyle/>
          <a:p>
            <a:pPr algn="ctr">
              <a:lnSpc>
                <a:spcPct val="100000"/>
              </a:lnSpc>
            </a:pPr>
            <a:r>
              <a:rPr sz="850" b="1">
                <a:solidFill>
                  <a:srgbClr val="A4B0BF"/>
                </a:solidFill>
                <a:latin typeface="Aptos"/>
              </a:rPr>
              <a:t>Tree</a:t>
            </a:r>
          </a:p>
        </p:txBody>
      </p:sp>
      <p:sp>
        <p:nvSpPr>
          <p:cNvPr id="26" name="TextBox 25"/>
          <p:cNvSpPr txBox="1"/>
          <p:nvPr/>
        </p:nvSpPr>
        <p:spPr>
          <a:xfrm>
            <a:off x="822960" y="1664208"/>
            <a:ext cx="4937760" cy="320040"/>
          </a:xfrm>
          <a:prstGeom prst="rect">
            <a:avLst/>
          </a:prstGeom>
          <a:noFill/>
        </p:spPr>
        <p:txBody>
          <a:bodyPr wrap="square" lIns="18288" tIns="18288" rIns="18288" bIns="18288" anchor="t">
            <a:spAutoFit/>
          </a:bodyPr>
          <a:lstStyle/>
          <a:p>
            <a:pPr algn="l">
              <a:lnSpc>
                <a:spcPct val="100000"/>
              </a:lnSpc>
            </a:pPr>
            <a:r>
              <a:rPr sz="1500" b="1">
                <a:solidFill>
                  <a:srgbClr val="F2F6FA"/>
                </a:solidFill>
                <a:latin typeface="Aptos"/>
              </a:rPr>
              <a:t>Many randomized trees</a:t>
            </a:r>
          </a:p>
        </p:txBody>
      </p:sp>
      <p:sp>
        <p:nvSpPr>
          <p:cNvPr id="27" name="Right Arrow 26"/>
          <p:cNvSpPr/>
          <p:nvPr/>
        </p:nvSpPr>
        <p:spPr>
          <a:xfrm>
            <a:off x="5806440" y="2743200"/>
            <a:ext cx="914400" cy="219456"/>
          </a:xfrm>
          <a:prstGeom prst="rightArrow">
            <a:avLst/>
          </a:prstGeom>
          <a:solidFill>
            <a:srgbClr val="49D3EC"/>
          </a:solidFill>
          <a:ln>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903720" y="2011680"/>
            <a:ext cx="3840480" cy="205740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178040" y="2267712"/>
            <a:ext cx="2011680" cy="228600"/>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ENSEMBLE OUTPUT</a:t>
            </a:r>
          </a:p>
        </p:txBody>
      </p:sp>
      <p:sp>
        <p:nvSpPr>
          <p:cNvPr id="30" name="TextBox 29"/>
          <p:cNvSpPr txBox="1"/>
          <p:nvPr/>
        </p:nvSpPr>
        <p:spPr>
          <a:xfrm>
            <a:off x="7178040" y="2743200"/>
            <a:ext cx="2834640" cy="82296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Predicted
Available Spaces</a:t>
            </a:r>
          </a:p>
        </p:txBody>
      </p:sp>
      <p:sp>
        <p:nvSpPr>
          <p:cNvPr id="31" name="Rounded Rectangle 30"/>
          <p:cNvSpPr/>
          <p:nvPr/>
        </p:nvSpPr>
        <p:spPr>
          <a:xfrm>
            <a:off x="822960" y="4160520"/>
            <a:ext cx="2331720" cy="118872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22960" y="4160520"/>
            <a:ext cx="50292" cy="1188720"/>
          </a:xfrm>
          <a:prstGeom prst="rect">
            <a:avLst/>
          </a:prstGeom>
          <a:solidFill>
            <a:srgbClr val="49D3EC"/>
          </a:solidFill>
          <a:ln w="10160">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24128" y="4325112"/>
            <a:ext cx="2011679" cy="228600"/>
          </a:xfrm>
          <a:prstGeom prst="rect">
            <a:avLst/>
          </a:prstGeom>
          <a:noFill/>
        </p:spPr>
        <p:txBody>
          <a:bodyPr wrap="square" lIns="18288" tIns="18288" rIns="18288" bIns="18288" anchor="t">
            <a:spAutoFit/>
          </a:bodyPr>
          <a:lstStyle/>
          <a:p>
            <a:pPr algn="l">
              <a:lnSpc>
                <a:spcPct val="100000"/>
              </a:lnSpc>
            </a:pPr>
            <a:r>
              <a:rPr sz="850" b="1">
                <a:solidFill>
                  <a:srgbClr val="A4B0BF"/>
                </a:solidFill>
                <a:latin typeface="Aptos"/>
              </a:rPr>
              <a:t>TEST MAE</a:t>
            </a:r>
          </a:p>
        </p:txBody>
      </p:sp>
      <p:sp>
        <p:nvSpPr>
          <p:cNvPr id="34" name="TextBox 33"/>
          <p:cNvSpPr txBox="1"/>
          <p:nvPr/>
        </p:nvSpPr>
        <p:spPr>
          <a:xfrm>
            <a:off x="1024128" y="4599431"/>
            <a:ext cx="2011679" cy="50292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27.642978</a:t>
            </a:r>
          </a:p>
        </p:txBody>
      </p:sp>
      <p:sp>
        <p:nvSpPr>
          <p:cNvPr id="35" name="TextBox 34"/>
          <p:cNvSpPr txBox="1"/>
          <p:nvPr/>
        </p:nvSpPr>
        <p:spPr>
          <a:xfrm>
            <a:off x="1024128" y="5001768"/>
            <a:ext cx="2011679" cy="219456"/>
          </a:xfrm>
          <a:prstGeom prst="rect">
            <a:avLst/>
          </a:prstGeom>
          <a:noFill/>
        </p:spPr>
        <p:txBody>
          <a:bodyPr wrap="square" lIns="18288" tIns="18288" rIns="18288" bIns="18288" anchor="t">
            <a:spAutoFit/>
          </a:bodyPr>
          <a:lstStyle/>
          <a:p>
            <a:pPr algn="l">
              <a:lnSpc>
                <a:spcPct val="100000"/>
              </a:lnSpc>
            </a:pPr>
            <a:r>
              <a:rPr sz="850" b="0">
                <a:solidFill>
                  <a:srgbClr val="A4B0BF"/>
                </a:solidFill>
                <a:latin typeface="Aptos"/>
              </a:rPr>
              <a:t>lower is better</a:t>
            </a:r>
          </a:p>
        </p:txBody>
      </p:sp>
      <p:sp>
        <p:nvSpPr>
          <p:cNvPr id="36" name="Rounded Rectangle 35"/>
          <p:cNvSpPr/>
          <p:nvPr/>
        </p:nvSpPr>
        <p:spPr>
          <a:xfrm>
            <a:off x="3337560" y="4160520"/>
            <a:ext cx="2331720" cy="118872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3337560" y="4160520"/>
            <a:ext cx="50292" cy="1188720"/>
          </a:xfrm>
          <a:prstGeom prst="rect">
            <a:avLst/>
          </a:prstGeom>
          <a:solidFill>
            <a:srgbClr val="2DBEAA"/>
          </a:solidFill>
          <a:ln w="10160">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538728" y="4325112"/>
            <a:ext cx="2011679" cy="228600"/>
          </a:xfrm>
          <a:prstGeom prst="rect">
            <a:avLst/>
          </a:prstGeom>
          <a:noFill/>
        </p:spPr>
        <p:txBody>
          <a:bodyPr wrap="square" lIns="18288" tIns="18288" rIns="18288" bIns="18288" anchor="t">
            <a:spAutoFit/>
          </a:bodyPr>
          <a:lstStyle/>
          <a:p>
            <a:pPr algn="l">
              <a:lnSpc>
                <a:spcPct val="100000"/>
              </a:lnSpc>
            </a:pPr>
            <a:r>
              <a:rPr sz="850" b="1">
                <a:solidFill>
                  <a:srgbClr val="A4B0BF"/>
                </a:solidFill>
                <a:latin typeface="Aptos"/>
              </a:rPr>
              <a:t>TEST RMSE</a:t>
            </a:r>
          </a:p>
        </p:txBody>
      </p:sp>
      <p:sp>
        <p:nvSpPr>
          <p:cNvPr id="39" name="TextBox 38"/>
          <p:cNvSpPr txBox="1"/>
          <p:nvPr/>
        </p:nvSpPr>
        <p:spPr>
          <a:xfrm>
            <a:off x="3538728" y="4599431"/>
            <a:ext cx="2011679" cy="50292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70.938246</a:t>
            </a:r>
          </a:p>
        </p:txBody>
      </p:sp>
      <p:sp>
        <p:nvSpPr>
          <p:cNvPr id="40" name="TextBox 39"/>
          <p:cNvSpPr txBox="1"/>
          <p:nvPr/>
        </p:nvSpPr>
        <p:spPr>
          <a:xfrm>
            <a:off x="3538728" y="5001768"/>
            <a:ext cx="2011679" cy="219456"/>
          </a:xfrm>
          <a:prstGeom prst="rect">
            <a:avLst/>
          </a:prstGeom>
          <a:noFill/>
        </p:spPr>
        <p:txBody>
          <a:bodyPr wrap="square" lIns="18288" tIns="18288" rIns="18288" bIns="18288" anchor="t">
            <a:spAutoFit/>
          </a:bodyPr>
          <a:lstStyle/>
          <a:p>
            <a:pPr algn="l">
              <a:lnSpc>
                <a:spcPct val="100000"/>
              </a:lnSpc>
            </a:pPr>
            <a:r>
              <a:rPr sz="850" b="0">
                <a:solidFill>
                  <a:srgbClr val="A4B0BF"/>
                </a:solidFill>
                <a:latin typeface="Aptos"/>
              </a:rPr>
              <a:t>lower is better</a:t>
            </a:r>
          </a:p>
        </p:txBody>
      </p:sp>
      <p:sp>
        <p:nvSpPr>
          <p:cNvPr id="41" name="Rounded Rectangle 40"/>
          <p:cNvSpPr/>
          <p:nvPr/>
        </p:nvSpPr>
        <p:spPr>
          <a:xfrm>
            <a:off x="5852160" y="4160520"/>
            <a:ext cx="2331720" cy="118872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852160" y="4160520"/>
            <a:ext cx="50292" cy="1188720"/>
          </a:xfrm>
          <a:prstGeom prst="rect">
            <a:avLst/>
          </a:prstGeom>
          <a:solidFill>
            <a:srgbClr val="8E77FF"/>
          </a:solidFill>
          <a:ln w="10160">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053328" y="4325112"/>
            <a:ext cx="2011679" cy="228600"/>
          </a:xfrm>
          <a:prstGeom prst="rect">
            <a:avLst/>
          </a:prstGeom>
          <a:noFill/>
        </p:spPr>
        <p:txBody>
          <a:bodyPr wrap="square" lIns="18288" tIns="18288" rIns="18288" bIns="18288" anchor="t">
            <a:spAutoFit/>
          </a:bodyPr>
          <a:lstStyle/>
          <a:p>
            <a:pPr algn="l">
              <a:lnSpc>
                <a:spcPct val="100000"/>
              </a:lnSpc>
            </a:pPr>
            <a:r>
              <a:rPr sz="850" b="1">
                <a:solidFill>
                  <a:srgbClr val="A4B0BF"/>
                </a:solidFill>
                <a:latin typeface="Aptos"/>
              </a:rPr>
              <a:t>TEST R²</a:t>
            </a:r>
          </a:p>
        </p:txBody>
      </p:sp>
      <p:sp>
        <p:nvSpPr>
          <p:cNvPr id="44" name="TextBox 43"/>
          <p:cNvSpPr txBox="1"/>
          <p:nvPr/>
        </p:nvSpPr>
        <p:spPr>
          <a:xfrm>
            <a:off x="6053328" y="4599431"/>
            <a:ext cx="2011679" cy="50292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0.991116</a:t>
            </a:r>
          </a:p>
        </p:txBody>
      </p:sp>
      <p:sp>
        <p:nvSpPr>
          <p:cNvPr id="45" name="TextBox 44"/>
          <p:cNvSpPr txBox="1"/>
          <p:nvPr/>
        </p:nvSpPr>
        <p:spPr>
          <a:xfrm>
            <a:off x="6053328" y="5001768"/>
            <a:ext cx="2011679" cy="219456"/>
          </a:xfrm>
          <a:prstGeom prst="rect">
            <a:avLst/>
          </a:prstGeom>
          <a:noFill/>
        </p:spPr>
        <p:txBody>
          <a:bodyPr wrap="square" lIns="18288" tIns="18288" rIns="18288" bIns="18288" anchor="t">
            <a:spAutoFit/>
          </a:bodyPr>
          <a:lstStyle/>
          <a:p>
            <a:pPr algn="l">
              <a:lnSpc>
                <a:spcPct val="100000"/>
              </a:lnSpc>
            </a:pPr>
            <a:r>
              <a:rPr sz="850" b="0">
                <a:solidFill>
                  <a:srgbClr val="A4B0BF"/>
                </a:solidFill>
                <a:latin typeface="Aptos"/>
              </a:rPr>
              <a:t>higher is better</a:t>
            </a:r>
          </a:p>
        </p:txBody>
      </p:sp>
      <p:sp>
        <p:nvSpPr>
          <p:cNvPr id="46" name="Rounded Rectangle 45"/>
          <p:cNvSpPr/>
          <p:nvPr/>
        </p:nvSpPr>
        <p:spPr>
          <a:xfrm>
            <a:off x="8366760" y="4160520"/>
            <a:ext cx="2331720" cy="118872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8366760" y="4160520"/>
            <a:ext cx="50292" cy="1188720"/>
          </a:xfrm>
          <a:prstGeom prst="rect">
            <a:avLst/>
          </a:prstGeom>
          <a:solidFill>
            <a:srgbClr val="F5AE42"/>
          </a:solidFill>
          <a:ln w="10160">
            <a:solidFill>
              <a:srgbClr val="F5A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567928" y="4325112"/>
            <a:ext cx="2011679" cy="228600"/>
          </a:xfrm>
          <a:prstGeom prst="rect">
            <a:avLst/>
          </a:prstGeom>
          <a:noFill/>
        </p:spPr>
        <p:txBody>
          <a:bodyPr wrap="square" lIns="18288" tIns="18288" rIns="18288" bIns="18288" anchor="t">
            <a:spAutoFit/>
          </a:bodyPr>
          <a:lstStyle/>
          <a:p>
            <a:pPr algn="l">
              <a:lnSpc>
                <a:spcPct val="100000"/>
              </a:lnSpc>
            </a:pPr>
            <a:r>
              <a:rPr sz="850" b="1">
                <a:solidFill>
                  <a:srgbClr val="A4B0BF"/>
                </a:solidFill>
                <a:latin typeface="Aptos"/>
              </a:rPr>
              <a:t>VALIDATION R²</a:t>
            </a:r>
          </a:p>
        </p:txBody>
      </p:sp>
      <p:sp>
        <p:nvSpPr>
          <p:cNvPr id="49" name="TextBox 48"/>
          <p:cNvSpPr txBox="1"/>
          <p:nvPr/>
        </p:nvSpPr>
        <p:spPr>
          <a:xfrm>
            <a:off x="8567928" y="4599431"/>
            <a:ext cx="2011679" cy="50292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0.992369</a:t>
            </a:r>
          </a:p>
        </p:txBody>
      </p:sp>
      <p:cxnSp>
        <p:nvCxnSpPr>
          <p:cNvPr id="50" name="Connector 49"/>
          <p:cNvCxnSpPr/>
          <p:nvPr/>
        </p:nvCxnSpPr>
        <p:spPr>
          <a:xfrm>
            <a:off x="502920" y="6473952"/>
            <a:ext cx="11183112" cy="0"/>
          </a:xfrm>
          <a:prstGeom prst="line">
            <a:avLst/>
          </a:prstGeom>
          <a:ln w="8890">
            <a:solidFill>
              <a:srgbClr val="263140"/>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30352" y="6537960"/>
            <a:ext cx="2926080" cy="164592"/>
          </a:xfrm>
          <a:prstGeom prst="rect">
            <a:avLst/>
          </a:prstGeom>
          <a:noFill/>
        </p:spPr>
        <p:txBody>
          <a:bodyPr wrap="square" lIns="18288" tIns="18288" rIns="18288" bIns="18288" anchor="t">
            <a:spAutoFit/>
          </a:bodyPr>
          <a:lstStyle/>
          <a:p>
            <a:pPr algn="l">
              <a:lnSpc>
                <a:spcPct val="100000"/>
              </a:lnSpc>
            </a:pPr>
            <a:r>
              <a:rPr sz="750" b="1">
                <a:solidFill>
                  <a:srgbClr val="A4B0BF"/>
                </a:solidFill>
                <a:latin typeface="Aptos"/>
              </a:rPr>
              <a:t>PARKING AVAILABILITY AI</a:t>
            </a:r>
          </a:p>
        </p:txBody>
      </p:sp>
      <p:sp>
        <p:nvSpPr>
          <p:cNvPr id="52" name="TextBox 51"/>
          <p:cNvSpPr txBox="1"/>
          <p:nvPr/>
        </p:nvSpPr>
        <p:spPr>
          <a:xfrm>
            <a:off x="8503920" y="6537960"/>
            <a:ext cx="3108960" cy="164592"/>
          </a:xfrm>
          <a:prstGeom prst="rect">
            <a:avLst/>
          </a:prstGeom>
          <a:noFill/>
        </p:spPr>
        <p:txBody>
          <a:bodyPr wrap="square" lIns="18288" tIns="18288" rIns="18288" bIns="18288" anchor="t">
            <a:spAutoFit/>
          </a:bodyPr>
          <a:lstStyle/>
          <a:p>
            <a:pPr algn="r">
              <a:lnSpc>
                <a:spcPct val="100000"/>
              </a:lnSpc>
            </a:pPr>
            <a:r>
              <a:rPr sz="750" b="0">
                <a:solidFill>
                  <a:srgbClr val="A4B0BF"/>
                </a:solidFill>
                <a:latin typeface="Aptos"/>
              </a:rPr>
              <a:t>Machine Learning • Final Review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90D1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2743200" cy="256032"/>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11 • COMPARISON</a:t>
            </a:r>
          </a:p>
        </p:txBody>
      </p:sp>
      <p:sp>
        <p:nvSpPr>
          <p:cNvPr id="3" name="TextBox 2"/>
          <p:cNvSpPr txBox="1"/>
          <p:nvPr/>
        </p:nvSpPr>
        <p:spPr>
          <a:xfrm>
            <a:off x="502920" y="612648"/>
            <a:ext cx="10789920" cy="658368"/>
          </a:xfrm>
          <a:prstGeom prst="rect">
            <a:avLst/>
          </a:prstGeom>
          <a:noFill/>
        </p:spPr>
        <p:txBody>
          <a:bodyPr wrap="square" lIns="18288" tIns="18288" rIns="18288" bIns="18288" anchor="t">
            <a:spAutoFit/>
          </a:bodyPr>
          <a:lstStyle/>
          <a:p>
            <a:pPr algn="l">
              <a:lnSpc>
                <a:spcPct val="100000"/>
              </a:lnSpc>
            </a:pPr>
            <a:r>
              <a:rPr sz="2800" b="1">
                <a:solidFill>
                  <a:srgbClr val="F2F6FA"/>
                </a:solidFill>
                <a:latin typeface="Aptos Display"/>
              </a:rPr>
              <a:t>Random Forest Regressor</a:t>
            </a:r>
          </a:p>
        </p:txBody>
      </p:sp>
      <p:sp>
        <p:nvSpPr>
          <p:cNvPr id="4" name="TextBox 3"/>
          <p:cNvSpPr txBox="1"/>
          <p:nvPr/>
        </p:nvSpPr>
        <p:spPr>
          <a:xfrm>
            <a:off x="530352" y="1261872"/>
            <a:ext cx="10698480" cy="384048"/>
          </a:xfrm>
          <a:prstGeom prst="rect">
            <a:avLst/>
          </a:prstGeom>
          <a:noFill/>
        </p:spPr>
        <p:txBody>
          <a:bodyPr wrap="square" lIns="18288" tIns="18288" rIns="18288" bIns="18288" anchor="t">
            <a:spAutoFit/>
          </a:bodyPr>
          <a:lstStyle/>
          <a:p>
            <a:pPr algn="l">
              <a:lnSpc>
                <a:spcPct val="100000"/>
              </a:lnSpc>
            </a:pPr>
            <a:r>
              <a:rPr sz="1250" b="0">
                <a:solidFill>
                  <a:srgbClr val="A4B0BF"/>
                </a:solidFill>
                <a:latin typeface="Aptos"/>
              </a:rPr>
              <a:t>A multi-tree ensemble that averages predictions from independent trees.</a:t>
            </a:r>
          </a:p>
        </p:txBody>
      </p:sp>
      <p:sp>
        <p:nvSpPr>
          <p:cNvPr id="5" name="TextBox 4"/>
          <p:cNvSpPr txBox="1"/>
          <p:nvPr/>
        </p:nvSpPr>
        <p:spPr>
          <a:xfrm>
            <a:off x="11292840" y="329184"/>
            <a:ext cx="411480" cy="274320"/>
          </a:xfrm>
          <a:prstGeom prst="rect">
            <a:avLst/>
          </a:prstGeom>
          <a:noFill/>
        </p:spPr>
        <p:txBody>
          <a:bodyPr wrap="square" lIns="18288" tIns="18288" rIns="18288" bIns="18288" anchor="t">
            <a:spAutoFit/>
          </a:bodyPr>
          <a:lstStyle/>
          <a:p>
            <a:pPr algn="r">
              <a:lnSpc>
                <a:spcPct val="100000"/>
              </a:lnSpc>
            </a:pPr>
            <a:r>
              <a:rPr sz="1000" b="1">
                <a:solidFill>
                  <a:srgbClr val="A4B0BF"/>
                </a:solidFill>
                <a:latin typeface="Aptos"/>
              </a:rPr>
              <a:t>12</a:t>
            </a:r>
          </a:p>
        </p:txBody>
      </p:sp>
      <p:sp>
        <p:nvSpPr>
          <p:cNvPr id="6" name="Rounded Rectangle 5"/>
          <p:cNvSpPr/>
          <p:nvPr/>
        </p:nvSpPr>
        <p:spPr>
          <a:xfrm>
            <a:off x="777240" y="2057400"/>
            <a:ext cx="2011680" cy="6400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057400"/>
            <a:ext cx="54864" cy="640080"/>
          </a:xfrm>
          <a:prstGeom prst="rect">
            <a:avLst/>
          </a:prstGeom>
          <a:solidFill>
            <a:srgbClr val="49D3EC"/>
          </a:solidFill>
          <a:ln w="10160">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1832" y="2130552"/>
            <a:ext cx="1755648" cy="530352"/>
          </a:xfrm>
          <a:prstGeom prst="rect">
            <a:avLst/>
          </a:prstGeom>
          <a:noFill/>
        </p:spPr>
        <p:txBody>
          <a:bodyPr wrap="square" lIns="18288" tIns="18288" rIns="18288" bIns="18288" anchor="ctr">
            <a:spAutoFit/>
          </a:bodyPr>
          <a:lstStyle/>
          <a:p>
            <a:pPr algn="l">
              <a:lnSpc>
                <a:spcPct val="100000"/>
              </a:lnSpc>
            </a:pPr>
            <a:r>
              <a:rPr sz="1400" b="1">
                <a:solidFill>
                  <a:srgbClr val="F2F6FA"/>
                </a:solidFill>
                <a:latin typeface="Aptos"/>
              </a:rPr>
              <a:t>Parking features</a:t>
            </a:r>
          </a:p>
        </p:txBody>
      </p:sp>
      <p:sp>
        <p:nvSpPr>
          <p:cNvPr id="9" name="Right Arrow 8"/>
          <p:cNvSpPr/>
          <p:nvPr/>
        </p:nvSpPr>
        <p:spPr>
          <a:xfrm>
            <a:off x="2907792" y="2258568"/>
            <a:ext cx="594360" cy="182880"/>
          </a:xfrm>
          <a:prstGeom prst="rightArrow">
            <a:avLst/>
          </a:prstGeom>
          <a:solidFill>
            <a:srgbClr val="263140"/>
          </a:solidFill>
          <a:ln>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657600" y="1783080"/>
            <a:ext cx="868680" cy="123444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0" y="2240280"/>
            <a:ext cx="868680" cy="228600"/>
          </a:xfrm>
          <a:prstGeom prst="rect">
            <a:avLst/>
          </a:prstGeom>
          <a:noFill/>
        </p:spPr>
        <p:txBody>
          <a:bodyPr wrap="square" lIns="18288" tIns="18288" rIns="18288" bIns="18288" anchor="t">
            <a:spAutoFit/>
          </a:bodyPr>
          <a:lstStyle/>
          <a:p>
            <a:pPr algn="ctr">
              <a:lnSpc>
                <a:spcPct val="100000"/>
              </a:lnSpc>
            </a:pPr>
            <a:r>
              <a:rPr sz="900" b="1">
                <a:solidFill>
                  <a:srgbClr val="2DBEAA"/>
                </a:solidFill>
                <a:latin typeface="Aptos"/>
              </a:rPr>
              <a:t>TREE</a:t>
            </a:r>
          </a:p>
        </p:txBody>
      </p:sp>
      <p:sp>
        <p:nvSpPr>
          <p:cNvPr id="12" name="Rounded Rectangle 11"/>
          <p:cNvSpPr/>
          <p:nvPr/>
        </p:nvSpPr>
        <p:spPr>
          <a:xfrm>
            <a:off x="4800600" y="1783080"/>
            <a:ext cx="868680" cy="123444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00600" y="2240280"/>
            <a:ext cx="868680" cy="228600"/>
          </a:xfrm>
          <a:prstGeom prst="rect">
            <a:avLst/>
          </a:prstGeom>
          <a:noFill/>
        </p:spPr>
        <p:txBody>
          <a:bodyPr wrap="square" lIns="18288" tIns="18288" rIns="18288" bIns="18288" anchor="t">
            <a:spAutoFit/>
          </a:bodyPr>
          <a:lstStyle/>
          <a:p>
            <a:pPr algn="ctr">
              <a:lnSpc>
                <a:spcPct val="100000"/>
              </a:lnSpc>
            </a:pPr>
            <a:r>
              <a:rPr sz="900" b="1">
                <a:solidFill>
                  <a:srgbClr val="2DBEAA"/>
                </a:solidFill>
                <a:latin typeface="Aptos"/>
              </a:rPr>
              <a:t>TREE</a:t>
            </a:r>
          </a:p>
        </p:txBody>
      </p:sp>
      <p:sp>
        <p:nvSpPr>
          <p:cNvPr id="14" name="Rounded Rectangle 13"/>
          <p:cNvSpPr/>
          <p:nvPr/>
        </p:nvSpPr>
        <p:spPr>
          <a:xfrm>
            <a:off x="5943600" y="1783080"/>
            <a:ext cx="868680" cy="123444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0" y="2240280"/>
            <a:ext cx="868680" cy="228600"/>
          </a:xfrm>
          <a:prstGeom prst="rect">
            <a:avLst/>
          </a:prstGeom>
          <a:noFill/>
        </p:spPr>
        <p:txBody>
          <a:bodyPr wrap="square" lIns="18288" tIns="18288" rIns="18288" bIns="18288" anchor="t">
            <a:spAutoFit/>
          </a:bodyPr>
          <a:lstStyle/>
          <a:p>
            <a:pPr algn="ctr">
              <a:lnSpc>
                <a:spcPct val="100000"/>
              </a:lnSpc>
            </a:pPr>
            <a:r>
              <a:rPr sz="900" b="1">
                <a:solidFill>
                  <a:srgbClr val="2DBEAA"/>
                </a:solidFill>
                <a:latin typeface="Aptos"/>
              </a:rPr>
              <a:t>TREE</a:t>
            </a:r>
          </a:p>
        </p:txBody>
      </p:sp>
      <p:sp>
        <p:nvSpPr>
          <p:cNvPr id="16" name="Right Arrow 15"/>
          <p:cNvSpPr/>
          <p:nvPr/>
        </p:nvSpPr>
        <p:spPr>
          <a:xfrm>
            <a:off x="7223760" y="2258568"/>
            <a:ext cx="594360" cy="182880"/>
          </a:xfrm>
          <a:prstGeom prst="rightArrow">
            <a:avLst/>
          </a:prstGeom>
          <a:solidFill>
            <a:srgbClr val="263140"/>
          </a:solidFill>
          <a:ln>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001000" y="2057400"/>
            <a:ext cx="2423160" cy="6400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01000" y="2057400"/>
            <a:ext cx="54864" cy="640080"/>
          </a:xfrm>
          <a:prstGeom prst="rect">
            <a:avLst/>
          </a:prstGeom>
          <a:solidFill>
            <a:srgbClr val="2DBEAA"/>
          </a:solidFill>
          <a:ln w="10160">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65592" y="2130552"/>
            <a:ext cx="2167128" cy="530352"/>
          </a:xfrm>
          <a:prstGeom prst="rect">
            <a:avLst/>
          </a:prstGeom>
          <a:noFill/>
        </p:spPr>
        <p:txBody>
          <a:bodyPr wrap="square" lIns="18288" tIns="18288" rIns="18288" bIns="18288" anchor="ctr">
            <a:spAutoFit/>
          </a:bodyPr>
          <a:lstStyle/>
          <a:p>
            <a:pPr algn="l">
              <a:lnSpc>
                <a:spcPct val="100000"/>
              </a:lnSpc>
            </a:pPr>
            <a:r>
              <a:rPr sz="1400" b="1">
                <a:solidFill>
                  <a:srgbClr val="F2F6FA"/>
                </a:solidFill>
                <a:latin typeface="Aptos"/>
              </a:rPr>
              <a:t>Average prediction</a:t>
            </a:r>
          </a:p>
        </p:txBody>
      </p:sp>
      <p:sp>
        <p:nvSpPr>
          <p:cNvPr id="20" name="Rounded Rectangle 19"/>
          <p:cNvSpPr/>
          <p:nvPr/>
        </p:nvSpPr>
        <p:spPr>
          <a:xfrm>
            <a:off x="914400" y="3886200"/>
            <a:ext cx="2834640" cy="123444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14400" y="3886200"/>
            <a:ext cx="50292" cy="1234440"/>
          </a:xfrm>
          <a:prstGeom prst="rect">
            <a:avLst/>
          </a:prstGeom>
          <a:solidFill>
            <a:srgbClr val="49D3EC"/>
          </a:solidFill>
          <a:ln w="10160">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15568" y="4050791"/>
            <a:ext cx="2514600" cy="228600"/>
          </a:xfrm>
          <a:prstGeom prst="rect">
            <a:avLst/>
          </a:prstGeom>
          <a:noFill/>
        </p:spPr>
        <p:txBody>
          <a:bodyPr wrap="square" lIns="18288" tIns="18288" rIns="18288" bIns="18288" anchor="t">
            <a:spAutoFit/>
          </a:bodyPr>
          <a:lstStyle/>
          <a:p>
            <a:pPr algn="l">
              <a:lnSpc>
                <a:spcPct val="100000"/>
              </a:lnSpc>
            </a:pPr>
            <a:r>
              <a:rPr sz="850" b="1">
                <a:solidFill>
                  <a:srgbClr val="A4B0BF"/>
                </a:solidFill>
                <a:latin typeface="Aptos"/>
              </a:rPr>
              <a:t>MAE</a:t>
            </a:r>
          </a:p>
        </p:txBody>
      </p:sp>
      <p:sp>
        <p:nvSpPr>
          <p:cNvPr id="23" name="TextBox 22"/>
          <p:cNvSpPr txBox="1"/>
          <p:nvPr/>
        </p:nvSpPr>
        <p:spPr>
          <a:xfrm>
            <a:off x="1115568" y="4325112"/>
            <a:ext cx="2514600" cy="50292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25.939283</a:t>
            </a:r>
          </a:p>
        </p:txBody>
      </p:sp>
      <p:sp>
        <p:nvSpPr>
          <p:cNvPr id="24" name="Rounded Rectangle 23"/>
          <p:cNvSpPr/>
          <p:nvPr/>
        </p:nvSpPr>
        <p:spPr>
          <a:xfrm>
            <a:off x="3977639" y="3886200"/>
            <a:ext cx="2834640" cy="123444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977639" y="3886200"/>
            <a:ext cx="50292" cy="1234440"/>
          </a:xfrm>
          <a:prstGeom prst="rect">
            <a:avLst/>
          </a:prstGeom>
          <a:solidFill>
            <a:srgbClr val="2DBEAA"/>
          </a:solidFill>
          <a:ln w="10160">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178807" y="4050791"/>
            <a:ext cx="2514600" cy="228600"/>
          </a:xfrm>
          <a:prstGeom prst="rect">
            <a:avLst/>
          </a:prstGeom>
          <a:noFill/>
        </p:spPr>
        <p:txBody>
          <a:bodyPr wrap="square" lIns="18288" tIns="18288" rIns="18288" bIns="18288" anchor="t">
            <a:spAutoFit/>
          </a:bodyPr>
          <a:lstStyle/>
          <a:p>
            <a:pPr algn="l">
              <a:lnSpc>
                <a:spcPct val="100000"/>
              </a:lnSpc>
            </a:pPr>
            <a:r>
              <a:rPr sz="850" b="1">
                <a:solidFill>
                  <a:srgbClr val="A4B0BF"/>
                </a:solidFill>
                <a:latin typeface="Aptos"/>
              </a:rPr>
              <a:t>RMSE</a:t>
            </a:r>
          </a:p>
        </p:txBody>
      </p:sp>
      <p:sp>
        <p:nvSpPr>
          <p:cNvPr id="27" name="TextBox 26"/>
          <p:cNvSpPr txBox="1"/>
          <p:nvPr/>
        </p:nvSpPr>
        <p:spPr>
          <a:xfrm>
            <a:off x="4178807" y="4325112"/>
            <a:ext cx="2514600" cy="50292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85.443267</a:t>
            </a:r>
          </a:p>
        </p:txBody>
      </p:sp>
      <p:sp>
        <p:nvSpPr>
          <p:cNvPr id="28" name="Rounded Rectangle 27"/>
          <p:cNvSpPr/>
          <p:nvPr/>
        </p:nvSpPr>
        <p:spPr>
          <a:xfrm>
            <a:off x="7040880" y="3886200"/>
            <a:ext cx="2834640" cy="123444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040880" y="3886200"/>
            <a:ext cx="50292" cy="1234440"/>
          </a:xfrm>
          <a:prstGeom prst="rect">
            <a:avLst/>
          </a:prstGeom>
          <a:solidFill>
            <a:srgbClr val="8E77FF"/>
          </a:solidFill>
          <a:ln w="10160">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242048" y="4050791"/>
            <a:ext cx="2514600" cy="228600"/>
          </a:xfrm>
          <a:prstGeom prst="rect">
            <a:avLst/>
          </a:prstGeom>
          <a:noFill/>
        </p:spPr>
        <p:txBody>
          <a:bodyPr wrap="square" lIns="18288" tIns="18288" rIns="18288" bIns="18288" anchor="t">
            <a:spAutoFit/>
          </a:bodyPr>
          <a:lstStyle/>
          <a:p>
            <a:pPr algn="l">
              <a:lnSpc>
                <a:spcPct val="100000"/>
              </a:lnSpc>
            </a:pPr>
            <a:r>
              <a:rPr sz="850" b="1">
                <a:solidFill>
                  <a:srgbClr val="A4B0BF"/>
                </a:solidFill>
                <a:latin typeface="Aptos"/>
              </a:rPr>
              <a:t>R²</a:t>
            </a:r>
          </a:p>
        </p:txBody>
      </p:sp>
      <p:sp>
        <p:nvSpPr>
          <p:cNvPr id="31" name="TextBox 30"/>
          <p:cNvSpPr txBox="1"/>
          <p:nvPr/>
        </p:nvSpPr>
        <p:spPr>
          <a:xfrm>
            <a:off x="7242048" y="4325112"/>
            <a:ext cx="2514600" cy="50292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0.987131</a:t>
            </a:r>
          </a:p>
        </p:txBody>
      </p:sp>
      <p:sp>
        <p:nvSpPr>
          <p:cNvPr id="32" name="TextBox 31"/>
          <p:cNvSpPr txBox="1"/>
          <p:nvPr/>
        </p:nvSpPr>
        <p:spPr>
          <a:xfrm>
            <a:off x="914400" y="5440680"/>
            <a:ext cx="9784080" cy="320040"/>
          </a:xfrm>
          <a:prstGeom prst="rect">
            <a:avLst/>
          </a:prstGeom>
          <a:noFill/>
        </p:spPr>
        <p:txBody>
          <a:bodyPr wrap="square" lIns="18288" tIns="18288" rIns="18288" bIns="18288" anchor="t">
            <a:spAutoFit/>
          </a:bodyPr>
          <a:lstStyle/>
          <a:p>
            <a:pPr algn="l">
              <a:lnSpc>
                <a:spcPct val="100000"/>
              </a:lnSpc>
            </a:pPr>
            <a:r>
              <a:rPr sz="1250" b="1">
                <a:solidFill>
                  <a:srgbClr val="F2F6FA"/>
                </a:solidFill>
                <a:latin typeface="Aptos"/>
              </a:rPr>
              <a:t>Role in the study: a strong ensemble benchmark against which the selected model is evaluated.</a:t>
            </a:r>
          </a:p>
        </p:txBody>
      </p:sp>
      <p:cxnSp>
        <p:nvCxnSpPr>
          <p:cNvPr id="33" name="Connector 32"/>
          <p:cNvCxnSpPr/>
          <p:nvPr/>
        </p:nvCxnSpPr>
        <p:spPr>
          <a:xfrm>
            <a:off x="502920" y="6473952"/>
            <a:ext cx="11183112" cy="0"/>
          </a:xfrm>
          <a:prstGeom prst="line">
            <a:avLst/>
          </a:prstGeom>
          <a:ln w="8890">
            <a:solidFill>
              <a:srgbClr val="26314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30352" y="6537960"/>
            <a:ext cx="2926080" cy="164592"/>
          </a:xfrm>
          <a:prstGeom prst="rect">
            <a:avLst/>
          </a:prstGeom>
          <a:noFill/>
        </p:spPr>
        <p:txBody>
          <a:bodyPr wrap="square" lIns="18288" tIns="18288" rIns="18288" bIns="18288" anchor="t">
            <a:spAutoFit/>
          </a:bodyPr>
          <a:lstStyle/>
          <a:p>
            <a:pPr algn="l">
              <a:lnSpc>
                <a:spcPct val="100000"/>
              </a:lnSpc>
            </a:pPr>
            <a:r>
              <a:rPr sz="750" b="1">
                <a:solidFill>
                  <a:srgbClr val="A4B0BF"/>
                </a:solidFill>
                <a:latin typeface="Aptos"/>
              </a:rPr>
              <a:t>PARKING AVAILABILITY AI</a:t>
            </a:r>
          </a:p>
        </p:txBody>
      </p:sp>
      <p:sp>
        <p:nvSpPr>
          <p:cNvPr id="35" name="TextBox 34"/>
          <p:cNvSpPr txBox="1"/>
          <p:nvPr/>
        </p:nvSpPr>
        <p:spPr>
          <a:xfrm>
            <a:off x="8503920" y="6537960"/>
            <a:ext cx="3108960" cy="164592"/>
          </a:xfrm>
          <a:prstGeom prst="rect">
            <a:avLst/>
          </a:prstGeom>
          <a:noFill/>
        </p:spPr>
        <p:txBody>
          <a:bodyPr wrap="square" lIns="18288" tIns="18288" rIns="18288" bIns="18288" anchor="t">
            <a:spAutoFit/>
          </a:bodyPr>
          <a:lstStyle/>
          <a:p>
            <a:pPr algn="r">
              <a:lnSpc>
                <a:spcPct val="100000"/>
              </a:lnSpc>
            </a:pPr>
            <a:r>
              <a:rPr sz="750" b="0">
                <a:solidFill>
                  <a:srgbClr val="A4B0BF"/>
                </a:solidFill>
                <a:latin typeface="Aptos"/>
              </a:rPr>
              <a:t>Machine Learning • Final Review</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90D1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2743200" cy="256032"/>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12 • COMPARISON</a:t>
            </a:r>
          </a:p>
        </p:txBody>
      </p:sp>
      <p:sp>
        <p:nvSpPr>
          <p:cNvPr id="3" name="TextBox 2"/>
          <p:cNvSpPr txBox="1"/>
          <p:nvPr/>
        </p:nvSpPr>
        <p:spPr>
          <a:xfrm>
            <a:off x="502920" y="612648"/>
            <a:ext cx="10789920" cy="658368"/>
          </a:xfrm>
          <a:prstGeom prst="rect">
            <a:avLst/>
          </a:prstGeom>
          <a:noFill/>
        </p:spPr>
        <p:txBody>
          <a:bodyPr wrap="square" lIns="18288" tIns="18288" rIns="18288" bIns="18288" anchor="t">
            <a:spAutoFit/>
          </a:bodyPr>
          <a:lstStyle/>
          <a:p>
            <a:pPr algn="l">
              <a:lnSpc>
                <a:spcPct val="100000"/>
              </a:lnSpc>
            </a:pPr>
            <a:r>
              <a:rPr sz="2800" b="1">
                <a:solidFill>
                  <a:srgbClr val="F2F6FA"/>
                </a:solidFill>
                <a:latin typeface="Aptos Display"/>
              </a:rPr>
              <a:t>Gradient Boosting Regressor</a:t>
            </a:r>
          </a:p>
        </p:txBody>
      </p:sp>
      <p:sp>
        <p:nvSpPr>
          <p:cNvPr id="4" name="TextBox 3"/>
          <p:cNvSpPr txBox="1"/>
          <p:nvPr/>
        </p:nvSpPr>
        <p:spPr>
          <a:xfrm>
            <a:off x="530352" y="1261872"/>
            <a:ext cx="10698480" cy="384048"/>
          </a:xfrm>
          <a:prstGeom prst="rect">
            <a:avLst/>
          </a:prstGeom>
          <a:noFill/>
        </p:spPr>
        <p:txBody>
          <a:bodyPr wrap="square" lIns="18288" tIns="18288" rIns="18288" bIns="18288" anchor="t">
            <a:spAutoFit/>
          </a:bodyPr>
          <a:lstStyle/>
          <a:p>
            <a:pPr algn="l">
              <a:lnSpc>
                <a:spcPct val="100000"/>
              </a:lnSpc>
            </a:pPr>
            <a:r>
              <a:rPr sz="1250" b="0">
                <a:solidFill>
                  <a:srgbClr val="A4B0BF"/>
                </a:solidFill>
                <a:latin typeface="Aptos"/>
              </a:rPr>
              <a:t>Sequential trees focus on reducing prediction error step by step.</a:t>
            </a:r>
          </a:p>
        </p:txBody>
      </p:sp>
      <p:sp>
        <p:nvSpPr>
          <p:cNvPr id="5" name="TextBox 4"/>
          <p:cNvSpPr txBox="1"/>
          <p:nvPr/>
        </p:nvSpPr>
        <p:spPr>
          <a:xfrm>
            <a:off x="11292840" y="329184"/>
            <a:ext cx="411480" cy="274320"/>
          </a:xfrm>
          <a:prstGeom prst="rect">
            <a:avLst/>
          </a:prstGeom>
          <a:noFill/>
        </p:spPr>
        <p:txBody>
          <a:bodyPr wrap="square" lIns="18288" tIns="18288" rIns="18288" bIns="18288" anchor="t">
            <a:spAutoFit/>
          </a:bodyPr>
          <a:lstStyle/>
          <a:p>
            <a:pPr algn="r">
              <a:lnSpc>
                <a:spcPct val="100000"/>
              </a:lnSpc>
            </a:pPr>
            <a:r>
              <a:rPr sz="1000" b="1">
                <a:solidFill>
                  <a:srgbClr val="A4B0BF"/>
                </a:solidFill>
                <a:latin typeface="Aptos"/>
              </a:rPr>
              <a:t>13</a:t>
            </a:r>
          </a:p>
        </p:txBody>
      </p:sp>
      <p:sp>
        <p:nvSpPr>
          <p:cNvPr id="6" name="Rounded Rectangle 5"/>
          <p:cNvSpPr/>
          <p:nvPr/>
        </p:nvSpPr>
        <p:spPr>
          <a:xfrm>
            <a:off x="914400" y="1965960"/>
            <a:ext cx="1600200" cy="8686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258568"/>
            <a:ext cx="1600200" cy="228600"/>
          </a:xfrm>
          <a:prstGeom prst="rect">
            <a:avLst/>
          </a:prstGeom>
          <a:noFill/>
        </p:spPr>
        <p:txBody>
          <a:bodyPr wrap="square" lIns="18288" tIns="18288" rIns="18288" bIns="18288" anchor="t">
            <a:spAutoFit/>
          </a:bodyPr>
          <a:lstStyle/>
          <a:p>
            <a:pPr algn="ctr">
              <a:lnSpc>
                <a:spcPct val="100000"/>
              </a:lnSpc>
            </a:pPr>
            <a:r>
              <a:rPr sz="1100" b="1">
                <a:solidFill>
                  <a:srgbClr val="F2F6FA"/>
                </a:solidFill>
                <a:latin typeface="Aptos"/>
              </a:rPr>
              <a:t>Tree 1</a:t>
            </a:r>
          </a:p>
        </p:txBody>
      </p:sp>
      <p:sp>
        <p:nvSpPr>
          <p:cNvPr id="8" name="Right Arrow 7"/>
          <p:cNvSpPr/>
          <p:nvPr/>
        </p:nvSpPr>
        <p:spPr>
          <a:xfrm>
            <a:off x="2578608" y="2276856"/>
            <a:ext cx="594360" cy="182880"/>
          </a:xfrm>
          <a:prstGeom prst="rightArrow">
            <a:avLst/>
          </a:prstGeom>
          <a:solidFill>
            <a:srgbClr val="8E77FF"/>
          </a:solidFill>
          <a:ln>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291840" y="1965960"/>
            <a:ext cx="1600200" cy="8686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91840" y="2258568"/>
            <a:ext cx="1600200" cy="228600"/>
          </a:xfrm>
          <a:prstGeom prst="rect">
            <a:avLst/>
          </a:prstGeom>
          <a:noFill/>
        </p:spPr>
        <p:txBody>
          <a:bodyPr wrap="square" lIns="18288" tIns="18288" rIns="18288" bIns="18288" anchor="t">
            <a:spAutoFit/>
          </a:bodyPr>
          <a:lstStyle/>
          <a:p>
            <a:pPr algn="ctr">
              <a:lnSpc>
                <a:spcPct val="100000"/>
              </a:lnSpc>
            </a:pPr>
            <a:r>
              <a:rPr sz="1100" b="1">
                <a:solidFill>
                  <a:srgbClr val="F2F6FA"/>
                </a:solidFill>
                <a:latin typeface="Aptos"/>
              </a:rPr>
              <a:t>Tree 2</a:t>
            </a:r>
          </a:p>
        </p:txBody>
      </p:sp>
      <p:sp>
        <p:nvSpPr>
          <p:cNvPr id="11" name="Right Arrow 10"/>
          <p:cNvSpPr/>
          <p:nvPr/>
        </p:nvSpPr>
        <p:spPr>
          <a:xfrm>
            <a:off x="4956048" y="2276856"/>
            <a:ext cx="594360" cy="182880"/>
          </a:xfrm>
          <a:prstGeom prst="rightArrow">
            <a:avLst/>
          </a:prstGeom>
          <a:solidFill>
            <a:srgbClr val="8E77FF"/>
          </a:solidFill>
          <a:ln>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669280" y="1965960"/>
            <a:ext cx="1600200" cy="8686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0" y="2258568"/>
            <a:ext cx="1600200" cy="228600"/>
          </a:xfrm>
          <a:prstGeom prst="rect">
            <a:avLst/>
          </a:prstGeom>
          <a:noFill/>
        </p:spPr>
        <p:txBody>
          <a:bodyPr wrap="square" lIns="18288" tIns="18288" rIns="18288" bIns="18288" anchor="t">
            <a:spAutoFit/>
          </a:bodyPr>
          <a:lstStyle/>
          <a:p>
            <a:pPr algn="ctr">
              <a:lnSpc>
                <a:spcPct val="100000"/>
              </a:lnSpc>
            </a:pPr>
            <a:r>
              <a:rPr sz="1100" b="1">
                <a:solidFill>
                  <a:srgbClr val="F2F6FA"/>
                </a:solidFill>
                <a:latin typeface="Aptos"/>
              </a:rPr>
              <a:t>Tree 3</a:t>
            </a:r>
          </a:p>
        </p:txBody>
      </p:sp>
      <p:sp>
        <p:nvSpPr>
          <p:cNvPr id="14" name="Right Arrow 13"/>
          <p:cNvSpPr/>
          <p:nvPr/>
        </p:nvSpPr>
        <p:spPr>
          <a:xfrm>
            <a:off x="7333488" y="2276856"/>
            <a:ext cx="594360" cy="182880"/>
          </a:xfrm>
          <a:prstGeom prst="rightArrow">
            <a:avLst/>
          </a:prstGeom>
          <a:solidFill>
            <a:srgbClr val="8E77FF"/>
          </a:solidFill>
          <a:ln>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046720" y="1965960"/>
            <a:ext cx="1600200" cy="8686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46720" y="2258568"/>
            <a:ext cx="1600200" cy="228600"/>
          </a:xfrm>
          <a:prstGeom prst="rect">
            <a:avLst/>
          </a:prstGeom>
          <a:noFill/>
        </p:spPr>
        <p:txBody>
          <a:bodyPr wrap="square" lIns="18288" tIns="18288" rIns="18288" bIns="18288" anchor="t">
            <a:spAutoFit/>
          </a:bodyPr>
          <a:lstStyle/>
          <a:p>
            <a:pPr algn="ctr">
              <a:lnSpc>
                <a:spcPct val="100000"/>
              </a:lnSpc>
            </a:pPr>
            <a:r>
              <a:rPr sz="1100" b="1">
                <a:solidFill>
                  <a:srgbClr val="F2F6FA"/>
                </a:solidFill>
                <a:latin typeface="Aptos"/>
              </a:rPr>
              <a:t>Tree 4</a:t>
            </a:r>
          </a:p>
        </p:txBody>
      </p:sp>
      <p:sp>
        <p:nvSpPr>
          <p:cNvPr id="17" name="TextBox 16"/>
          <p:cNvSpPr txBox="1"/>
          <p:nvPr/>
        </p:nvSpPr>
        <p:spPr>
          <a:xfrm>
            <a:off x="914400" y="3154680"/>
            <a:ext cx="2011680" cy="274320"/>
          </a:xfrm>
          <a:prstGeom prst="rect">
            <a:avLst/>
          </a:prstGeom>
          <a:noFill/>
        </p:spPr>
        <p:txBody>
          <a:bodyPr wrap="square" lIns="18288" tIns="18288" rIns="18288" bIns="18288" anchor="t">
            <a:spAutoFit/>
          </a:bodyPr>
          <a:lstStyle/>
          <a:p>
            <a:pPr algn="l">
              <a:lnSpc>
                <a:spcPct val="100000"/>
              </a:lnSpc>
            </a:pPr>
            <a:r>
              <a:rPr sz="1100" b="1">
                <a:solidFill>
                  <a:srgbClr val="A4B0BF"/>
                </a:solidFill>
                <a:latin typeface="Aptos"/>
              </a:rPr>
              <a:t>Initial prediction</a:t>
            </a:r>
          </a:p>
        </p:txBody>
      </p:sp>
      <p:sp>
        <p:nvSpPr>
          <p:cNvPr id="18" name="TextBox 17"/>
          <p:cNvSpPr txBox="1"/>
          <p:nvPr/>
        </p:nvSpPr>
        <p:spPr>
          <a:xfrm>
            <a:off x="3108960" y="3154680"/>
            <a:ext cx="1097280" cy="274320"/>
          </a:xfrm>
          <a:prstGeom prst="rect">
            <a:avLst/>
          </a:prstGeom>
          <a:noFill/>
        </p:spPr>
        <p:txBody>
          <a:bodyPr wrap="square" lIns="18288" tIns="18288" rIns="18288" bIns="18288" anchor="t">
            <a:spAutoFit/>
          </a:bodyPr>
          <a:lstStyle/>
          <a:p>
            <a:pPr algn="l">
              <a:lnSpc>
                <a:spcPct val="100000"/>
              </a:lnSpc>
            </a:pPr>
            <a:r>
              <a:rPr sz="1100" b="1">
                <a:solidFill>
                  <a:srgbClr val="E64E5C"/>
                </a:solidFill>
                <a:latin typeface="Aptos"/>
              </a:rPr>
              <a:t>→ errors</a:t>
            </a:r>
          </a:p>
        </p:txBody>
      </p:sp>
      <p:sp>
        <p:nvSpPr>
          <p:cNvPr id="19" name="TextBox 18"/>
          <p:cNvSpPr txBox="1"/>
          <p:nvPr/>
        </p:nvSpPr>
        <p:spPr>
          <a:xfrm>
            <a:off x="4251960" y="3154680"/>
            <a:ext cx="2103120" cy="274320"/>
          </a:xfrm>
          <a:prstGeom prst="rect">
            <a:avLst/>
          </a:prstGeom>
          <a:noFill/>
        </p:spPr>
        <p:txBody>
          <a:bodyPr wrap="square" lIns="18288" tIns="18288" rIns="18288" bIns="18288" anchor="t">
            <a:spAutoFit/>
          </a:bodyPr>
          <a:lstStyle/>
          <a:p>
            <a:pPr algn="l">
              <a:lnSpc>
                <a:spcPct val="100000"/>
              </a:lnSpc>
            </a:pPr>
            <a:r>
              <a:rPr sz="1100" b="1">
                <a:solidFill>
                  <a:srgbClr val="8E77FF"/>
                </a:solidFill>
                <a:latin typeface="Aptos"/>
              </a:rPr>
              <a:t>→ next tree corrects</a:t>
            </a:r>
          </a:p>
        </p:txBody>
      </p:sp>
      <p:sp>
        <p:nvSpPr>
          <p:cNvPr id="20" name="TextBox 19"/>
          <p:cNvSpPr txBox="1"/>
          <p:nvPr/>
        </p:nvSpPr>
        <p:spPr>
          <a:xfrm>
            <a:off x="6446520" y="3154680"/>
            <a:ext cx="2011680" cy="274320"/>
          </a:xfrm>
          <a:prstGeom prst="rect">
            <a:avLst/>
          </a:prstGeom>
          <a:noFill/>
        </p:spPr>
        <p:txBody>
          <a:bodyPr wrap="square" lIns="18288" tIns="18288" rIns="18288" bIns="18288" anchor="t">
            <a:spAutoFit/>
          </a:bodyPr>
          <a:lstStyle/>
          <a:p>
            <a:pPr algn="l">
              <a:lnSpc>
                <a:spcPct val="100000"/>
              </a:lnSpc>
            </a:pPr>
            <a:r>
              <a:rPr sz="1100" b="1">
                <a:solidFill>
                  <a:srgbClr val="2DBEAA"/>
                </a:solidFill>
                <a:latin typeface="Aptos"/>
              </a:rPr>
              <a:t>→ refined prediction</a:t>
            </a:r>
          </a:p>
        </p:txBody>
      </p:sp>
      <p:sp>
        <p:nvSpPr>
          <p:cNvPr id="21" name="Rounded Rectangle 20"/>
          <p:cNvSpPr/>
          <p:nvPr/>
        </p:nvSpPr>
        <p:spPr>
          <a:xfrm>
            <a:off x="914400" y="4069080"/>
            <a:ext cx="2834640" cy="123444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14400" y="4069080"/>
            <a:ext cx="50292" cy="1234440"/>
          </a:xfrm>
          <a:prstGeom prst="rect">
            <a:avLst/>
          </a:prstGeom>
          <a:solidFill>
            <a:srgbClr val="E64E5C"/>
          </a:solidFill>
          <a:ln w="10160">
            <a:solidFill>
              <a:srgbClr val="E64E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15568" y="4233672"/>
            <a:ext cx="2514600" cy="228600"/>
          </a:xfrm>
          <a:prstGeom prst="rect">
            <a:avLst/>
          </a:prstGeom>
          <a:noFill/>
        </p:spPr>
        <p:txBody>
          <a:bodyPr wrap="square" lIns="18288" tIns="18288" rIns="18288" bIns="18288" anchor="t">
            <a:spAutoFit/>
          </a:bodyPr>
          <a:lstStyle/>
          <a:p>
            <a:pPr algn="l">
              <a:lnSpc>
                <a:spcPct val="100000"/>
              </a:lnSpc>
            </a:pPr>
            <a:r>
              <a:rPr sz="850" b="1">
                <a:solidFill>
                  <a:srgbClr val="A4B0BF"/>
                </a:solidFill>
                <a:latin typeface="Aptos"/>
              </a:rPr>
              <a:t>MAE</a:t>
            </a:r>
          </a:p>
        </p:txBody>
      </p:sp>
      <p:sp>
        <p:nvSpPr>
          <p:cNvPr id="24" name="TextBox 23"/>
          <p:cNvSpPr txBox="1"/>
          <p:nvPr/>
        </p:nvSpPr>
        <p:spPr>
          <a:xfrm>
            <a:off x="1115568" y="4507992"/>
            <a:ext cx="2514600" cy="50292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45.439595</a:t>
            </a:r>
          </a:p>
        </p:txBody>
      </p:sp>
      <p:sp>
        <p:nvSpPr>
          <p:cNvPr id="25" name="Rounded Rectangle 24"/>
          <p:cNvSpPr/>
          <p:nvPr/>
        </p:nvSpPr>
        <p:spPr>
          <a:xfrm>
            <a:off x="3977639" y="4069080"/>
            <a:ext cx="2834640" cy="123444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977639" y="4069080"/>
            <a:ext cx="50292" cy="1234440"/>
          </a:xfrm>
          <a:prstGeom prst="rect">
            <a:avLst/>
          </a:prstGeom>
          <a:solidFill>
            <a:srgbClr val="E64E5C"/>
          </a:solidFill>
          <a:ln w="10160">
            <a:solidFill>
              <a:srgbClr val="E64E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78807" y="4233672"/>
            <a:ext cx="2514600" cy="228600"/>
          </a:xfrm>
          <a:prstGeom prst="rect">
            <a:avLst/>
          </a:prstGeom>
          <a:noFill/>
        </p:spPr>
        <p:txBody>
          <a:bodyPr wrap="square" lIns="18288" tIns="18288" rIns="18288" bIns="18288" anchor="t">
            <a:spAutoFit/>
          </a:bodyPr>
          <a:lstStyle/>
          <a:p>
            <a:pPr algn="l">
              <a:lnSpc>
                <a:spcPct val="100000"/>
              </a:lnSpc>
            </a:pPr>
            <a:r>
              <a:rPr sz="850" b="1">
                <a:solidFill>
                  <a:srgbClr val="A4B0BF"/>
                </a:solidFill>
                <a:latin typeface="Aptos"/>
              </a:rPr>
              <a:t>RMSE</a:t>
            </a:r>
          </a:p>
        </p:txBody>
      </p:sp>
      <p:sp>
        <p:nvSpPr>
          <p:cNvPr id="28" name="TextBox 27"/>
          <p:cNvSpPr txBox="1"/>
          <p:nvPr/>
        </p:nvSpPr>
        <p:spPr>
          <a:xfrm>
            <a:off x="4178807" y="4507992"/>
            <a:ext cx="2514600" cy="50292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88.046843</a:t>
            </a:r>
          </a:p>
        </p:txBody>
      </p:sp>
      <p:sp>
        <p:nvSpPr>
          <p:cNvPr id="29" name="Rounded Rectangle 28"/>
          <p:cNvSpPr/>
          <p:nvPr/>
        </p:nvSpPr>
        <p:spPr>
          <a:xfrm>
            <a:off x="7040880" y="4069080"/>
            <a:ext cx="2834640" cy="123444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040880" y="4069080"/>
            <a:ext cx="50292" cy="1234440"/>
          </a:xfrm>
          <a:prstGeom prst="rect">
            <a:avLst/>
          </a:prstGeom>
          <a:solidFill>
            <a:srgbClr val="8E77FF"/>
          </a:solidFill>
          <a:ln w="10160">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242048" y="4233672"/>
            <a:ext cx="2514600" cy="228600"/>
          </a:xfrm>
          <a:prstGeom prst="rect">
            <a:avLst/>
          </a:prstGeom>
          <a:noFill/>
        </p:spPr>
        <p:txBody>
          <a:bodyPr wrap="square" lIns="18288" tIns="18288" rIns="18288" bIns="18288" anchor="t">
            <a:spAutoFit/>
          </a:bodyPr>
          <a:lstStyle/>
          <a:p>
            <a:pPr algn="l">
              <a:lnSpc>
                <a:spcPct val="100000"/>
              </a:lnSpc>
            </a:pPr>
            <a:r>
              <a:rPr sz="850" b="1">
                <a:solidFill>
                  <a:srgbClr val="A4B0BF"/>
                </a:solidFill>
                <a:latin typeface="Aptos"/>
              </a:rPr>
              <a:t>R²</a:t>
            </a:r>
          </a:p>
        </p:txBody>
      </p:sp>
      <p:sp>
        <p:nvSpPr>
          <p:cNvPr id="32" name="TextBox 31"/>
          <p:cNvSpPr txBox="1"/>
          <p:nvPr/>
        </p:nvSpPr>
        <p:spPr>
          <a:xfrm>
            <a:off x="7242048" y="4507992"/>
            <a:ext cx="2514600" cy="50292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0.986334</a:t>
            </a:r>
          </a:p>
        </p:txBody>
      </p:sp>
      <p:cxnSp>
        <p:nvCxnSpPr>
          <p:cNvPr id="33" name="Connector 32"/>
          <p:cNvCxnSpPr/>
          <p:nvPr/>
        </p:nvCxnSpPr>
        <p:spPr>
          <a:xfrm>
            <a:off x="502920" y="6473952"/>
            <a:ext cx="11183112" cy="0"/>
          </a:xfrm>
          <a:prstGeom prst="line">
            <a:avLst/>
          </a:prstGeom>
          <a:ln w="8890">
            <a:solidFill>
              <a:srgbClr val="26314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30352" y="6537960"/>
            <a:ext cx="2926080" cy="164592"/>
          </a:xfrm>
          <a:prstGeom prst="rect">
            <a:avLst/>
          </a:prstGeom>
          <a:noFill/>
        </p:spPr>
        <p:txBody>
          <a:bodyPr wrap="square" lIns="18288" tIns="18288" rIns="18288" bIns="18288" anchor="t">
            <a:spAutoFit/>
          </a:bodyPr>
          <a:lstStyle/>
          <a:p>
            <a:pPr algn="l">
              <a:lnSpc>
                <a:spcPct val="100000"/>
              </a:lnSpc>
            </a:pPr>
            <a:r>
              <a:rPr sz="750" b="1">
                <a:solidFill>
                  <a:srgbClr val="A4B0BF"/>
                </a:solidFill>
                <a:latin typeface="Aptos"/>
              </a:rPr>
              <a:t>PARKING AVAILABILITY AI</a:t>
            </a:r>
          </a:p>
        </p:txBody>
      </p:sp>
      <p:sp>
        <p:nvSpPr>
          <p:cNvPr id="35" name="TextBox 34"/>
          <p:cNvSpPr txBox="1"/>
          <p:nvPr/>
        </p:nvSpPr>
        <p:spPr>
          <a:xfrm>
            <a:off x="8503920" y="6537960"/>
            <a:ext cx="3108960" cy="164592"/>
          </a:xfrm>
          <a:prstGeom prst="rect">
            <a:avLst/>
          </a:prstGeom>
          <a:noFill/>
        </p:spPr>
        <p:txBody>
          <a:bodyPr wrap="square" lIns="18288" tIns="18288" rIns="18288" bIns="18288" anchor="t">
            <a:spAutoFit/>
          </a:bodyPr>
          <a:lstStyle/>
          <a:p>
            <a:pPr algn="r">
              <a:lnSpc>
                <a:spcPct val="100000"/>
              </a:lnSpc>
            </a:pPr>
            <a:r>
              <a:rPr sz="750" b="0">
                <a:solidFill>
                  <a:srgbClr val="A4B0BF"/>
                </a:solidFill>
                <a:latin typeface="Aptos"/>
              </a:rPr>
              <a:t>Machine Learning • Final Review</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90D1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2743200" cy="256032"/>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13 • MODEL EVALUATION</a:t>
            </a:r>
          </a:p>
        </p:txBody>
      </p:sp>
      <p:sp>
        <p:nvSpPr>
          <p:cNvPr id="3" name="TextBox 2"/>
          <p:cNvSpPr txBox="1"/>
          <p:nvPr/>
        </p:nvSpPr>
        <p:spPr>
          <a:xfrm>
            <a:off x="502920" y="612648"/>
            <a:ext cx="10789920" cy="658368"/>
          </a:xfrm>
          <a:prstGeom prst="rect">
            <a:avLst/>
          </a:prstGeom>
          <a:noFill/>
        </p:spPr>
        <p:txBody>
          <a:bodyPr wrap="square" lIns="18288" tIns="18288" rIns="18288" bIns="18288" anchor="t">
            <a:spAutoFit/>
          </a:bodyPr>
          <a:lstStyle/>
          <a:p>
            <a:pPr algn="l">
              <a:lnSpc>
                <a:spcPct val="100000"/>
              </a:lnSpc>
            </a:pPr>
            <a:r>
              <a:rPr sz="2800" b="1">
                <a:solidFill>
                  <a:srgbClr val="F2F6FA"/>
                </a:solidFill>
                <a:latin typeface="Aptos Display"/>
              </a:rPr>
              <a:t>Model comparison</a:t>
            </a:r>
          </a:p>
        </p:txBody>
      </p:sp>
      <p:sp>
        <p:nvSpPr>
          <p:cNvPr id="4" name="TextBox 3"/>
          <p:cNvSpPr txBox="1"/>
          <p:nvPr/>
        </p:nvSpPr>
        <p:spPr>
          <a:xfrm>
            <a:off x="530352" y="1261872"/>
            <a:ext cx="10698480" cy="384048"/>
          </a:xfrm>
          <a:prstGeom prst="rect">
            <a:avLst/>
          </a:prstGeom>
          <a:noFill/>
        </p:spPr>
        <p:txBody>
          <a:bodyPr wrap="square" lIns="18288" tIns="18288" rIns="18288" bIns="18288" anchor="t">
            <a:spAutoFit/>
          </a:bodyPr>
          <a:lstStyle/>
          <a:p>
            <a:pPr algn="l">
              <a:lnSpc>
                <a:spcPct val="100000"/>
              </a:lnSpc>
            </a:pPr>
            <a:r>
              <a:rPr sz="1250" b="0">
                <a:solidFill>
                  <a:srgbClr val="A4B0BF"/>
                </a:solidFill>
                <a:latin typeface="Aptos"/>
              </a:rPr>
              <a:t>Lower MAE/RMSE and higher R² indicate stronger regression performance.</a:t>
            </a:r>
          </a:p>
        </p:txBody>
      </p:sp>
      <p:sp>
        <p:nvSpPr>
          <p:cNvPr id="5" name="TextBox 4"/>
          <p:cNvSpPr txBox="1"/>
          <p:nvPr/>
        </p:nvSpPr>
        <p:spPr>
          <a:xfrm>
            <a:off x="11292840" y="329184"/>
            <a:ext cx="411480" cy="274320"/>
          </a:xfrm>
          <a:prstGeom prst="rect">
            <a:avLst/>
          </a:prstGeom>
          <a:noFill/>
        </p:spPr>
        <p:txBody>
          <a:bodyPr wrap="square" lIns="18288" tIns="18288" rIns="18288" bIns="18288" anchor="t">
            <a:spAutoFit/>
          </a:bodyPr>
          <a:lstStyle/>
          <a:p>
            <a:pPr algn="r">
              <a:lnSpc>
                <a:spcPct val="100000"/>
              </a:lnSpc>
            </a:pPr>
            <a:r>
              <a:rPr sz="1000" b="1">
                <a:solidFill>
                  <a:srgbClr val="A4B0BF"/>
                </a:solidFill>
                <a:latin typeface="Aptos"/>
              </a:rPr>
              <a:t>14</a:t>
            </a:r>
          </a:p>
        </p:txBody>
      </p:sp>
      <p:sp>
        <p:nvSpPr>
          <p:cNvPr id="6" name="Rounded Rectangle 5"/>
          <p:cNvSpPr/>
          <p:nvPr/>
        </p:nvSpPr>
        <p:spPr>
          <a:xfrm>
            <a:off x="640080" y="1783080"/>
            <a:ext cx="6583680" cy="3977639"/>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029968"/>
            <a:ext cx="731520" cy="228600"/>
          </a:xfrm>
          <a:prstGeom prst="rect">
            <a:avLst/>
          </a:prstGeom>
          <a:noFill/>
        </p:spPr>
        <p:txBody>
          <a:bodyPr wrap="square" lIns="18288" tIns="18288" rIns="18288" bIns="18288" anchor="t">
            <a:spAutoFit/>
          </a:bodyPr>
          <a:lstStyle/>
          <a:p>
            <a:pPr algn="l">
              <a:lnSpc>
                <a:spcPct val="100000"/>
              </a:lnSpc>
            </a:pPr>
            <a:r>
              <a:rPr sz="900" b="1">
                <a:solidFill>
                  <a:srgbClr val="A4B0BF"/>
                </a:solidFill>
                <a:latin typeface="Aptos"/>
              </a:rPr>
              <a:t>MODEL</a:t>
            </a:r>
          </a:p>
        </p:txBody>
      </p:sp>
      <p:sp>
        <p:nvSpPr>
          <p:cNvPr id="8" name="TextBox 7"/>
          <p:cNvSpPr txBox="1"/>
          <p:nvPr/>
        </p:nvSpPr>
        <p:spPr>
          <a:xfrm>
            <a:off x="4251960" y="2029968"/>
            <a:ext cx="731520" cy="228600"/>
          </a:xfrm>
          <a:prstGeom prst="rect">
            <a:avLst/>
          </a:prstGeom>
          <a:noFill/>
        </p:spPr>
        <p:txBody>
          <a:bodyPr wrap="square" lIns="18288" tIns="18288" rIns="18288" bIns="18288" anchor="t">
            <a:spAutoFit/>
          </a:bodyPr>
          <a:lstStyle/>
          <a:p>
            <a:pPr algn="l">
              <a:lnSpc>
                <a:spcPct val="100000"/>
              </a:lnSpc>
            </a:pPr>
            <a:r>
              <a:rPr sz="900" b="1">
                <a:solidFill>
                  <a:srgbClr val="A4B0BF"/>
                </a:solidFill>
                <a:latin typeface="Aptos"/>
              </a:rPr>
              <a:t>MAE</a:t>
            </a:r>
          </a:p>
        </p:txBody>
      </p:sp>
      <p:sp>
        <p:nvSpPr>
          <p:cNvPr id="9" name="TextBox 8"/>
          <p:cNvSpPr txBox="1"/>
          <p:nvPr/>
        </p:nvSpPr>
        <p:spPr>
          <a:xfrm>
            <a:off x="5349240" y="2029968"/>
            <a:ext cx="731520" cy="228600"/>
          </a:xfrm>
          <a:prstGeom prst="rect">
            <a:avLst/>
          </a:prstGeom>
          <a:noFill/>
        </p:spPr>
        <p:txBody>
          <a:bodyPr wrap="square" lIns="18288" tIns="18288" rIns="18288" bIns="18288" anchor="t">
            <a:spAutoFit/>
          </a:bodyPr>
          <a:lstStyle/>
          <a:p>
            <a:pPr algn="l">
              <a:lnSpc>
                <a:spcPct val="100000"/>
              </a:lnSpc>
            </a:pPr>
            <a:r>
              <a:rPr sz="900" b="1">
                <a:solidFill>
                  <a:srgbClr val="A4B0BF"/>
                </a:solidFill>
                <a:latin typeface="Aptos"/>
              </a:rPr>
              <a:t>RMSE</a:t>
            </a:r>
          </a:p>
        </p:txBody>
      </p:sp>
      <p:sp>
        <p:nvSpPr>
          <p:cNvPr id="10" name="TextBox 9"/>
          <p:cNvSpPr txBox="1"/>
          <p:nvPr/>
        </p:nvSpPr>
        <p:spPr>
          <a:xfrm>
            <a:off x="6400800" y="2029968"/>
            <a:ext cx="731520" cy="228600"/>
          </a:xfrm>
          <a:prstGeom prst="rect">
            <a:avLst/>
          </a:prstGeom>
          <a:noFill/>
        </p:spPr>
        <p:txBody>
          <a:bodyPr wrap="square" lIns="18288" tIns="18288" rIns="18288" bIns="18288" anchor="t">
            <a:spAutoFit/>
          </a:bodyPr>
          <a:lstStyle/>
          <a:p>
            <a:pPr algn="l">
              <a:lnSpc>
                <a:spcPct val="100000"/>
              </a:lnSpc>
            </a:pPr>
            <a:r>
              <a:rPr sz="900" b="1">
                <a:solidFill>
                  <a:srgbClr val="A4B0BF"/>
                </a:solidFill>
                <a:latin typeface="Aptos"/>
              </a:rPr>
              <a:t>R²</a:t>
            </a:r>
          </a:p>
        </p:txBody>
      </p:sp>
      <p:sp>
        <p:nvSpPr>
          <p:cNvPr id="11" name="Rounded Rectangle 10"/>
          <p:cNvSpPr/>
          <p:nvPr/>
        </p:nvSpPr>
        <p:spPr>
          <a:xfrm>
            <a:off x="822960" y="2423160"/>
            <a:ext cx="6126480" cy="658368"/>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7552" y="2514600"/>
            <a:ext cx="2377440" cy="274320"/>
          </a:xfrm>
          <a:prstGeom prst="rect">
            <a:avLst/>
          </a:prstGeom>
          <a:noFill/>
        </p:spPr>
        <p:txBody>
          <a:bodyPr wrap="square" lIns="18288" tIns="18288" rIns="18288" bIns="18288" anchor="t">
            <a:spAutoFit/>
          </a:bodyPr>
          <a:lstStyle/>
          <a:p>
            <a:pPr algn="l">
              <a:lnSpc>
                <a:spcPct val="100000"/>
              </a:lnSpc>
            </a:pPr>
            <a:r>
              <a:rPr sz="1250" b="1">
                <a:solidFill>
                  <a:srgbClr val="F2F6FA"/>
                </a:solidFill>
                <a:latin typeface="Aptos"/>
              </a:rPr>
              <a:t>Extra Trees</a:t>
            </a:r>
          </a:p>
        </p:txBody>
      </p:sp>
      <p:sp>
        <p:nvSpPr>
          <p:cNvPr id="13" name="TextBox 12"/>
          <p:cNvSpPr txBox="1"/>
          <p:nvPr/>
        </p:nvSpPr>
        <p:spPr>
          <a:xfrm>
            <a:off x="3977639" y="2514600"/>
            <a:ext cx="1005840" cy="274320"/>
          </a:xfrm>
          <a:prstGeom prst="rect">
            <a:avLst/>
          </a:prstGeom>
          <a:noFill/>
        </p:spPr>
        <p:txBody>
          <a:bodyPr wrap="square" lIns="18288" tIns="18288" rIns="18288" bIns="18288" anchor="t">
            <a:spAutoFit/>
          </a:bodyPr>
          <a:lstStyle/>
          <a:p>
            <a:pPr algn="r">
              <a:lnSpc>
                <a:spcPct val="100000"/>
              </a:lnSpc>
            </a:pPr>
            <a:r>
              <a:rPr sz="1050" b="1">
                <a:solidFill>
                  <a:srgbClr val="F2F6FA"/>
                </a:solidFill>
                <a:latin typeface="Aptos"/>
              </a:rPr>
              <a:t>23.577503</a:t>
            </a:r>
          </a:p>
        </p:txBody>
      </p:sp>
      <p:sp>
        <p:nvSpPr>
          <p:cNvPr id="14" name="TextBox 13"/>
          <p:cNvSpPr txBox="1"/>
          <p:nvPr/>
        </p:nvSpPr>
        <p:spPr>
          <a:xfrm>
            <a:off x="5074920" y="2514600"/>
            <a:ext cx="1005840" cy="274320"/>
          </a:xfrm>
          <a:prstGeom prst="rect">
            <a:avLst/>
          </a:prstGeom>
          <a:noFill/>
        </p:spPr>
        <p:txBody>
          <a:bodyPr wrap="square" lIns="18288" tIns="18288" rIns="18288" bIns="18288" anchor="t">
            <a:spAutoFit/>
          </a:bodyPr>
          <a:lstStyle/>
          <a:p>
            <a:pPr algn="r">
              <a:lnSpc>
                <a:spcPct val="100000"/>
              </a:lnSpc>
            </a:pPr>
            <a:r>
              <a:rPr sz="1050" b="1">
                <a:solidFill>
                  <a:srgbClr val="F2F6FA"/>
                </a:solidFill>
                <a:latin typeface="Aptos"/>
              </a:rPr>
              <a:t>65.383930</a:t>
            </a:r>
          </a:p>
        </p:txBody>
      </p:sp>
      <p:sp>
        <p:nvSpPr>
          <p:cNvPr id="15" name="TextBox 14"/>
          <p:cNvSpPr txBox="1"/>
          <p:nvPr/>
        </p:nvSpPr>
        <p:spPr>
          <a:xfrm>
            <a:off x="6172200" y="2514600"/>
            <a:ext cx="640080" cy="274320"/>
          </a:xfrm>
          <a:prstGeom prst="rect">
            <a:avLst/>
          </a:prstGeom>
          <a:noFill/>
        </p:spPr>
        <p:txBody>
          <a:bodyPr wrap="square" lIns="18288" tIns="18288" rIns="18288" bIns="18288" anchor="t">
            <a:spAutoFit/>
          </a:bodyPr>
          <a:lstStyle/>
          <a:p>
            <a:pPr algn="r">
              <a:lnSpc>
                <a:spcPct val="100000"/>
              </a:lnSpc>
            </a:pPr>
            <a:r>
              <a:rPr sz="1050" b="1">
                <a:solidFill>
                  <a:srgbClr val="49D3EC"/>
                </a:solidFill>
                <a:latin typeface="Aptos"/>
              </a:rPr>
              <a:t>0.992464</a:t>
            </a:r>
          </a:p>
        </p:txBody>
      </p:sp>
      <p:sp>
        <p:nvSpPr>
          <p:cNvPr id="16" name="Rounded Rectangle 15"/>
          <p:cNvSpPr/>
          <p:nvPr/>
        </p:nvSpPr>
        <p:spPr>
          <a:xfrm>
            <a:off x="822960" y="3355848"/>
            <a:ext cx="6126480" cy="658368"/>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87552" y="3447288"/>
            <a:ext cx="2377440" cy="274320"/>
          </a:xfrm>
          <a:prstGeom prst="rect">
            <a:avLst/>
          </a:prstGeom>
          <a:noFill/>
        </p:spPr>
        <p:txBody>
          <a:bodyPr wrap="square" lIns="18288" tIns="18288" rIns="18288" bIns="18288" anchor="t">
            <a:spAutoFit/>
          </a:bodyPr>
          <a:lstStyle/>
          <a:p>
            <a:pPr algn="l">
              <a:lnSpc>
                <a:spcPct val="100000"/>
              </a:lnSpc>
            </a:pPr>
            <a:r>
              <a:rPr sz="1250" b="1">
                <a:solidFill>
                  <a:srgbClr val="F2F6FA"/>
                </a:solidFill>
                <a:latin typeface="Aptos"/>
              </a:rPr>
              <a:t>Random Forest</a:t>
            </a:r>
          </a:p>
        </p:txBody>
      </p:sp>
      <p:sp>
        <p:nvSpPr>
          <p:cNvPr id="18" name="TextBox 17"/>
          <p:cNvSpPr txBox="1"/>
          <p:nvPr/>
        </p:nvSpPr>
        <p:spPr>
          <a:xfrm>
            <a:off x="3977639" y="3447288"/>
            <a:ext cx="1005840" cy="274320"/>
          </a:xfrm>
          <a:prstGeom prst="rect">
            <a:avLst/>
          </a:prstGeom>
          <a:noFill/>
        </p:spPr>
        <p:txBody>
          <a:bodyPr wrap="square" lIns="18288" tIns="18288" rIns="18288" bIns="18288" anchor="t">
            <a:spAutoFit/>
          </a:bodyPr>
          <a:lstStyle/>
          <a:p>
            <a:pPr algn="r">
              <a:lnSpc>
                <a:spcPct val="100000"/>
              </a:lnSpc>
            </a:pPr>
            <a:r>
              <a:rPr sz="1050" b="1">
                <a:solidFill>
                  <a:srgbClr val="F2F6FA"/>
                </a:solidFill>
                <a:latin typeface="Aptos"/>
              </a:rPr>
              <a:t>25.939283</a:t>
            </a:r>
          </a:p>
        </p:txBody>
      </p:sp>
      <p:sp>
        <p:nvSpPr>
          <p:cNvPr id="19" name="TextBox 18"/>
          <p:cNvSpPr txBox="1"/>
          <p:nvPr/>
        </p:nvSpPr>
        <p:spPr>
          <a:xfrm>
            <a:off x="5074920" y="3447288"/>
            <a:ext cx="1005840" cy="274320"/>
          </a:xfrm>
          <a:prstGeom prst="rect">
            <a:avLst/>
          </a:prstGeom>
          <a:noFill/>
        </p:spPr>
        <p:txBody>
          <a:bodyPr wrap="square" lIns="18288" tIns="18288" rIns="18288" bIns="18288" anchor="t">
            <a:spAutoFit/>
          </a:bodyPr>
          <a:lstStyle/>
          <a:p>
            <a:pPr algn="r">
              <a:lnSpc>
                <a:spcPct val="100000"/>
              </a:lnSpc>
            </a:pPr>
            <a:r>
              <a:rPr sz="1050" b="1">
                <a:solidFill>
                  <a:srgbClr val="F2F6FA"/>
                </a:solidFill>
                <a:latin typeface="Aptos"/>
              </a:rPr>
              <a:t>85.443267</a:t>
            </a:r>
          </a:p>
        </p:txBody>
      </p:sp>
      <p:sp>
        <p:nvSpPr>
          <p:cNvPr id="20" name="TextBox 19"/>
          <p:cNvSpPr txBox="1"/>
          <p:nvPr/>
        </p:nvSpPr>
        <p:spPr>
          <a:xfrm>
            <a:off x="6172200" y="3447288"/>
            <a:ext cx="640080" cy="274320"/>
          </a:xfrm>
          <a:prstGeom prst="rect">
            <a:avLst/>
          </a:prstGeom>
          <a:noFill/>
        </p:spPr>
        <p:txBody>
          <a:bodyPr wrap="square" lIns="18288" tIns="18288" rIns="18288" bIns="18288" anchor="t">
            <a:spAutoFit/>
          </a:bodyPr>
          <a:lstStyle/>
          <a:p>
            <a:pPr algn="r">
              <a:lnSpc>
                <a:spcPct val="100000"/>
              </a:lnSpc>
            </a:pPr>
            <a:r>
              <a:rPr sz="1050" b="1">
                <a:solidFill>
                  <a:srgbClr val="2DBEAA"/>
                </a:solidFill>
                <a:latin typeface="Aptos"/>
              </a:rPr>
              <a:t>0.987131</a:t>
            </a:r>
          </a:p>
        </p:txBody>
      </p:sp>
      <p:sp>
        <p:nvSpPr>
          <p:cNvPr id="21" name="Rounded Rectangle 20"/>
          <p:cNvSpPr/>
          <p:nvPr/>
        </p:nvSpPr>
        <p:spPr>
          <a:xfrm>
            <a:off x="822960" y="4288536"/>
            <a:ext cx="6126480" cy="658368"/>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87552" y="4379976"/>
            <a:ext cx="2377440" cy="274320"/>
          </a:xfrm>
          <a:prstGeom prst="rect">
            <a:avLst/>
          </a:prstGeom>
          <a:noFill/>
        </p:spPr>
        <p:txBody>
          <a:bodyPr wrap="square" lIns="18288" tIns="18288" rIns="18288" bIns="18288" anchor="t">
            <a:spAutoFit/>
          </a:bodyPr>
          <a:lstStyle/>
          <a:p>
            <a:pPr algn="l">
              <a:lnSpc>
                <a:spcPct val="100000"/>
              </a:lnSpc>
            </a:pPr>
            <a:r>
              <a:rPr sz="1250" b="1">
                <a:solidFill>
                  <a:srgbClr val="F2F6FA"/>
                </a:solidFill>
                <a:latin typeface="Aptos"/>
              </a:rPr>
              <a:t>Gradient Boosting</a:t>
            </a:r>
          </a:p>
        </p:txBody>
      </p:sp>
      <p:sp>
        <p:nvSpPr>
          <p:cNvPr id="23" name="TextBox 22"/>
          <p:cNvSpPr txBox="1"/>
          <p:nvPr/>
        </p:nvSpPr>
        <p:spPr>
          <a:xfrm>
            <a:off x="3977639" y="4379976"/>
            <a:ext cx="1005840" cy="274320"/>
          </a:xfrm>
          <a:prstGeom prst="rect">
            <a:avLst/>
          </a:prstGeom>
          <a:noFill/>
        </p:spPr>
        <p:txBody>
          <a:bodyPr wrap="square" lIns="18288" tIns="18288" rIns="18288" bIns="18288" anchor="t">
            <a:spAutoFit/>
          </a:bodyPr>
          <a:lstStyle/>
          <a:p>
            <a:pPr algn="r">
              <a:lnSpc>
                <a:spcPct val="100000"/>
              </a:lnSpc>
            </a:pPr>
            <a:r>
              <a:rPr sz="1050" b="1">
                <a:solidFill>
                  <a:srgbClr val="F2F6FA"/>
                </a:solidFill>
                <a:latin typeface="Aptos"/>
              </a:rPr>
              <a:t>45.439595</a:t>
            </a:r>
          </a:p>
        </p:txBody>
      </p:sp>
      <p:sp>
        <p:nvSpPr>
          <p:cNvPr id="24" name="TextBox 23"/>
          <p:cNvSpPr txBox="1"/>
          <p:nvPr/>
        </p:nvSpPr>
        <p:spPr>
          <a:xfrm>
            <a:off x="5074920" y="4379976"/>
            <a:ext cx="1005840" cy="274320"/>
          </a:xfrm>
          <a:prstGeom prst="rect">
            <a:avLst/>
          </a:prstGeom>
          <a:noFill/>
        </p:spPr>
        <p:txBody>
          <a:bodyPr wrap="square" lIns="18288" tIns="18288" rIns="18288" bIns="18288" anchor="t">
            <a:spAutoFit/>
          </a:bodyPr>
          <a:lstStyle/>
          <a:p>
            <a:pPr algn="r">
              <a:lnSpc>
                <a:spcPct val="100000"/>
              </a:lnSpc>
            </a:pPr>
            <a:r>
              <a:rPr sz="1050" b="1">
                <a:solidFill>
                  <a:srgbClr val="F2F6FA"/>
                </a:solidFill>
                <a:latin typeface="Aptos"/>
              </a:rPr>
              <a:t>88.046843</a:t>
            </a:r>
          </a:p>
        </p:txBody>
      </p:sp>
      <p:sp>
        <p:nvSpPr>
          <p:cNvPr id="25" name="TextBox 24"/>
          <p:cNvSpPr txBox="1"/>
          <p:nvPr/>
        </p:nvSpPr>
        <p:spPr>
          <a:xfrm>
            <a:off x="6172200" y="4379976"/>
            <a:ext cx="640080" cy="274320"/>
          </a:xfrm>
          <a:prstGeom prst="rect">
            <a:avLst/>
          </a:prstGeom>
          <a:noFill/>
        </p:spPr>
        <p:txBody>
          <a:bodyPr wrap="square" lIns="18288" tIns="18288" rIns="18288" bIns="18288" anchor="t">
            <a:spAutoFit/>
          </a:bodyPr>
          <a:lstStyle/>
          <a:p>
            <a:pPr algn="r">
              <a:lnSpc>
                <a:spcPct val="100000"/>
              </a:lnSpc>
            </a:pPr>
            <a:r>
              <a:rPr sz="1050" b="1">
                <a:solidFill>
                  <a:srgbClr val="8E77FF"/>
                </a:solidFill>
                <a:latin typeface="Aptos"/>
              </a:rPr>
              <a:t>0.986334</a:t>
            </a:r>
          </a:p>
        </p:txBody>
      </p:sp>
      <p:sp>
        <p:nvSpPr>
          <p:cNvPr id="26" name="TextBox 25"/>
          <p:cNvSpPr txBox="1"/>
          <p:nvPr/>
        </p:nvSpPr>
        <p:spPr>
          <a:xfrm>
            <a:off x="7635240" y="1874519"/>
            <a:ext cx="2103120" cy="274320"/>
          </a:xfrm>
          <a:prstGeom prst="rect">
            <a:avLst/>
          </a:prstGeom>
          <a:noFill/>
        </p:spPr>
        <p:txBody>
          <a:bodyPr wrap="square" lIns="18288" tIns="18288" rIns="18288" bIns="18288" anchor="t">
            <a:spAutoFit/>
          </a:bodyPr>
          <a:lstStyle/>
          <a:p>
            <a:pPr algn="l">
              <a:lnSpc>
                <a:spcPct val="100000"/>
              </a:lnSpc>
            </a:pPr>
            <a:r>
              <a:rPr sz="1100" b="1">
                <a:solidFill>
                  <a:srgbClr val="49D3EC"/>
                </a:solidFill>
                <a:latin typeface="Aptos"/>
              </a:rPr>
              <a:t>R² comparison</a:t>
            </a:r>
          </a:p>
        </p:txBody>
      </p:sp>
      <p:sp>
        <p:nvSpPr>
          <p:cNvPr id="27" name="TextBox 26"/>
          <p:cNvSpPr txBox="1"/>
          <p:nvPr/>
        </p:nvSpPr>
        <p:spPr>
          <a:xfrm>
            <a:off x="7635240" y="2404872"/>
            <a:ext cx="1920240" cy="384048"/>
          </a:xfrm>
          <a:prstGeom prst="rect">
            <a:avLst/>
          </a:prstGeom>
          <a:noFill/>
        </p:spPr>
        <p:txBody>
          <a:bodyPr wrap="square" lIns="18288" tIns="18288" rIns="18288" bIns="18288" anchor="t">
            <a:spAutoFit/>
          </a:bodyPr>
          <a:lstStyle/>
          <a:p>
            <a:pPr algn="l">
              <a:lnSpc>
                <a:spcPct val="100000"/>
              </a:lnSpc>
            </a:pPr>
            <a:r>
              <a:rPr sz="1100" b="1">
                <a:solidFill>
                  <a:srgbClr val="F2F6FA"/>
                </a:solidFill>
                <a:latin typeface="Aptos"/>
              </a:rPr>
              <a:t>Extra Trees</a:t>
            </a:r>
          </a:p>
        </p:txBody>
      </p:sp>
      <p:sp>
        <p:nvSpPr>
          <p:cNvPr id="28" name="Rounded Rectangle 27"/>
          <p:cNvSpPr/>
          <p:nvPr/>
        </p:nvSpPr>
        <p:spPr>
          <a:xfrm>
            <a:off x="9646920" y="2468879"/>
            <a:ext cx="1463039" cy="292607"/>
          </a:xfrm>
          <a:prstGeom prst="roundRect">
            <a:avLst/>
          </a:prstGeom>
          <a:solidFill>
            <a:srgbClr val="161E2A"/>
          </a:solidFill>
          <a:ln w="10160">
            <a:solidFill>
              <a:srgbClr val="1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9646920" y="2468879"/>
            <a:ext cx="1452014" cy="292607"/>
          </a:xfrm>
          <a:prstGeom prst="roundRect">
            <a:avLst/>
          </a:prstGeom>
          <a:solidFill>
            <a:srgbClr val="49D3EC"/>
          </a:solidFill>
          <a:ln w="10160">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183112" y="2423160"/>
            <a:ext cx="914400" cy="384048"/>
          </a:xfrm>
          <a:prstGeom prst="rect">
            <a:avLst/>
          </a:prstGeom>
          <a:noFill/>
        </p:spPr>
        <p:txBody>
          <a:bodyPr wrap="square" lIns="18288" tIns="18288" rIns="18288" bIns="18288" anchor="t">
            <a:spAutoFit/>
          </a:bodyPr>
          <a:lstStyle/>
          <a:p>
            <a:pPr algn="r">
              <a:lnSpc>
                <a:spcPct val="100000"/>
              </a:lnSpc>
            </a:pPr>
            <a:r>
              <a:rPr sz="1000" b="1">
                <a:solidFill>
                  <a:srgbClr val="F2F6FA"/>
                </a:solidFill>
                <a:latin typeface="Aptos"/>
              </a:rPr>
              <a:t>0.9925</a:t>
            </a:r>
          </a:p>
        </p:txBody>
      </p:sp>
      <p:sp>
        <p:nvSpPr>
          <p:cNvPr id="31" name="TextBox 30"/>
          <p:cNvSpPr txBox="1"/>
          <p:nvPr/>
        </p:nvSpPr>
        <p:spPr>
          <a:xfrm>
            <a:off x="7635240" y="3319272"/>
            <a:ext cx="1920240" cy="384048"/>
          </a:xfrm>
          <a:prstGeom prst="rect">
            <a:avLst/>
          </a:prstGeom>
          <a:noFill/>
        </p:spPr>
        <p:txBody>
          <a:bodyPr wrap="square" lIns="18288" tIns="18288" rIns="18288" bIns="18288" anchor="t">
            <a:spAutoFit/>
          </a:bodyPr>
          <a:lstStyle/>
          <a:p>
            <a:pPr algn="l">
              <a:lnSpc>
                <a:spcPct val="100000"/>
              </a:lnSpc>
            </a:pPr>
            <a:r>
              <a:rPr sz="1100" b="1">
                <a:solidFill>
                  <a:srgbClr val="F2F6FA"/>
                </a:solidFill>
                <a:latin typeface="Aptos"/>
              </a:rPr>
              <a:t>Random Forest</a:t>
            </a:r>
          </a:p>
        </p:txBody>
      </p:sp>
      <p:sp>
        <p:nvSpPr>
          <p:cNvPr id="32" name="Rounded Rectangle 31"/>
          <p:cNvSpPr/>
          <p:nvPr/>
        </p:nvSpPr>
        <p:spPr>
          <a:xfrm>
            <a:off x="9646920" y="3383279"/>
            <a:ext cx="1463039" cy="292607"/>
          </a:xfrm>
          <a:prstGeom prst="roundRect">
            <a:avLst/>
          </a:prstGeom>
          <a:solidFill>
            <a:srgbClr val="161E2A"/>
          </a:solidFill>
          <a:ln w="10160">
            <a:solidFill>
              <a:srgbClr val="1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646920" y="3383279"/>
            <a:ext cx="1444212" cy="292607"/>
          </a:xfrm>
          <a:prstGeom prst="roundRect">
            <a:avLst/>
          </a:prstGeom>
          <a:solidFill>
            <a:srgbClr val="2DBEAA"/>
          </a:solidFill>
          <a:ln w="10160">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183112" y="3337560"/>
            <a:ext cx="914400" cy="384048"/>
          </a:xfrm>
          <a:prstGeom prst="rect">
            <a:avLst/>
          </a:prstGeom>
          <a:noFill/>
        </p:spPr>
        <p:txBody>
          <a:bodyPr wrap="square" lIns="18288" tIns="18288" rIns="18288" bIns="18288" anchor="t">
            <a:spAutoFit/>
          </a:bodyPr>
          <a:lstStyle/>
          <a:p>
            <a:pPr algn="r">
              <a:lnSpc>
                <a:spcPct val="100000"/>
              </a:lnSpc>
            </a:pPr>
            <a:r>
              <a:rPr sz="1000" b="1">
                <a:solidFill>
                  <a:srgbClr val="F2F6FA"/>
                </a:solidFill>
                <a:latin typeface="Aptos"/>
              </a:rPr>
              <a:t>0.9871</a:t>
            </a:r>
          </a:p>
        </p:txBody>
      </p:sp>
      <p:sp>
        <p:nvSpPr>
          <p:cNvPr id="35" name="TextBox 34"/>
          <p:cNvSpPr txBox="1"/>
          <p:nvPr/>
        </p:nvSpPr>
        <p:spPr>
          <a:xfrm>
            <a:off x="7635240" y="4233672"/>
            <a:ext cx="1920240" cy="384048"/>
          </a:xfrm>
          <a:prstGeom prst="rect">
            <a:avLst/>
          </a:prstGeom>
          <a:noFill/>
        </p:spPr>
        <p:txBody>
          <a:bodyPr wrap="square" lIns="18288" tIns="18288" rIns="18288" bIns="18288" anchor="t">
            <a:spAutoFit/>
          </a:bodyPr>
          <a:lstStyle/>
          <a:p>
            <a:pPr algn="l">
              <a:lnSpc>
                <a:spcPct val="100000"/>
              </a:lnSpc>
            </a:pPr>
            <a:r>
              <a:rPr sz="1100" b="1">
                <a:solidFill>
                  <a:srgbClr val="F2F6FA"/>
                </a:solidFill>
                <a:latin typeface="Aptos"/>
              </a:rPr>
              <a:t>Gradient Boosting</a:t>
            </a:r>
          </a:p>
        </p:txBody>
      </p:sp>
      <p:sp>
        <p:nvSpPr>
          <p:cNvPr id="36" name="Rounded Rectangle 35"/>
          <p:cNvSpPr/>
          <p:nvPr/>
        </p:nvSpPr>
        <p:spPr>
          <a:xfrm>
            <a:off x="9646920" y="4297680"/>
            <a:ext cx="1463039" cy="292607"/>
          </a:xfrm>
          <a:prstGeom prst="roundRect">
            <a:avLst/>
          </a:prstGeom>
          <a:solidFill>
            <a:srgbClr val="161E2A"/>
          </a:solidFill>
          <a:ln w="10160">
            <a:solidFill>
              <a:srgbClr val="1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9646920" y="4297680"/>
            <a:ext cx="1443046" cy="292607"/>
          </a:xfrm>
          <a:prstGeom prst="roundRect">
            <a:avLst/>
          </a:prstGeom>
          <a:solidFill>
            <a:srgbClr val="8E77FF"/>
          </a:solidFill>
          <a:ln w="10160">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1183112" y="4251960"/>
            <a:ext cx="914400" cy="384048"/>
          </a:xfrm>
          <a:prstGeom prst="rect">
            <a:avLst/>
          </a:prstGeom>
          <a:noFill/>
        </p:spPr>
        <p:txBody>
          <a:bodyPr wrap="square" lIns="18288" tIns="18288" rIns="18288" bIns="18288" anchor="t">
            <a:spAutoFit/>
          </a:bodyPr>
          <a:lstStyle/>
          <a:p>
            <a:pPr algn="r">
              <a:lnSpc>
                <a:spcPct val="100000"/>
              </a:lnSpc>
            </a:pPr>
            <a:r>
              <a:rPr sz="1000" b="1">
                <a:solidFill>
                  <a:srgbClr val="F2F6FA"/>
                </a:solidFill>
                <a:latin typeface="Aptos"/>
              </a:rPr>
              <a:t>0.9863</a:t>
            </a:r>
          </a:p>
        </p:txBody>
      </p:sp>
      <p:sp>
        <p:nvSpPr>
          <p:cNvPr id="39" name="Rounded Rectangle 38"/>
          <p:cNvSpPr/>
          <p:nvPr/>
        </p:nvSpPr>
        <p:spPr>
          <a:xfrm>
            <a:off x="7635240" y="5166360"/>
            <a:ext cx="3383280" cy="594360"/>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818120" y="5340096"/>
            <a:ext cx="2926080" cy="228600"/>
          </a:xfrm>
          <a:prstGeom prst="rect">
            <a:avLst/>
          </a:prstGeom>
          <a:noFill/>
        </p:spPr>
        <p:txBody>
          <a:bodyPr wrap="square" lIns="18288" tIns="18288" rIns="18288" bIns="18288" anchor="t">
            <a:spAutoFit/>
          </a:bodyPr>
          <a:lstStyle/>
          <a:p>
            <a:pPr algn="l">
              <a:lnSpc>
                <a:spcPct val="100000"/>
              </a:lnSpc>
            </a:pPr>
            <a:r>
              <a:rPr sz="1250" b="1">
                <a:solidFill>
                  <a:srgbClr val="F2F6FA"/>
                </a:solidFill>
                <a:latin typeface="Aptos"/>
              </a:rPr>
              <a:t>Selection: Extra Trees</a:t>
            </a:r>
          </a:p>
        </p:txBody>
      </p:sp>
      <p:cxnSp>
        <p:nvCxnSpPr>
          <p:cNvPr id="41" name="Connector 40"/>
          <p:cNvCxnSpPr/>
          <p:nvPr/>
        </p:nvCxnSpPr>
        <p:spPr>
          <a:xfrm>
            <a:off x="502920" y="6473952"/>
            <a:ext cx="11183112" cy="0"/>
          </a:xfrm>
          <a:prstGeom prst="line">
            <a:avLst/>
          </a:prstGeom>
          <a:ln w="8890">
            <a:solidFill>
              <a:srgbClr val="263140"/>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30352" y="6537960"/>
            <a:ext cx="2926080" cy="164592"/>
          </a:xfrm>
          <a:prstGeom prst="rect">
            <a:avLst/>
          </a:prstGeom>
          <a:noFill/>
        </p:spPr>
        <p:txBody>
          <a:bodyPr wrap="square" lIns="18288" tIns="18288" rIns="18288" bIns="18288" anchor="t">
            <a:spAutoFit/>
          </a:bodyPr>
          <a:lstStyle/>
          <a:p>
            <a:pPr algn="l">
              <a:lnSpc>
                <a:spcPct val="100000"/>
              </a:lnSpc>
            </a:pPr>
            <a:r>
              <a:rPr sz="750" b="1">
                <a:solidFill>
                  <a:srgbClr val="A4B0BF"/>
                </a:solidFill>
                <a:latin typeface="Aptos"/>
              </a:rPr>
              <a:t>PARKING AVAILABILITY AI</a:t>
            </a:r>
          </a:p>
        </p:txBody>
      </p:sp>
      <p:sp>
        <p:nvSpPr>
          <p:cNvPr id="43" name="TextBox 42"/>
          <p:cNvSpPr txBox="1"/>
          <p:nvPr/>
        </p:nvSpPr>
        <p:spPr>
          <a:xfrm>
            <a:off x="8503920" y="6537960"/>
            <a:ext cx="3108960" cy="164592"/>
          </a:xfrm>
          <a:prstGeom prst="rect">
            <a:avLst/>
          </a:prstGeom>
          <a:noFill/>
        </p:spPr>
        <p:txBody>
          <a:bodyPr wrap="square" lIns="18288" tIns="18288" rIns="18288" bIns="18288" anchor="t">
            <a:spAutoFit/>
          </a:bodyPr>
          <a:lstStyle/>
          <a:p>
            <a:pPr algn="r">
              <a:lnSpc>
                <a:spcPct val="100000"/>
              </a:lnSpc>
            </a:pPr>
            <a:r>
              <a:rPr sz="750" b="0">
                <a:solidFill>
                  <a:srgbClr val="A4B0BF"/>
                </a:solidFill>
                <a:latin typeface="Aptos"/>
              </a:rPr>
              <a:t>Machine Learning • Final Review</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90D1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2743200" cy="256032"/>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14 • FINAL EVALUATION</a:t>
            </a:r>
          </a:p>
        </p:txBody>
      </p:sp>
      <p:sp>
        <p:nvSpPr>
          <p:cNvPr id="3" name="TextBox 2"/>
          <p:cNvSpPr txBox="1"/>
          <p:nvPr/>
        </p:nvSpPr>
        <p:spPr>
          <a:xfrm>
            <a:off x="502920" y="612648"/>
            <a:ext cx="10789920" cy="658368"/>
          </a:xfrm>
          <a:prstGeom prst="rect">
            <a:avLst/>
          </a:prstGeom>
          <a:noFill/>
        </p:spPr>
        <p:txBody>
          <a:bodyPr wrap="square" lIns="18288" tIns="18288" rIns="18288" bIns="18288" anchor="t">
            <a:spAutoFit/>
          </a:bodyPr>
          <a:lstStyle/>
          <a:p>
            <a:pPr algn="l">
              <a:lnSpc>
                <a:spcPct val="100000"/>
              </a:lnSpc>
            </a:pPr>
            <a:r>
              <a:rPr sz="2800" b="1">
                <a:solidFill>
                  <a:srgbClr val="F2F6FA"/>
                </a:solidFill>
                <a:latin typeface="Aptos Display"/>
              </a:rPr>
              <a:t>Validation vs. final test</a:t>
            </a:r>
          </a:p>
        </p:txBody>
      </p:sp>
      <p:sp>
        <p:nvSpPr>
          <p:cNvPr id="4" name="TextBox 3"/>
          <p:cNvSpPr txBox="1"/>
          <p:nvPr/>
        </p:nvSpPr>
        <p:spPr>
          <a:xfrm>
            <a:off x="530352" y="1261872"/>
            <a:ext cx="10698480" cy="384048"/>
          </a:xfrm>
          <a:prstGeom prst="rect">
            <a:avLst/>
          </a:prstGeom>
          <a:noFill/>
        </p:spPr>
        <p:txBody>
          <a:bodyPr wrap="square" lIns="18288" tIns="18288" rIns="18288" bIns="18288" anchor="t">
            <a:spAutoFit/>
          </a:bodyPr>
          <a:lstStyle/>
          <a:p>
            <a:pPr algn="l">
              <a:lnSpc>
                <a:spcPct val="100000"/>
              </a:lnSpc>
            </a:pPr>
            <a:r>
              <a:rPr sz="1250" b="0">
                <a:solidFill>
                  <a:srgbClr val="A4B0BF"/>
                </a:solidFill>
                <a:latin typeface="Aptos"/>
              </a:rPr>
              <a:t>The final test set is reported separately from validation.</a:t>
            </a:r>
          </a:p>
        </p:txBody>
      </p:sp>
      <p:sp>
        <p:nvSpPr>
          <p:cNvPr id="5" name="TextBox 4"/>
          <p:cNvSpPr txBox="1"/>
          <p:nvPr/>
        </p:nvSpPr>
        <p:spPr>
          <a:xfrm>
            <a:off x="11292840" y="329184"/>
            <a:ext cx="411480" cy="274320"/>
          </a:xfrm>
          <a:prstGeom prst="rect">
            <a:avLst/>
          </a:prstGeom>
          <a:noFill/>
        </p:spPr>
        <p:txBody>
          <a:bodyPr wrap="square" lIns="18288" tIns="18288" rIns="18288" bIns="18288" anchor="t">
            <a:spAutoFit/>
          </a:bodyPr>
          <a:lstStyle/>
          <a:p>
            <a:pPr algn="r">
              <a:lnSpc>
                <a:spcPct val="100000"/>
              </a:lnSpc>
            </a:pPr>
            <a:r>
              <a:rPr sz="1000" b="1">
                <a:solidFill>
                  <a:srgbClr val="A4B0BF"/>
                </a:solidFill>
                <a:latin typeface="Aptos"/>
              </a:rPr>
              <a:t>15</a:t>
            </a:r>
          </a:p>
        </p:txBody>
      </p:sp>
      <p:sp>
        <p:nvSpPr>
          <p:cNvPr id="6" name="Rounded Rectangle 5"/>
          <p:cNvSpPr/>
          <p:nvPr/>
        </p:nvSpPr>
        <p:spPr>
          <a:xfrm>
            <a:off x="685800" y="1828800"/>
            <a:ext cx="5166360" cy="324612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121408"/>
            <a:ext cx="1371600" cy="274320"/>
          </a:xfrm>
          <a:prstGeom prst="rect">
            <a:avLst/>
          </a:prstGeom>
          <a:noFill/>
        </p:spPr>
        <p:txBody>
          <a:bodyPr wrap="square" lIns="18288" tIns="18288" rIns="18288" bIns="18288" anchor="t">
            <a:spAutoFit/>
          </a:bodyPr>
          <a:lstStyle/>
          <a:p>
            <a:pPr algn="l">
              <a:lnSpc>
                <a:spcPct val="100000"/>
              </a:lnSpc>
            </a:pPr>
            <a:r>
              <a:rPr sz="1000" b="1">
                <a:solidFill>
                  <a:srgbClr val="2DBEAA"/>
                </a:solidFill>
                <a:latin typeface="Aptos"/>
              </a:rPr>
              <a:t>VALIDATION</a:t>
            </a:r>
          </a:p>
        </p:txBody>
      </p:sp>
      <p:sp>
        <p:nvSpPr>
          <p:cNvPr id="8" name="Rounded Rectangle 7"/>
          <p:cNvSpPr/>
          <p:nvPr/>
        </p:nvSpPr>
        <p:spPr>
          <a:xfrm>
            <a:off x="960120" y="2606040"/>
            <a:ext cx="1417320" cy="10972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60120" y="2606040"/>
            <a:ext cx="50292" cy="1097280"/>
          </a:xfrm>
          <a:prstGeom prst="rect">
            <a:avLst/>
          </a:prstGeom>
          <a:solidFill>
            <a:srgbClr val="2DBEAA"/>
          </a:solidFill>
          <a:ln w="10160">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61288" y="2770632"/>
            <a:ext cx="1097280" cy="228600"/>
          </a:xfrm>
          <a:prstGeom prst="rect">
            <a:avLst/>
          </a:prstGeom>
          <a:noFill/>
        </p:spPr>
        <p:txBody>
          <a:bodyPr wrap="square" lIns="18288" tIns="18288" rIns="18288" bIns="18288" anchor="t">
            <a:spAutoFit/>
          </a:bodyPr>
          <a:lstStyle/>
          <a:p>
            <a:pPr algn="l">
              <a:lnSpc>
                <a:spcPct val="100000"/>
              </a:lnSpc>
            </a:pPr>
            <a:r>
              <a:rPr sz="850" b="1">
                <a:solidFill>
                  <a:srgbClr val="A4B0BF"/>
                </a:solidFill>
                <a:latin typeface="Aptos"/>
              </a:rPr>
              <a:t>MAE</a:t>
            </a:r>
          </a:p>
        </p:txBody>
      </p:sp>
      <p:sp>
        <p:nvSpPr>
          <p:cNvPr id="11" name="TextBox 10"/>
          <p:cNvSpPr txBox="1"/>
          <p:nvPr/>
        </p:nvSpPr>
        <p:spPr>
          <a:xfrm>
            <a:off x="1161288" y="3044952"/>
            <a:ext cx="1097280" cy="50292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23.634440</a:t>
            </a:r>
          </a:p>
        </p:txBody>
      </p:sp>
      <p:sp>
        <p:nvSpPr>
          <p:cNvPr id="12" name="Rounded Rectangle 11"/>
          <p:cNvSpPr/>
          <p:nvPr/>
        </p:nvSpPr>
        <p:spPr>
          <a:xfrm>
            <a:off x="2514600" y="2606040"/>
            <a:ext cx="1417320" cy="10972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14600" y="2606040"/>
            <a:ext cx="50292" cy="1097280"/>
          </a:xfrm>
          <a:prstGeom prst="rect">
            <a:avLst/>
          </a:prstGeom>
          <a:solidFill>
            <a:srgbClr val="2DBEAA"/>
          </a:solidFill>
          <a:ln w="10160">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15768" y="2770632"/>
            <a:ext cx="1097280" cy="228600"/>
          </a:xfrm>
          <a:prstGeom prst="rect">
            <a:avLst/>
          </a:prstGeom>
          <a:noFill/>
        </p:spPr>
        <p:txBody>
          <a:bodyPr wrap="square" lIns="18288" tIns="18288" rIns="18288" bIns="18288" anchor="t">
            <a:spAutoFit/>
          </a:bodyPr>
          <a:lstStyle/>
          <a:p>
            <a:pPr algn="l">
              <a:lnSpc>
                <a:spcPct val="100000"/>
              </a:lnSpc>
            </a:pPr>
            <a:r>
              <a:rPr sz="850" b="1">
                <a:solidFill>
                  <a:srgbClr val="A4B0BF"/>
                </a:solidFill>
                <a:latin typeface="Aptos"/>
              </a:rPr>
              <a:t>RMSE</a:t>
            </a:r>
          </a:p>
        </p:txBody>
      </p:sp>
      <p:sp>
        <p:nvSpPr>
          <p:cNvPr id="15" name="TextBox 14"/>
          <p:cNvSpPr txBox="1"/>
          <p:nvPr/>
        </p:nvSpPr>
        <p:spPr>
          <a:xfrm>
            <a:off x="2715768" y="3044952"/>
            <a:ext cx="1097280" cy="50292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65.794838</a:t>
            </a:r>
          </a:p>
        </p:txBody>
      </p:sp>
      <p:sp>
        <p:nvSpPr>
          <p:cNvPr id="16" name="Rounded Rectangle 15"/>
          <p:cNvSpPr/>
          <p:nvPr/>
        </p:nvSpPr>
        <p:spPr>
          <a:xfrm>
            <a:off x="4069080" y="2606040"/>
            <a:ext cx="1417320" cy="10972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069080" y="2606040"/>
            <a:ext cx="50292" cy="1097280"/>
          </a:xfrm>
          <a:prstGeom prst="rect">
            <a:avLst/>
          </a:prstGeom>
          <a:solidFill>
            <a:srgbClr val="2DBEAA"/>
          </a:solidFill>
          <a:ln w="10160">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70248" y="2770632"/>
            <a:ext cx="1097280" cy="228600"/>
          </a:xfrm>
          <a:prstGeom prst="rect">
            <a:avLst/>
          </a:prstGeom>
          <a:noFill/>
        </p:spPr>
        <p:txBody>
          <a:bodyPr wrap="square" lIns="18288" tIns="18288" rIns="18288" bIns="18288" anchor="t">
            <a:spAutoFit/>
          </a:bodyPr>
          <a:lstStyle/>
          <a:p>
            <a:pPr algn="l">
              <a:lnSpc>
                <a:spcPct val="100000"/>
              </a:lnSpc>
            </a:pPr>
            <a:r>
              <a:rPr sz="850" b="1">
                <a:solidFill>
                  <a:srgbClr val="A4B0BF"/>
                </a:solidFill>
                <a:latin typeface="Aptos"/>
              </a:rPr>
              <a:t>R²</a:t>
            </a:r>
          </a:p>
        </p:txBody>
      </p:sp>
      <p:sp>
        <p:nvSpPr>
          <p:cNvPr id="19" name="TextBox 18"/>
          <p:cNvSpPr txBox="1"/>
          <p:nvPr/>
        </p:nvSpPr>
        <p:spPr>
          <a:xfrm>
            <a:off x="4270248" y="3044952"/>
            <a:ext cx="1097280" cy="50292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0.992369</a:t>
            </a:r>
          </a:p>
        </p:txBody>
      </p:sp>
      <p:sp>
        <p:nvSpPr>
          <p:cNvPr id="20" name="TextBox 19"/>
          <p:cNvSpPr txBox="1"/>
          <p:nvPr/>
        </p:nvSpPr>
        <p:spPr>
          <a:xfrm>
            <a:off x="960120" y="4160520"/>
            <a:ext cx="4480560" cy="320040"/>
          </a:xfrm>
          <a:prstGeom prst="rect">
            <a:avLst/>
          </a:prstGeom>
          <a:noFill/>
        </p:spPr>
        <p:txBody>
          <a:bodyPr wrap="square" lIns="18288" tIns="18288" rIns="18288" bIns="18288" anchor="t">
            <a:spAutoFit/>
          </a:bodyPr>
          <a:lstStyle/>
          <a:p>
            <a:pPr algn="l">
              <a:lnSpc>
                <a:spcPct val="100000"/>
              </a:lnSpc>
            </a:pPr>
            <a:r>
              <a:rPr sz="1100" b="0">
                <a:solidFill>
                  <a:srgbClr val="A4B0BF"/>
                </a:solidFill>
                <a:latin typeface="Aptos"/>
              </a:rPr>
              <a:t>Used during model development / selection.</a:t>
            </a:r>
          </a:p>
        </p:txBody>
      </p:sp>
      <p:sp>
        <p:nvSpPr>
          <p:cNvPr id="21" name="Rounded Rectangle 20"/>
          <p:cNvSpPr/>
          <p:nvPr/>
        </p:nvSpPr>
        <p:spPr>
          <a:xfrm>
            <a:off x="6172200" y="1828800"/>
            <a:ext cx="5166360" cy="324612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46520" y="2121408"/>
            <a:ext cx="1371600" cy="274320"/>
          </a:xfrm>
          <a:prstGeom prst="rect">
            <a:avLst/>
          </a:prstGeom>
          <a:noFill/>
        </p:spPr>
        <p:txBody>
          <a:bodyPr wrap="square" lIns="18288" tIns="18288" rIns="18288" bIns="18288" anchor="t">
            <a:spAutoFit/>
          </a:bodyPr>
          <a:lstStyle/>
          <a:p>
            <a:pPr algn="l">
              <a:lnSpc>
                <a:spcPct val="100000"/>
              </a:lnSpc>
            </a:pPr>
            <a:r>
              <a:rPr sz="1000" b="1">
                <a:solidFill>
                  <a:srgbClr val="49D3EC"/>
                </a:solidFill>
                <a:latin typeface="Aptos"/>
              </a:rPr>
              <a:t>FINAL TEST</a:t>
            </a:r>
          </a:p>
        </p:txBody>
      </p:sp>
      <p:sp>
        <p:nvSpPr>
          <p:cNvPr id="23" name="Rounded Rectangle 22"/>
          <p:cNvSpPr/>
          <p:nvPr/>
        </p:nvSpPr>
        <p:spPr>
          <a:xfrm>
            <a:off x="6446520" y="2606040"/>
            <a:ext cx="1417320" cy="10972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446520" y="2606040"/>
            <a:ext cx="50292" cy="1097280"/>
          </a:xfrm>
          <a:prstGeom prst="rect">
            <a:avLst/>
          </a:prstGeom>
          <a:solidFill>
            <a:srgbClr val="49D3EC"/>
          </a:solidFill>
          <a:ln w="10160">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47688" y="2770632"/>
            <a:ext cx="1097280" cy="228600"/>
          </a:xfrm>
          <a:prstGeom prst="rect">
            <a:avLst/>
          </a:prstGeom>
          <a:noFill/>
        </p:spPr>
        <p:txBody>
          <a:bodyPr wrap="square" lIns="18288" tIns="18288" rIns="18288" bIns="18288" anchor="t">
            <a:spAutoFit/>
          </a:bodyPr>
          <a:lstStyle/>
          <a:p>
            <a:pPr algn="l">
              <a:lnSpc>
                <a:spcPct val="100000"/>
              </a:lnSpc>
            </a:pPr>
            <a:r>
              <a:rPr sz="850" b="1">
                <a:solidFill>
                  <a:srgbClr val="A4B0BF"/>
                </a:solidFill>
                <a:latin typeface="Aptos"/>
              </a:rPr>
              <a:t>MAE</a:t>
            </a:r>
          </a:p>
        </p:txBody>
      </p:sp>
      <p:sp>
        <p:nvSpPr>
          <p:cNvPr id="26" name="TextBox 25"/>
          <p:cNvSpPr txBox="1"/>
          <p:nvPr/>
        </p:nvSpPr>
        <p:spPr>
          <a:xfrm>
            <a:off x="6647688" y="3044952"/>
            <a:ext cx="1097280" cy="50292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27.642978</a:t>
            </a:r>
          </a:p>
        </p:txBody>
      </p:sp>
      <p:sp>
        <p:nvSpPr>
          <p:cNvPr id="27" name="Rounded Rectangle 26"/>
          <p:cNvSpPr/>
          <p:nvPr/>
        </p:nvSpPr>
        <p:spPr>
          <a:xfrm>
            <a:off x="8001000" y="2606040"/>
            <a:ext cx="1417320" cy="10972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001000" y="2606040"/>
            <a:ext cx="50292" cy="1097280"/>
          </a:xfrm>
          <a:prstGeom prst="rect">
            <a:avLst/>
          </a:prstGeom>
          <a:solidFill>
            <a:srgbClr val="49D3EC"/>
          </a:solidFill>
          <a:ln w="10160">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02168" y="2770632"/>
            <a:ext cx="1097280" cy="228600"/>
          </a:xfrm>
          <a:prstGeom prst="rect">
            <a:avLst/>
          </a:prstGeom>
          <a:noFill/>
        </p:spPr>
        <p:txBody>
          <a:bodyPr wrap="square" lIns="18288" tIns="18288" rIns="18288" bIns="18288" anchor="t">
            <a:spAutoFit/>
          </a:bodyPr>
          <a:lstStyle/>
          <a:p>
            <a:pPr algn="l">
              <a:lnSpc>
                <a:spcPct val="100000"/>
              </a:lnSpc>
            </a:pPr>
            <a:r>
              <a:rPr sz="850" b="1">
                <a:solidFill>
                  <a:srgbClr val="A4B0BF"/>
                </a:solidFill>
                <a:latin typeface="Aptos"/>
              </a:rPr>
              <a:t>RMSE</a:t>
            </a:r>
          </a:p>
        </p:txBody>
      </p:sp>
      <p:sp>
        <p:nvSpPr>
          <p:cNvPr id="30" name="TextBox 29"/>
          <p:cNvSpPr txBox="1"/>
          <p:nvPr/>
        </p:nvSpPr>
        <p:spPr>
          <a:xfrm>
            <a:off x="8202168" y="3044952"/>
            <a:ext cx="1097280" cy="50292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70.938246</a:t>
            </a:r>
          </a:p>
        </p:txBody>
      </p:sp>
      <p:sp>
        <p:nvSpPr>
          <p:cNvPr id="31" name="Rounded Rectangle 30"/>
          <p:cNvSpPr/>
          <p:nvPr/>
        </p:nvSpPr>
        <p:spPr>
          <a:xfrm>
            <a:off x="9555480" y="2606040"/>
            <a:ext cx="1417320" cy="10972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555480" y="2606040"/>
            <a:ext cx="50292" cy="1097280"/>
          </a:xfrm>
          <a:prstGeom prst="rect">
            <a:avLst/>
          </a:prstGeom>
          <a:solidFill>
            <a:srgbClr val="49D3EC"/>
          </a:solidFill>
          <a:ln w="10160">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756648" y="2770632"/>
            <a:ext cx="1097280" cy="228600"/>
          </a:xfrm>
          <a:prstGeom prst="rect">
            <a:avLst/>
          </a:prstGeom>
          <a:noFill/>
        </p:spPr>
        <p:txBody>
          <a:bodyPr wrap="square" lIns="18288" tIns="18288" rIns="18288" bIns="18288" anchor="t">
            <a:spAutoFit/>
          </a:bodyPr>
          <a:lstStyle/>
          <a:p>
            <a:pPr algn="l">
              <a:lnSpc>
                <a:spcPct val="100000"/>
              </a:lnSpc>
            </a:pPr>
            <a:r>
              <a:rPr sz="850" b="1">
                <a:solidFill>
                  <a:srgbClr val="A4B0BF"/>
                </a:solidFill>
                <a:latin typeface="Aptos"/>
              </a:rPr>
              <a:t>R²</a:t>
            </a:r>
          </a:p>
        </p:txBody>
      </p:sp>
      <p:sp>
        <p:nvSpPr>
          <p:cNvPr id="34" name="TextBox 33"/>
          <p:cNvSpPr txBox="1"/>
          <p:nvPr/>
        </p:nvSpPr>
        <p:spPr>
          <a:xfrm>
            <a:off x="9756648" y="3044952"/>
            <a:ext cx="1097280" cy="50292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0.991116</a:t>
            </a:r>
          </a:p>
        </p:txBody>
      </p:sp>
      <p:sp>
        <p:nvSpPr>
          <p:cNvPr id="35" name="TextBox 34"/>
          <p:cNvSpPr txBox="1"/>
          <p:nvPr/>
        </p:nvSpPr>
        <p:spPr>
          <a:xfrm>
            <a:off x="6446520" y="4160520"/>
            <a:ext cx="4480560" cy="320040"/>
          </a:xfrm>
          <a:prstGeom prst="rect">
            <a:avLst/>
          </a:prstGeom>
          <a:noFill/>
        </p:spPr>
        <p:txBody>
          <a:bodyPr wrap="square" lIns="18288" tIns="18288" rIns="18288" bIns="18288" anchor="t">
            <a:spAutoFit/>
          </a:bodyPr>
          <a:lstStyle/>
          <a:p>
            <a:pPr algn="l">
              <a:lnSpc>
                <a:spcPct val="100000"/>
              </a:lnSpc>
            </a:pPr>
            <a:r>
              <a:rPr sz="1100" b="0">
                <a:solidFill>
                  <a:srgbClr val="A4B0BF"/>
                </a:solidFill>
                <a:latin typeface="Aptos"/>
              </a:rPr>
              <a:t>Held-out evaluation reported for the final model.</a:t>
            </a:r>
          </a:p>
        </p:txBody>
      </p:sp>
      <p:sp>
        <p:nvSpPr>
          <p:cNvPr id="36" name="TextBox 35"/>
          <p:cNvSpPr txBox="1"/>
          <p:nvPr/>
        </p:nvSpPr>
        <p:spPr>
          <a:xfrm>
            <a:off x="914400" y="5486400"/>
            <a:ext cx="9601200" cy="320040"/>
          </a:xfrm>
          <a:prstGeom prst="rect">
            <a:avLst/>
          </a:prstGeom>
          <a:noFill/>
        </p:spPr>
        <p:txBody>
          <a:bodyPr wrap="square" lIns="18288" tIns="18288" rIns="18288" bIns="18288" anchor="t">
            <a:spAutoFit/>
          </a:bodyPr>
          <a:lstStyle/>
          <a:p>
            <a:pPr algn="l">
              <a:lnSpc>
                <a:spcPct val="100000"/>
              </a:lnSpc>
            </a:pPr>
            <a:r>
              <a:rPr sz="1300" b="1">
                <a:solidFill>
                  <a:srgbClr val="F2F6FA"/>
                </a:solidFill>
                <a:latin typeface="Aptos"/>
              </a:rPr>
              <a:t>Final model: Extra Trees Regressor • 11 features</a:t>
            </a:r>
          </a:p>
        </p:txBody>
      </p:sp>
      <p:cxnSp>
        <p:nvCxnSpPr>
          <p:cNvPr id="37" name="Connector 36"/>
          <p:cNvCxnSpPr/>
          <p:nvPr/>
        </p:nvCxnSpPr>
        <p:spPr>
          <a:xfrm>
            <a:off x="502920" y="6473952"/>
            <a:ext cx="11183112" cy="0"/>
          </a:xfrm>
          <a:prstGeom prst="line">
            <a:avLst/>
          </a:prstGeom>
          <a:ln w="8890">
            <a:solidFill>
              <a:srgbClr val="263140"/>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30352" y="6537960"/>
            <a:ext cx="2926080" cy="164592"/>
          </a:xfrm>
          <a:prstGeom prst="rect">
            <a:avLst/>
          </a:prstGeom>
          <a:noFill/>
        </p:spPr>
        <p:txBody>
          <a:bodyPr wrap="square" lIns="18288" tIns="18288" rIns="18288" bIns="18288" anchor="t">
            <a:spAutoFit/>
          </a:bodyPr>
          <a:lstStyle/>
          <a:p>
            <a:pPr algn="l">
              <a:lnSpc>
                <a:spcPct val="100000"/>
              </a:lnSpc>
            </a:pPr>
            <a:r>
              <a:rPr sz="750" b="1">
                <a:solidFill>
                  <a:srgbClr val="A4B0BF"/>
                </a:solidFill>
                <a:latin typeface="Aptos"/>
              </a:rPr>
              <a:t>PARKING AVAILABILITY AI</a:t>
            </a:r>
          </a:p>
        </p:txBody>
      </p:sp>
      <p:sp>
        <p:nvSpPr>
          <p:cNvPr id="39" name="TextBox 38"/>
          <p:cNvSpPr txBox="1"/>
          <p:nvPr/>
        </p:nvSpPr>
        <p:spPr>
          <a:xfrm>
            <a:off x="8503920" y="6537960"/>
            <a:ext cx="3108960" cy="164592"/>
          </a:xfrm>
          <a:prstGeom prst="rect">
            <a:avLst/>
          </a:prstGeom>
          <a:noFill/>
        </p:spPr>
        <p:txBody>
          <a:bodyPr wrap="square" lIns="18288" tIns="18288" rIns="18288" bIns="18288" anchor="t">
            <a:spAutoFit/>
          </a:bodyPr>
          <a:lstStyle/>
          <a:p>
            <a:pPr algn="r">
              <a:lnSpc>
                <a:spcPct val="100000"/>
              </a:lnSpc>
            </a:pPr>
            <a:r>
              <a:rPr sz="750" b="0">
                <a:solidFill>
                  <a:srgbClr val="A4B0BF"/>
                </a:solidFill>
                <a:latin typeface="Aptos"/>
              </a:rPr>
              <a:t>Machine Learning • Final Review</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90D1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2743200" cy="256032"/>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15 • INTERPRETABILITY</a:t>
            </a:r>
          </a:p>
        </p:txBody>
      </p:sp>
      <p:sp>
        <p:nvSpPr>
          <p:cNvPr id="3" name="TextBox 2"/>
          <p:cNvSpPr txBox="1"/>
          <p:nvPr/>
        </p:nvSpPr>
        <p:spPr>
          <a:xfrm>
            <a:off x="502920" y="612648"/>
            <a:ext cx="10789920" cy="658368"/>
          </a:xfrm>
          <a:prstGeom prst="rect">
            <a:avLst/>
          </a:prstGeom>
          <a:noFill/>
        </p:spPr>
        <p:txBody>
          <a:bodyPr wrap="square" lIns="18288" tIns="18288" rIns="18288" bIns="18288" anchor="t">
            <a:spAutoFit/>
          </a:bodyPr>
          <a:lstStyle/>
          <a:p>
            <a:pPr algn="l">
              <a:lnSpc>
                <a:spcPct val="100000"/>
              </a:lnSpc>
            </a:pPr>
            <a:r>
              <a:rPr sz="2800" b="1">
                <a:solidFill>
                  <a:srgbClr val="F2F6FA"/>
                </a:solidFill>
                <a:latin typeface="Aptos Display"/>
              </a:rPr>
              <a:t>Feature importance: what the model uses</a:t>
            </a:r>
          </a:p>
        </p:txBody>
      </p:sp>
      <p:sp>
        <p:nvSpPr>
          <p:cNvPr id="4" name="TextBox 3"/>
          <p:cNvSpPr txBox="1"/>
          <p:nvPr/>
        </p:nvSpPr>
        <p:spPr>
          <a:xfrm>
            <a:off x="530352" y="1261872"/>
            <a:ext cx="10698480" cy="384048"/>
          </a:xfrm>
          <a:prstGeom prst="rect">
            <a:avLst/>
          </a:prstGeom>
          <a:noFill/>
        </p:spPr>
        <p:txBody>
          <a:bodyPr wrap="square" lIns="18288" tIns="18288" rIns="18288" bIns="18288" anchor="t">
            <a:spAutoFit/>
          </a:bodyPr>
          <a:lstStyle/>
          <a:p>
            <a:pPr algn="l">
              <a:lnSpc>
                <a:spcPct val="100000"/>
              </a:lnSpc>
            </a:pPr>
            <a:r>
              <a:rPr sz="1250" b="0">
                <a:solidFill>
                  <a:srgbClr val="A4B0BF"/>
                </a:solidFill>
                <a:latin typeface="Aptos"/>
              </a:rPr>
              <a:t>The supplied model assigns high predictive importance to recent availability features.</a:t>
            </a:r>
          </a:p>
        </p:txBody>
      </p:sp>
      <p:sp>
        <p:nvSpPr>
          <p:cNvPr id="5" name="TextBox 4"/>
          <p:cNvSpPr txBox="1"/>
          <p:nvPr/>
        </p:nvSpPr>
        <p:spPr>
          <a:xfrm>
            <a:off x="11292840" y="329184"/>
            <a:ext cx="411480" cy="274320"/>
          </a:xfrm>
          <a:prstGeom prst="rect">
            <a:avLst/>
          </a:prstGeom>
          <a:noFill/>
        </p:spPr>
        <p:txBody>
          <a:bodyPr wrap="square" lIns="18288" tIns="18288" rIns="18288" bIns="18288" anchor="t">
            <a:spAutoFit/>
          </a:bodyPr>
          <a:lstStyle/>
          <a:p>
            <a:pPr algn="r">
              <a:lnSpc>
                <a:spcPct val="100000"/>
              </a:lnSpc>
            </a:pPr>
            <a:r>
              <a:rPr sz="1000" b="1">
                <a:solidFill>
                  <a:srgbClr val="A4B0BF"/>
                </a:solidFill>
                <a:latin typeface="Aptos"/>
              </a:rPr>
              <a:t>16</a:t>
            </a:r>
          </a:p>
        </p:txBody>
      </p:sp>
      <p:sp>
        <p:nvSpPr>
          <p:cNvPr id="6" name="TextBox 5"/>
          <p:cNvSpPr txBox="1"/>
          <p:nvPr/>
        </p:nvSpPr>
        <p:spPr>
          <a:xfrm>
            <a:off x="777240" y="1764792"/>
            <a:ext cx="1920240" cy="438912"/>
          </a:xfrm>
          <a:prstGeom prst="rect">
            <a:avLst/>
          </a:prstGeom>
          <a:noFill/>
        </p:spPr>
        <p:txBody>
          <a:bodyPr wrap="square" lIns="18288" tIns="18288" rIns="18288" bIns="18288" anchor="t">
            <a:spAutoFit/>
          </a:bodyPr>
          <a:lstStyle/>
          <a:p>
            <a:pPr algn="l">
              <a:lnSpc>
                <a:spcPct val="100000"/>
              </a:lnSpc>
            </a:pPr>
            <a:r>
              <a:rPr sz="1100" b="1">
                <a:solidFill>
                  <a:srgbClr val="F2F6FA"/>
                </a:solidFill>
                <a:latin typeface="Aptos"/>
              </a:rPr>
              <a:t>Previous_Availability</a:t>
            </a:r>
          </a:p>
        </p:txBody>
      </p:sp>
      <p:sp>
        <p:nvSpPr>
          <p:cNvPr id="7" name="Rounded Rectangle 6"/>
          <p:cNvSpPr/>
          <p:nvPr/>
        </p:nvSpPr>
        <p:spPr>
          <a:xfrm>
            <a:off x="2788920" y="1828800"/>
            <a:ext cx="7772400" cy="347472"/>
          </a:xfrm>
          <a:prstGeom prst="roundRect">
            <a:avLst/>
          </a:prstGeom>
          <a:solidFill>
            <a:srgbClr val="161E2A"/>
          </a:solidFill>
          <a:ln w="10160">
            <a:solidFill>
              <a:srgbClr val="1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788920" y="1828800"/>
            <a:ext cx="7145211" cy="347472"/>
          </a:xfrm>
          <a:prstGeom prst="roundRect">
            <a:avLst/>
          </a:prstGeom>
          <a:solidFill>
            <a:srgbClr val="49D3EC"/>
          </a:solidFill>
          <a:ln w="10160">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34472" y="1783080"/>
            <a:ext cx="914400" cy="438912"/>
          </a:xfrm>
          <a:prstGeom prst="rect">
            <a:avLst/>
          </a:prstGeom>
          <a:noFill/>
        </p:spPr>
        <p:txBody>
          <a:bodyPr wrap="square" lIns="18288" tIns="18288" rIns="18288" bIns="18288" anchor="t">
            <a:spAutoFit/>
          </a:bodyPr>
          <a:lstStyle/>
          <a:p>
            <a:pPr algn="r">
              <a:lnSpc>
                <a:spcPct val="100000"/>
              </a:lnSpc>
            </a:pPr>
            <a:r>
              <a:rPr sz="1000" b="1">
                <a:solidFill>
                  <a:srgbClr val="F2F6FA"/>
                </a:solidFill>
                <a:latin typeface="Aptos"/>
              </a:rPr>
              <a:t>0.3218</a:t>
            </a:r>
          </a:p>
        </p:txBody>
      </p:sp>
      <p:sp>
        <p:nvSpPr>
          <p:cNvPr id="10" name="TextBox 9"/>
          <p:cNvSpPr txBox="1"/>
          <p:nvPr/>
        </p:nvSpPr>
        <p:spPr>
          <a:xfrm>
            <a:off x="777240" y="2423160"/>
            <a:ext cx="1920240" cy="438912"/>
          </a:xfrm>
          <a:prstGeom prst="rect">
            <a:avLst/>
          </a:prstGeom>
          <a:noFill/>
        </p:spPr>
        <p:txBody>
          <a:bodyPr wrap="square" lIns="18288" tIns="18288" rIns="18288" bIns="18288" anchor="t">
            <a:spAutoFit/>
          </a:bodyPr>
          <a:lstStyle/>
          <a:p>
            <a:pPr algn="l">
              <a:lnSpc>
                <a:spcPct val="100000"/>
              </a:lnSpc>
            </a:pPr>
            <a:r>
              <a:rPr sz="1100" b="1">
                <a:solidFill>
                  <a:srgbClr val="F2F6FA"/>
                </a:solidFill>
                <a:latin typeface="Aptos"/>
              </a:rPr>
              <a:t>Rolling_Average_Availability</a:t>
            </a:r>
          </a:p>
        </p:txBody>
      </p:sp>
      <p:sp>
        <p:nvSpPr>
          <p:cNvPr id="11" name="Rounded Rectangle 10"/>
          <p:cNvSpPr/>
          <p:nvPr/>
        </p:nvSpPr>
        <p:spPr>
          <a:xfrm>
            <a:off x="2788920" y="2487168"/>
            <a:ext cx="7772400" cy="347472"/>
          </a:xfrm>
          <a:prstGeom prst="roundRect">
            <a:avLst/>
          </a:prstGeom>
          <a:solidFill>
            <a:srgbClr val="161E2A"/>
          </a:solidFill>
          <a:ln w="10160">
            <a:solidFill>
              <a:srgbClr val="1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788920" y="2487168"/>
            <a:ext cx="5111752" cy="347472"/>
          </a:xfrm>
          <a:prstGeom prst="roundRect">
            <a:avLst/>
          </a:prstGeom>
          <a:solidFill>
            <a:srgbClr val="2DBEAA"/>
          </a:solidFill>
          <a:ln w="10160">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634472" y="2441448"/>
            <a:ext cx="914400" cy="438912"/>
          </a:xfrm>
          <a:prstGeom prst="rect">
            <a:avLst/>
          </a:prstGeom>
          <a:noFill/>
        </p:spPr>
        <p:txBody>
          <a:bodyPr wrap="square" lIns="18288" tIns="18288" rIns="18288" bIns="18288" anchor="t">
            <a:spAutoFit/>
          </a:bodyPr>
          <a:lstStyle/>
          <a:p>
            <a:pPr algn="r">
              <a:lnSpc>
                <a:spcPct val="100000"/>
              </a:lnSpc>
            </a:pPr>
            <a:r>
              <a:rPr sz="1000" b="1">
                <a:solidFill>
                  <a:srgbClr val="F2F6FA"/>
                </a:solidFill>
                <a:latin typeface="Aptos"/>
              </a:rPr>
              <a:t>0.2302</a:t>
            </a:r>
          </a:p>
        </p:txBody>
      </p:sp>
      <p:sp>
        <p:nvSpPr>
          <p:cNvPr id="14" name="TextBox 13"/>
          <p:cNvSpPr txBox="1"/>
          <p:nvPr/>
        </p:nvSpPr>
        <p:spPr>
          <a:xfrm>
            <a:off x="777240" y="3081527"/>
            <a:ext cx="1920240" cy="438912"/>
          </a:xfrm>
          <a:prstGeom prst="rect">
            <a:avLst/>
          </a:prstGeom>
          <a:noFill/>
        </p:spPr>
        <p:txBody>
          <a:bodyPr wrap="square" lIns="18288" tIns="18288" rIns="18288" bIns="18288" anchor="t">
            <a:spAutoFit/>
          </a:bodyPr>
          <a:lstStyle/>
          <a:p>
            <a:pPr algn="l">
              <a:lnSpc>
                <a:spcPct val="100000"/>
              </a:lnSpc>
            </a:pPr>
            <a:r>
              <a:rPr sz="1100" b="1">
                <a:solidFill>
                  <a:srgbClr val="F2F6FA"/>
                </a:solidFill>
                <a:latin typeface="Aptos"/>
              </a:rPr>
              <a:t>Lag_2_Availability</a:t>
            </a:r>
          </a:p>
        </p:txBody>
      </p:sp>
      <p:sp>
        <p:nvSpPr>
          <p:cNvPr id="15" name="Rounded Rectangle 14"/>
          <p:cNvSpPr/>
          <p:nvPr/>
        </p:nvSpPr>
        <p:spPr>
          <a:xfrm>
            <a:off x="2788920" y="3145535"/>
            <a:ext cx="7772400" cy="347472"/>
          </a:xfrm>
          <a:prstGeom prst="roundRect">
            <a:avLst/>
          </a:prstGeom>
          <a:solidFill>
            <a:srgbClr val="161E2A"/>
          </a:solidFill>
          <a:ln w="10160">
            <a:solidFill>
              <a:srgbClr val="1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2788920" y="3145535"/>
            <a:ext cx="4164185" cy="347472"/>
          </a:xfrm>
          <a:prstGeom prst="roundRect">
            <a:avLst/>
          </a:prstGeom>
          <a:solidFill>
            <a:srgbClr val="8E77FF"/>
          </a:solidFill>
          <a:ln w="10160">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634472" y="3099815"/>
            <a:ext cx="914400" cy="438912"/>
          </a:xfrm>
          <a:prstGeom prst="rect">
            <a:avLst/>
          </a:prstGeom>
          <a:noFill/>
        </p:spPr>
        <p:txBody>
          <a:bodyPr wrap="square" lIns="18288" tIns="18288" rIns="18288" bIns="18288" anchor="t">
            <a:spAutoFit/>
          </a:bodyPr>
          <a:lstStyle/>
          <a:p>
            <a:pPr algn="r">
              <a:lnSpc>
                <a:spcPct val="100000"/>
              </a:lnSpc>
            </a:pPr>
            <a:r>
              <a:rPr sz="1000" b="1">
                <a:solidFill>
                  <a:srgbClr val="F2F6FA"/>
                </a:solidFill>
                <a:latin typeface="Aptos"/>
              </a:rPr>
              <a:t>0.1875</a:t>
            </a:r>
          </a:p>
        </p:txBody>
      </p:sp>
      <p:sp>
        <p:nvSpPr>
          <p:cNvPr id="18" name="TextBox 17"/>
          <p:cNvSpPr txBox="1"/>
          <p:nvPr/>
        </p:nvSpPr>
        <p:spPr>
          <a:xfrm>
            <a:off x="777240" y="3739896"/>
            <a:ext cx="1920240" cy="438912"/>
          </a:xfrm>
          <a:prstGeom prst="rect">
            <a:avLst/>
          </a:prstGeom>
          <a:noFill/>
        </p:spPr>
        <p:txBody>
          <a:bodyPr wrap="square" lIns="18288" tIns="18288" rIns="18288" bIns="18288" anchor="t">
            <a:spAutoFit/>
          </a:bodyPr>
          <a:lstStyle/>
          <a:p>
            <a:pPr algn="l">
              <a:lnSpc>
                <a:spcPct val="100000"/>
              </a:lnSpc>
            </a:pPr>
            <a:r>
              <a:rPr sz="1100" b="1">
                <a:solidFill>
                  <a:srgbClr val="F2F6FA"/>
                </a:solidFill>
                <a:latin typeface="Aptos"/>
              </a:rPr>
              <a:t>Capacity</a:t>
            </a:r>
          </a:p>
        </p:txBody>
      </p:sp>
      <p:sp>
        <p:nvSpPr>
          <p:cNvPr id="19" name="Rounded Rectangle 18"/>
          <p:cNvSpPr/>
          <p:nvPr/>
        </p:nvSpPr>
        <p:spPr>
          <a:xfrm>
            <a:off x="2788920" y="3803904"/>
            <a:ext cx="7772400" cy="347472"/>
          </a:xfrm>
          <a:prstGeom prst="roundRect">
            <a:avLst/>
          </a:prstGeom>
          <a:solidFill>
            <a:srgbClr val="161E2A"/>
          </a:solidFill>
          <a:ln w="10160">
            <a:solidFill>
              <a:srgbClr val="1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2788920" y="3803904"/>
            <a:ext cx="2634244" cy="347472"/>
          </a:xfrm>
          <a:prstGeom prst="roundRect">
            <a:avLst/>
          </a:prstGeom>
          <a:solidFill>
            <a:srgbClr val="F5AE42"/>
          </a:solidFill>
          <a:ln w="10160">
            <a:solidFill>
              <a:srgbClr val="F5A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634472" y="3758184"/>
            <a:ext cx="914400" cy="438912"/>
          </a:xfrm>
          <a:prstGeom prst="rect">
            <a:avLst/>
          </a:prstGeom>
          <a:noFill/>
        </p:spPr>
        <p:txBody>
          <a:bodyPr wrap="square" lIns="18288" tIns="18288" rIns="18288" bIns="18288" anchor="t">
            <a:spAutoFit/>
          </a:bodyPr>
          <a:lstStyle/>
          <a:p>
            <a:pPr algn="r">
              <a:lnSpc>
                <a:spcPct val="100000"/>
              </a:lnSpc>
            </a:pPr>
            <a:r>
              <a:rPr sz="1000" b="1">
                <a:solidFill>
                  <a:srgbClr val="F2F6FA"/>
                </a:solidFill>
                <a:latin typeface="Aptos"/>
              </a:rPr>
              <a:t>0.1186</a:t>
            </a:r>
          </a:p>
        </p:txBody>
      </p:sp>
      <p:sp>
        <p:nvSpPr>
          <p:cNvPr id="22" name="TextBox 21"/>
          <p:cNvSpPr txBox="1"/>
          <p:nvPr/>
        </p:nvSpPr>
        <p:spPr>
          <a:xfrm>
            <a:off x="777240" y="4398264"/>
            <a:ext cx="1920240" cy="438912"/>
          </a:xfrm>
          <a:prstGeom prst="rect">
            <a:avLst/>
          </a:prstGeom>
          <a:noFill/>
        </p:spPr>
        <p:txBody>
          <a:bodyPr wrap="square" lIns="18288" tIns="18288" rIns="18288" bIns="18288" anchor="t">
            <a:spAutoFit/>
          </a:bodyPr>
          <a:lstStyle/>
          <a:p>
            <a:pPr algn="l">
              <a:lnSpc>
                <a:spcPct val="100000"/>
              </a:lnSpc>
            </a:pPr>
            <a:r>
              <a:rPr sz="1100" b="1">
                <a:solidFill>
                  <a:srgbClr val="F2F6FA"/>
                </a:solidFill>
                <a:latin typeface="Aptos"/>
              </a:rPr>
              <a:t>Lag_3_Availability</a:t>
            </a:r>
          </a:p>
        </p:txBody>
      </p:sp>
      <p:sp>
        <p:nvSpPr>
          <p:cNvPr id="23" name="Rounded Rectangle 22"/>
          <p:cNvSpPr/>
          <p:nvPr/>
        </p:nvSpPr>
        <p:spPr>
          <a:xfrm>
            <a:off x="2788920" y="4462272"/>
            <a:ext cx="7772400" cy="347472"/>
          </a:xfrm>
          <a:prstGeom prst="roundRect">
            <a:avLst/>
          </a:prstGeom>
          <a:solidFill>
            <a:srgbClr val="161E2A"/>
          </a:solidFill>
          <a:ln w="10160">
            <a:solidFill>
              <a:srgbClr val="1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2788920" y="4462272"/>
            <a:ext cx="2460808" cy="347472"/>
          </a:xfrm>
          <a:prstGeom prst="roundRect">
            <a:avLst/>
          </a:prstGeom>
          <a:solidFill>
            <a:srgbClr val="49D3EC"/>
          </a:solidFill>
          <a:ln w="10160">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634472" y="4416552"/>
            <a:ext cx="914400" cy="438912"/>
          </a:xfrm>
          <a:prstGeom prst="rect">
            <a:avLst/>
          </a:prstGeom>
          <a:noFill/>
        </p:spPr>
        <p:txBody>
          <a:bodyPr wrap="square" lIns="18288" tIns="18288" rIns="18288" bIns="18288" anchor="t">
            <a:spAutoFit/>
          </a:bodyPr>
          <a:lstStyle/>
          <a:p>
            <a:pPr algn="r">
              <a:lnSpc>
                <a:spcPct val="100000"/>
              </a:lnSpc>
            </a:pPr>
            <a:r>
              <a:rPr sz="1000" b="1">
                <a:solidFill>
                  <a:srgbClr val="F2F6FA"/>
                </a:solidFill>
                <a:latin typeface="Aptos"/>
              </a:rPr>
              <a:t>0.1108</a:t>
            </a:r>
          </a:p>
        </p:txBody>
      </p:sp>
      <p:sp>
        <p:nvSpPr>
          <p:cNvPr id="26" name="TextBox 25"/>
          <p:cNvSpPr txBox="1"/>
          <p:nvPr/>
        </p:nvSpPr>
        <p:spPr>
          <a:xfrm>
            <a:off x="777240" y="5056632"/>
            <a:ext cx="1920240" cy="438912"/>
          </a:xfrm>
          <a:prstGeom prst="rect">
            <a:avLst/>
          </a:prstGeom>
          <a:noFill/>
        </p:spPr>
        <p:txBody>
          <a:bodyPr wrap="square" lIns="18288" tIns="18288" rIns="18288" bIns="18288" anchor="t">
            <a:spAutoFit/>
          </a:bodyPr>
          <a:lstStyle/>
          <a:p>
            <a:pPr algn="l">
              <a:lnSpc>
                <a:spcPct val="100000"/>
              </a:lnSpc>
            </a:pPr>
            <a:r>
              <a:rPr sz="1100" b="1">
                <a:solidFill>
                  <a:srgbClr val="F2F6FA"/>
                </a:solidFill>
                <a:latin typeface="Aptos"/>
              </a:rPr>
              <a:t>Hour</a:t>
            </a:r>
          </a:p>
        </p:txBody>
      </p:sp>
      <p:sp>
        <p:nvSpPr>
          <p:cNvPr id="27" name="Rounded Rectangle 26"/>
          <p:cNvSpPr/>
          <p:nvPr/>
        </p:nvSpPr>
        <p:spPr>
          <a:xfrm>
            <a:off x="2788920" y="5120640"/>
            <a:ext cx="7772400" cy="347472"/>
          </a:xfrm>
          <a:prstGeom prst="roundRect">
            <a:avLst/>
          </a:prstGeom>
          <a:solidFill>
            <a:srgbClr val="161E2A"/>
          </a:solidFill>
          <a:ln w="10160">
            <a:solidFill>
              <a:srgbClr val="1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2788920" y="5120640"/>
            <a:ext cx="352755" cy="347472"/>
          </a:xfrm>
          <a:prstGeom prst="roundRect">
            <a:avLst/>
          </a:prstGeom>
          <a:solidFill>
            <a:srgbClr val="A4B0BF"/>
          </a:solidFill>
          <a:ln w="10160">
            <a:solidFill>
              <a:srgbClr val="A4B0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634472" y="5074920"/>
            <a:ext cx="914400" cy="438912"/>
          </a:xfrm>
          <a:prstGeom prst="rect">
            <a:avLst/>
          </a:prstGeom>
          <a:noFill/>
        </p:spPr>
        <p:txBody>
          <a:bodyPr wrap="square" lIns="18288" tIns="18288" rIns="18288" bIns="18288" anchor="t">
            <a:spAutoFit/>
          </a:bodyPr>
          <a:lstStyle/>
          <a:p>
            <a:pPr algn="r">
              <a:lnSpc>
                <a:spcPct val="100000"/>
              </a:lnSpc>
            </a:pPr>
            <a:r>
              <a:rPr sz="1000" b="1">
                <a:solidFill>
                  <a:srgbClr val="F2F6FA"/>
                </a:solidFill>
                <a:latin typeface="Aptos"/>
              </a:rPr>
              <a:t>0.0159</a:t>
            </a:r>
          </a:p>
        </p:txBody>
      </p:sp>
      <p:sp>
        <p:nvSpPr>
          <p:cNvPr id="30" name="Rounded Rectangle 29"/>
          <p:cNvSpPr/>
          <p:nvPr/>
        </p:nvSpPr>
        <p:spPr>
          <a:xfrm>
            <a:off x="777240" y="5806440"/>
            <a:ext cx="10149840" cy="457200"/>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60120" y="5925312"/>
            <a:ext cx="9692640" cy="201168"/>
          </a:xfrm>
          <a:prstGeom prst="rect">
            <a:avLst/>
          </a:prstGeom>
          <a:noFill/>
        </p:spPr>
        <p:txBody>
          <a:bodyPr wrap="square" lIns="18288" tIns="18288" rIns="18288" bIns="18288" anchor="t">
            <a:spAutoFit/>
          </a:bodyPr>
          <a:lstStyle/>
          <a:p>
            <a:pPr algn="l">
              <a:lnSpc>
                <a:spcPct val="100000"/>
              </a:lnSpc>
            </a:pPr>
            <a:r>
              <a:rPr sz="1050" b="1">
                <a:solidFill>
                  <a:srgbClr val="A4B0BF"/>
                </a:solidFill>
                <a:latin typeface="Aptos"/>
              </a:rPr>
              <a:t>Interpretation: feature importance indicates model usage; it does not establish causation.</a:t>
            </a:r>
          </a:p>
        </p:txBody>
      </p:sp>
      <p:cxnSp>
        <p:nvCxnSpPr>
          <p:cNvPr id="32" name="Connector 31"/>
          <p:cNvCxnSpPr/>
          <p:nvPr/>
        </p:nvCxnSpPr>
        <p:spPr>
          <a:xfrm>
            <a:off x="502920" y="6473952"/>
            <a:ext cx="11183112" cy="0"/>
          </a:xfrm>
          <a:prstGeom prst="line">
            <a:avLst/>
          </a:prstGeom>
          <a:ln w="8890">
            <a:solidFill>
              <a:srgbClr val="2631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30352" y="6537960"/>
            <a:ext cx="2926080" cy="164592"/>
          </a:xfrm>
          <a:prstGeom prst="rect">
            <a:avLst/>
          </a:prstGeom>
          <a:noFill/>
        </p:spPr>
        <p:txBody>
          <a:bodyPr wrap="square" lIns="18288" tIns="18288" rIns="18288" bIns="18288" anchor="t">
            <a:spAutoFit/>
          </a:bodyPr>
          <a:lstStyle/>
          <a:p>
            <a:pPr algn="l">
              <a:lnSpc>
                <a:spcPct val="100000"/>
              </a:lnSpc>
            </a:pPr>
            <a:r>
              <a:rPr sz="750" b="1">
                <a:solidFill>
                  <a:srgbClr val="A4B0BF"/>
                </a:solidFill>
                <a:latin typeface="Aptos"/>
              </a:rPr>
              <a:t>PARKING AVAILABILITY AI</a:t>
            </a:r>
          </a:p>
        </p:txBody>
      </p:sp>
      <p:sp>
        <p:nvSpPr>
          <p:cNvPr id="34" name="TextBox 33"/>
          <p:cNvSpPr txBox="1"/>
          <p:nvPr/>
        </p:nvSpPr>
        <p:spPr>
          <a:xfrm>
            <a:off x="8503920" y="6537960"/>
            <a:ext cx="3108960" cy="164592"/>
          </a:xfrm>
          <a:prstGeom prst="rect">
            <a:avLst/>
          </a:prstGeom>
          <a:noFill/>
        </p:spPr>
        <p:txBody>
          <a:bodyPr wrap="square" lIns="18288" tIns="18288" rIns="18288" bIns="18288" anchor="t">
            <a:spAutoFit/>
          </a:bodyPr>
          <a:lstStyle/>
          <a:p>
            <a:pPr algn="r">
              <a:lnSpc>
                <a:spcPct val="100000"/>
              </a:lnSpc>
            </a:pPr>
            <a:r>
              <a:rPr sz="750" b="0">
                <a:solidFill>
                  <a:srgbClr val="A4B0BF"/>
                </a:solidFill>
                <a:latin typeface="Aptos"/>
              </a:rPr>
              <a:t>Machine Learning • Final Review</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90D1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2743200" cy="256032"/>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16 • ERROR ANALYSIS</a:t>
            </a:r>
          </a:p>
        </p:txBody>
      </p:sp>
      <p:sp>
        <p:nvSpPr>
          <p:cNvPr id="3" name="TextBox 2"/>
          <p:cNvSpPr txBox="1"/>
          <p:nvPr/>
        </p:nvSpPr>
        <p:spPr>
          <a:xfrm>
            <a:off x="502920" y="612648"/>
            <a:ext cx="10789920" cy="658368"/>
          </a:xfrm>
          <a:prstGeom prst="rect">
            <a:avLst/>
          </a:prstGeom>
          <a:noFill/>
        </p:spPr>
        <p:txBody>
          <a:bodyPr wrap="square" lIns="18288" tIns="18288" rIns="18288" bIns="18288" anchor="t">
            <a:spAutoFit/>
          </a:bodyPr>
          <a:lstStyle/>
          <a:p>
            <a:pPr algn="l">
              <a:lnSpc>
                <a:spcPct val="100000"/>
              </a:lnSpc>
            </a:pPr>
            <a:r>
              <a:rPr sz="2800" b="1">
                <a:solidFill>
                  <a:srgbClr val="F2F6FA"/>
                </a:solidFill>
                <a:latin typeface="Aptos Display"/>
              </a:rPr>
              <a:t>Actual vs. predicted and residual analysis</a:t>
            </a:r>
          </a:p>
        </p:txBody>
      </p:sp>
      <p:sp>
        <p:nvSpPr>
          <p:cNvPr id="4" name="TextBox 3"/>
          <p:cNvSpPr txBox="1"/>
          <p:nvPr/>
        </p:nvSpPr>
        <p:spPr>
          <a:xfrm>
            <a:off x="530352" y="1261872"/>
            <a:ext cx="10698480" cy="384048"/>
          </a:xfrm>
          <a:prstGeom prst="rect">
            <a:avLst/>
          </a:prstGeom>
          <a:noFill/>
        </p:spPr>
        <p:txBody>
          <a:bodyPr wrap="square" lIns="18288" tIns="18288" rIns="18288" bIns="18288" anchor="t">
            <a:spAutoFit/>
          </a:bodyPr>
          <a:lstStyle/>
          <a:p>
            <a:pPr algn="l">
              <a:lnSpc>
                <a:spcPct val="100000"/>
              </a:lnSpc>
            </a:pPr>
            <a:r>
              <a:rPr sz="1250" b="0">
                <a:solidFill>
                  <a:srgbClr val="A4B0BF"/>
                </a:solidFill>
                <a:latin typeface="Aptos"/>
              </a:rPr>
              <a:t>The project includes dedicated final evaluation plots for prediction fit and residual behavior.</a:t>
            </a:r>
          </a:p>
        </p:txBody>
      </p:sp>
      <p:sp>
        <p:nvSpPr>
          <p:cNvPr id="5" name="TextBox 4"/>
          <p:cNvSpPr txBox="1"/>
          <p:nvPr/>
        </p:nvSpPr>
        <p:spPr>
          <a:xfrm>
            <a:off x="11292840" y="329184"/>
            <a:ext cx="411480" cy="274320"/>
          </a:xfrm>
          <a:prstGeom prst="rect">
            <a:avLst/>
          </a:prstGeom>
          <a:noFill/>
        </p:spPr>
        <p:txBody>
          <a:bodyPr wrap="square" lIns="18288" tIns="18288" rIns="18288" bIns="18288" anchor="t">
            <a:spAutoFit/>
          </a:bodyPr>
          <a:lstStyle/>
          <a:p>
            <a:pPr algn="r">
              <a:lnSpc>
                <a:spcPct val="100000"/>
              </a:lnSpc>
            </a:pPr>
            <a:r>
              <a:rPr sz="1000" b="1">
                <a:solidFill>
                  <a:srgbClr val="A4B0BF"/>
                </a:solidFill>
                <a:latin typeface="Aptos"/>
              </a:rPr>
              <a:t>17</a:t>
            </a:r>
          </a:p>
        </p:txBody>
      </p:sp>
      <p:sp>
        <p:nvSpPr>
          <p:cNvPr id="6" name="Rounded Rectangle 5"/>
          <p:cNvSpPr/>
          <p:nvPr/>
        </p:nvSpPr>
        <p:spPr>
          <a:xfrm>
            <a:off x="685800" y="1828800"/>
            <a:ext cx="3337560" cy="306324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14400" y="2240280"/>
            <a:ext cx="2880360" cy="1783080"/>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Connector 7"/>
          <p:cNvCxnSpPr/>
          <p:nvPr/>
        </p:nvCxnSpPr>
        <p:spPr>
          <a:xfrm flipV="1">
            <a:off x="1188720" y="2542032"/>
            <a:ext cx="2286000" cy="1188720"/>
          </a:xfrm>
          <a:prstGeom prst="line">
            <a:avLst/>
          </a:prstGeom>
          <a:ln w="22860">
            <a:solidFill>
              <a:srgbClr val="49D3E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88720" y="2542032"/>
            <a:ext cx="2286000" cy="1188720"/>
          </a:xfrm>
          <a:prstGeom prst="line">
            <a:avLst/>
          </a:prstGeom>
          <a:ln w="10160">
            <a:solidFill>
              <a:srgbClr val="26314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14400" y="4251960"/>
            <a:ext cx="2743200" cy="274320"/>
          </a:xfrm>
          <a:prstGeom prst="rect">
            <a:avLst/>
          </a:prstGeom>
          <a:noFill/>
        </p:spPr>
        <p:txBody>
          <a:bodyPr wrap="square" lIns="18288" tIns="18288" rIns="18288" bIns="18288" anchor="t">
            <a:spAutoFit/>
          </a:bodyPr>
          <a:lstStyle/>
          <a:p>
            <a:pPr algn="l">
              <a:lnSpc>
                <a:spcPct val="100000"/>
              </a:lnSpc>
            </a:pPr>
            <a:r>
              <a:rPr sz="1200" b="1">
                <a:solidFill>
                  <a:srgbClr val="F2F6FA"/>
                </a:solidFill>
                <a:latin typeface="Aptos"/>
              </a:rPr>
              <a:t>Actual vs Predicted</a:t>
            </a:r>
          </a:p>
        </p:txBody>
      </p:sp>
      <p:sp>
        <p:nvSpPr>
          <p:cNvPr id="11" name="TextBox 10"/>
          <p:cNvSpPr txBox="1"/>
          <p:nvPr/>
        </p:nvSpPr>
        <p:spPr>
          <a:xfrm>
            <a:off x="914400" y="4599432"/>
            <a:ext cx="2743200" cy="201168"/>
          </a:xfrm>
          <a:prstGeom prst="rect">
            <a:avLst/>
          </a:prstGeom>
          <a:noFill/>
        </p:spPr>
        <p:txBody>
          <a:bodyPr wrap="square" lIns="18288" tIns="18288" rIns="18288" bIns="18288" anchor="t">
            <a:spAutoFit/>
          </a:bodyPr>
          <a:lstStyle/>
          <a:p>
            <a:pPr algn="l">
              <a:lnSpc>
                <a:spcPct val="100000"/>
              </a:lnSpc>
            </a:pPr>
            <a:r>
              <a:rPr sz="819" b="0">
                <a:solidFill>
                  <a:srgbClr val="A4B0BF"/>
                </a:solidFill>
                <a:latin typeface="Aptos"/>
              </a:rPr>
              <a:t>12_final_actual_vs_predicted.png</a:t>
            </a:r>
          </a:p>
        </p:txBody>
      </p:sp>
      <p:sp>
        <p:nvSpPr>
          <p:cNvPr id="12" name="Rounded Rectangle 11"/>
          <p:cNvSpPr/>
          <p:nvPr/>
        </p:nvSpPr>
        <p:spPr>
          <a:xfrm>
            <a:off x="4416552" y="1828800"/>
            <a:ext cx="3337560" cy="306324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645152" y="2240280"/>
            <a:ext cx="2880360" cy="1783080"/>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 name="Connector 13"/>
          <p:cNvCxnSpPr/>
          <p:nvPr/>
        </p:nvCxnSpPr>
        <p:spPr>
          <a:xfrm flipV="1">
            <a:off x="4919472" y="2542032"/>
            <a:ext cx="2286000" cy="1188720"/>
          </a:xfrm>
          <a:prstGeom prst="line">
            <a:avLst/>
          </a:prstGeom>
          <a:ln w="22860">
            <a:solidFill>
              <a:srgbClr val="2DBEA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919472" y="2542032"/>
            <a:ext cx="2286000" cy="1188720"/>
          </a:xfrm>
          <a:prstGeom prst="line">
            <a:avLst/>
          </a:prstGeom>
          <a:ln w="10160">
            <a:solidFill>
              <a:srgbClr val="26314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645152" y="4251960"/>
            <a:ext cx="2743200" cy="274320"/>
          </a:xfrm>
          <a:prstGeom prst="rect">
            <a:avLst/>
          </a:prstGeom>
          <a:noFill/>
        </p:spPr>
        <p:txBody>
          <a:bodyPr wrap="square" lIns="18288" tIns="18288" rIns="18288" bIns="18288" anchor="t">
            <a:spAutoFit/>
          </a:bodyPr>
          <a:lstStyle/>
          <a:p>
            <a:pPr algn="l">
              <a:lnSpc>
                <a:spcPct val="100000"/>
              </a:lnSpc>
            </a:pPr>
            <a:r>
              <a:rPr sz="1200" b="1">
                <a:solidFill>
                  <a:srgbClr val="F2F6FA"/>
                </a:solidFill>
                <a:latin typeface="Aptos"/>
              </a:rPr>
              <a:t>Residual Distribution</a:t>
            </a:r>
          </a:p>
        </p:txBody>
      </p:sp>
      <p:sp>
        <p:nvSpPr>
          <p:cNvPr id="17" name="TextBox 16"/>
          <p:cNvSpPr txBox="1"/>
          <p:nvPr/>
        </p:nvSpPr>
        <p:spPr>
          <a:xfrm>
            <a:off x="4645152" y="4599432"/>
            <a:ext cx="2743200" cy="201168"/>
          </a:xfrm>
          <a:prstGeom prst="rect">
            <a:avLst/>
          </a:prstGeom>
          <a:noFill/>
        </p:spPr>
        <p:txBody>
          <a:bodyPr wrap="square" lIns="18288" tIns="18288" rIns="18288" bIns="18288" anchor="t">
            <a:spAutoFit/>
          </a:bodyPr>
          <a:lstStyle/>
          <a:p>
            <a:pPr algn="l">
              <a:lnSpc>
                <a:spcPct val="100000"/>
              </a:lnSpc>
            </a:pPr>
            <a:r>
              <a:rPr sz="819" b="0">
                <a:solidFill>
                  <a:srgbClr val="A4B0BF"/>
                </a:solidFill>
                <a:latin typeface="Aptos"/>
              </a:rPr>
              <a:t>13_final_residual_distribution.png</a:t>
            </a:r>
          </a:p>
        </p:txBody>
      </p:sp>
      <p:sp>
        <p:nvSpPr>
          <p:cNvPr id="18" name="Rounded Rectangle 17"/>
          <p:cNvSpPr/>
          <p:nvPr/>
        </p:nvSpPr>
        <p:spPr>
          <a:xfrm>
            <a:off x="8147304" y="1828800"/>
            <a:ext cx="3337560" cy="306324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375904" y="2240280"/>
            <a:ext cx="2880360" cy="1783080"/>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flipV="1">
            <a:off x="8650224" y="2542032"/>
            <a:ext cx="2286000" cy="1188720"/>
          </a:xfrm>
          <a:prstGeom prst="line">
            <a:avLst/>
          </a:prstGeom>
          <a:ln w="22860">
            <a:solidFill>
              <a:srgbClr val="8E77F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650224" y="2542032"/>
            <a:ext cx="2286000" cy="1188720"/>
          </a:xfrm>
          <a:prstGeom prst="line">
            <a:avLst/>
          </a:prstGeom>
          <a:ln w="10160">
            <a:solidFill>
              <a:srgbClr val="26314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375904" y="4251960"/>
            <a:ext cx="2743200" cy="274320"/>
          </a:xfrm>
          <a:prstGeom prst="rect">
            <a:avLst/>
          </a:prstGeom>
          <a:noFill/>
        </p:spPr>
        <p:txBody>
          <a:bodyPr wrap="square" lIns="18288" tIns="18288" rIns="18288" bIns="18288" anchor="t">
            <a:spAutoFit/>
          </a:bodyPr>
          <a:lstStyle/>
          <a:p>
            <a:pPr algn="l">
              <a:lnSpc>
                <a:spcPct val="100000"/>
              </a:lnSpc>
            </a:pPr>
            <a:r>
              <a:rPr sz="1200" b="1">
                <a:solidFill>
                  <a:srgbClr val="F2F6FA"/>
                </a:solidFill>
                <a:latin typeface="Aptos"/>
              </a:rPr>
              <a:t>Residual Scatter</a:t>
            </a:r>
          </a:p>
        </p:txBody>
      </p:sp>
      <p:sp>
        <p:nvSpPr>
          <p:cNvPr id="23" name="TextBox 22"/>
          <p:cNvSpPr txBox="1"/>
          <p:nvPr/>
        </p:nvSpPr>
        <p:spPr>
          <a:xfrm>
            <a:off x="8375904" y="4599432"/>
            <a:ext cx="2743200" cy="201168"/>
          </a:xfrm>
          <a:prstGeom prst="rect">
            <a:avLst/>
          </a:prstGeom>
          <a:noFill/>
        </p:spPr>
        <p:txBody>
          <a:bodyPr wrap="square" lIns="18288" tIns="18288" rIns="18288" bIns="18288" anchor="t">
            <a:spAutoFit/>
          </a:bodyPr>
          <a:lstStyle/>
          <a:p>
            <a:pPr algn="l">
              <a:lnSpc>
                <a:spcPct val="100000"/>
              </a:lnSpc>
            </a:pPr>
            <a:r>
              <a:rPr sz="819" b="0">
                <a:solidFill>
                  <a:srgbClr val="A4B0BF"/>
                </a:solidFill>
                <a:latin typeface="Aptos"/>
              </a:rPr>
              <a:t>14_final_residual_scatter.png</a:t>
            </a:r>
          </a:p>
        </p:txBody>
      </p:sp>
      <p:sp>
        <p:nvSpPr>
          <p:cNvPr id="24" name="TextBox 23"/>
          <p:cNvSpPr txBox="1"/>
          <p:nvPr/>
        </p:nvSpPr>
        <p:spPr>
          <a:xfrm>
            <a:off x="731520" y="5349240"/>
            <a:ext cx="10241280" cy="384048"/>
          </a:xfrm>
          <a:prstGeom prst="rect">
            <a:avLst/>
          </a:prstGeom>
          <a:noFill/>
        </p:spPr>
        <p:txBody>
          <a:bodyPr wrap="square" lIns="18288" tIns="18288" rIns="18288" bIns="18288" anchor="t">
            <a:spAutoFit/>
          </a:bodyPr>
          <a:lstStyle/>
          <a:p>
            <a:pPr algn="l">
              <a:lnSpc>
                <a:spcPct val="100000"/>
              </a:lnSpc>
            </a:pPr>
            <a:r>
              <a:rPr sz="950" b="0">
                <a:solidFill>
                  <a:srgbClr val="A4B0BF"/>
                </a:solidFill>
                <a:latin typeface="Aptos"/>
              </a:rPr>
              <a:t>The slide identifies the project's supplied evaluation assets; replace the schematic frames with the actual PNGs in the final deck if desired.</a:t>
            </a:r>
          </a:p>
        </p:txBody>
      </p:sp>
      <p:cxnSp>
        <p:nvCxnSpPr>
          <p:cNvPr id="25" name="Connector 24"/>
          <p:cNvCxnSpPr/>
          <p:nvPr/>
        </p:nvCxnSpPr>
        <p:spPr>
          <a:xfrm>
            <a:off x="502920" y="6473952"/>
            <a:ext cx="11183112" cy="0"/>
          </a:xfrm>
          <a:prstGeom prst="line">
            <a:avLst/>
          </a:prstGeom>
          <a:ln w="8890">
            <a:solidFill>
              <a:srgbClr val="26314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30352" y="6537960"/>
            <a:ext cx="2926080" cy="164592"/>
          </a:xfrm>
          <a:prstGeom prst="rect">
            <a:avLst/>
          </a:prstGeom>
          <a:noFill/>
        </p:spPr>
        <p:txBody>
          <a:bodyPr wrap="square" lIns="18288" tIns="18288" rIns="18288" bIns="18288" anchor="t">
            <a:spAutoFit/>
          </a:bodyPr>
          <a:lstStyle/>
          <a:p>
            <a:pPr algn="l">
              <a:lnSpc>
                <a:spcPct val="100000"/>
              </a:lnSpc>
            </a:pPr>
            <a:r>
              <a:rPr sz="750" b="1">
                <a:solidFill>
                  <a:srgbClr val="A4B0BF"/>
                </a:solidFill>
                <a:latin typeface="Aptos"/>
              </a:rPr>
              <a:t>PARKING AVAILABILITY AI</a:t>
            </a:r>
          </a:p>
        </p:txBody>
      </p:sp>
      <p:sp>
        <p:nvSpPr>
          <p:cNvPr id="27" name="TextBox 26"/>
          <p:cNvSpPr txBox="1"/>
          <p:nvPr/>
        </p:nvSpPr>
        <p:spPr>
          <a:xfrm>
            <a:off x="8503920" y="6537960"/>
            <a:ext cx="3108960" cy="164592"/>
          </a:xfrm>
          <a:prstGeom prst="rect">
            <a:avLst/>
          </a:prstGeom>
          <a:noFill/>
        </p:spPr>
        <p:txBody>
          <a:bodyPr wrap="square" lIns="18288" tIns="18288" rIns="18288" bIns="18288" anchor="t">
            <a:spAutoFit/>
          </a:bodyPr>
          <a:lstStyle/>
          <a:p>
            <a:pPr algn="r">
              <a:lnSpc>
                <a:spcPct val="100000"/>
              </a:lnSpc>
            </a:pPr>
            <a:r>
              <a:rPr sz="750" b="0">
                <a:solidFill>
                  <a:srgbClr val="A4B0BF"/>
                </a:solidFill>
                <a:latin typeface="Aptos"/>
              </a:rPr>
              <a:t>Machine Learning • Final Review</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90D1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2743200" cy="256032"/>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17 • DEPLOYMENT</a:t>
            </a:r>
          </a:p>
        </p:txBody>
      </p:sp>
      <p:sp>
        <p:nvSpPr>
          <p:cNvPr id="3" name="TextBox 2"/>
          <p:cNvSpPr txBox="1"/>
          <p:nvPr/>
        </p:nvSpPr>
        <p:spPr>
          <a:xfrm>
            <a:off x="502920" y="612648"/>
            <a:ext cx="10789920" cy="658368"/>
          </a:xfrm>
          <a:prstGeom prst="rect">
            <a:avLst/>
          </a:prstGeom>
          <a:noFill/>
        </p:spPr>
        <p:txBody>
          <a:bodyPr wrap="square" lIns="18288" tIns="18288" rIns="18288" bIns="18288" anchor="t">
            <a:spAutoFit/>
          </a:bodyPr>
          <a:lstStyle/>
          <a:p>
            <a:pPr algn="l">
              <a:lnSpc>
                <a:spcPct val="100000"/>
              </a:lnSpc>
            </a:pPr>
            <a:r>
              <a:rPr sz="2800" b="1">
                <a:solidFill>
                  <a:srgbClr val="F2F6FA"/>
                </a:solidFill>
                <a:latin typeface="Aptos Display"/>
              </a:rPr>
              <a:t>Parking Availability AI: web deployment</a:t>
            </a:r>
          </a:p>
        </p:txBody>
      </p:sp>
      <p:sp>
        <p:nvSpPr>
          <p:cNvPr id="4" name="TextBox 3"/>
          <p:cNvSpPr txBox="1"/>
          <p:nvPr/>
        </p:nvSpPr>
        <p:spPr>
          <a:xfrm>
            <a:off x="530352" y="1261872"/>
            <a:ext cx="10698480" cy="384048"/>
          </a:xfrm>
          <a:prstGeom prst="rect">
            <a:avLst/>
          </a:prstGeom>
          <a:noFill/>
        </p:spPr>
        <p:txBody>
          <a:bodyPr wrap="square" lIns="18288" tIns="18288" rIns="18288" bIns="18288" anchor="t">
            <a:spAutoFit/>
          </a:bodyPr>
          <a:lstStyle/>
          <a:p>
            <a:pPr algn="l">
              <a:lnSpc>
                <a:spcPct val="100000"/>
              </a:lnSpc>
            </a:pPr>
            <a:r>
              <a:rPr sz="1250" b="0">
                <a:solidFill>
                  <a:srgbClr val="A4B0BF"/>
                </a:solidFill>
                <a:latin typeface="Aptos"/>
              </a:rPr>
              <a:t>The saved model is exposed through a Python Flask backend and browser interface.</a:t>
            </a:r>
          </a:p>
        </p:txBody>
      </p:sp>
      <p:sp>
        <p:nvSpPr>
          <p:cNvPr id="5" name="TextBox 4"/>
          <p:cNvSpPr txBox="1"/>
          <p:nvPr/>
        </p:nvSpPr>
        <p:spPr>
          <a:xfrm>
            <a:off x="11292840" y="329184"/>
            <a:ext cx="411480" cy="274320"/>
          </a:xfrm>
          <a:prstGeom prst="rect">
            <a:avLst/>
          </a:prstGeom>
          <a:noFill/>
        </p:spPr>
        <p:txBody>
          <a:bodyPr wrap="square" lIns="18288" tIns="18288" rIns="18288" bIns="18288" anchor="t">
            <a:spAutoFit/>
          </a:bodyPr>
          <a:lstStyle/>
          <a:p>
            <a:pPr algn="r">
              <a:lnSpc>
                <a:spcPct val="100000"/>
              </a:lnSpc>
            </a:pPr>
            <a:r>
              <a:rPr sz="1000" b="1">
                <a:solidFill>
                  <a:srgbClr val="A4B0BF"/>
                </a:solidFill>
                <a:latin typeface="Aptos"/>
              </a:rPr>
              <a:t>18</a:t>
            </a:r>
          </a:p>
        </p:txBody>
      </p:sp>
      <p:sp>
        <p:nvSpPr>
          <p:cNvPr id="6" name="Rounded Rectangle 5"/>
          <p:cNvSpPr/>
          <p:nvPr/>
        </p:nvSpPr>
        <p:spPr>
          <a:xfrm>
            <a:off x="731520" y="1783080"/>
            <a:ext cx="10652760" cy="68580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938528"/>
            <a:ext cx="3017520" cy="274320"/>
          </a:xfrm>
          <a:prstGeom prst="rect">
            <a:avLst/>
          </a:prstGeom>
          <a:noFill/>
        </p:spPr>
        <p:txBody>
          <a:bodyPr wrap="square" lIns="18288" tIns="18288" rIns="18288" bIns="18288" anchor="t">
            <a:spAutoFit/>
          </a:bodyPr>
          <a:lstStyle/>
          <a:p>
            <a:pPr algn="l">
              <a:lnSpc>
                <a:spcPct val="100000"/>
              </a:lnSpc>
            </a:pPr>
            <a:r>
              <a:rPr sz="1300" b="1">
                <a:solidFill>
                  <a:srgbClr val="49D3EC"/>
                </a:solidFill>
                <a:latin typeface="Aptos"/>
              </a:rPr>
              <a:t>HTML / CSS / JavaScript</a:t>
            </a:r>
          </a:p>
        </p:txBody>
      </p:sp>
      <p:sp>
        <p:nvSpPr>
          <p:cNvPr id="8" name="TextBox 7"/>
          <p:cNvSpPr txBox="1"/>
          <p:nvPr/>
        </p:nvSpPr>
        <p:spPr>
          <a:xfrm>
            <a:off x="4251960" y="1938528"/>
            <a:ext cx="6126480" cy="274320"/>
          </a:xfrm>
          <a:prstGeom prst="rect">
            <a:avLst/>
          </a:prstGeom>
          <a:noFill/>
        </p:spPr>
        <p:txBody>
          <a:bodyPr wrap="square" lIns="18288" tIns="18288" rIns="18288" bIns="18288" anchor="t">
            <a:spAutoFit/>
          </a:bodyPr>
          <a:lstStyle/>
          <a:p>
            <a:pPr algn="l">
              <a:lnSpc>
                <a:spcPct val="100000"/>
              </a:lnSpc>
            </a:pPr>
            <a:r>
              <a:rPr sz="1200" b="1">
                <a:solidFill>
                  <a:srgbClr val="F2F6FA"/>
                </a:solidFill>
                <a:latin typeface="Aptos"/>
              </a:rPr>
              <a:t>Frontend</a:t>
            </a:r>
          </a:p>
        </p:txBody>
      </p:sp>
      <p:cxnSp>
        <p:nvCxnSpPr>
          <p:cNvPr id="9" name="Connector 8"/>
          <p:cNvCxnSpPr/>
          <p:nvPr/>
        </p:nvCxnSpPr>
        <p:spPr>
          <a:xfrm>
            <a:off x="6080760" y="2487168"/>
            <a:ext cx="0" cy="210312"/>
          </a:xfrm>
          <a:prstGeom prst="line">
            <a:avLst/>
          </a:prstGeom>
          <a:ln w="13970">
            <a:solidFill>
              <a:srgbClr val="263140"/>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31520" y="2715768"/>
            <a:ext cx="10652760" cy="68580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2871215"/>
            <a:ext cx="3017520" cy="274320"/>
          </a:xfrm>
          <a:prstGeom prst="rect">
            <a:avLst/>
          </a:prstGeom>
          <a:noFill/>
        </p:spPr>
        <p:txBody>
          <a:bodyPr wrap="square" lIns="18288" tIns="18288" rIns="18288" bIns="18288" anchor="t">
            <a:spAutoFit/>
          </a:bodyPr>
          <a:lstStyle/>
          <a:p>
            <a:pPr algn="l">
              <a:lnSpc>
                <a:spcPct val="100000"/>
              </a:lnSpc>
            </a:pPr>
            <a:r>
              <a:rPr sz="1300" b="1">
                <a:solidFill>
                  <a:srgbClr val="2DBEAA"/>
                </a:solidFill>
                <a:latin typeface="Aptos"/>
              </a:rPr>
              <a:t>Flask + Python</a:t>
            </a:r>
          </a:p>
        </p:txBody>
      </p:sp>
      <p:sp>
        <p:nvSpPr>
          <p:cNvPr id="12" name="TextBox 11"/>
          <p:cNvSpPr txBox="1"/>
          <p:nvPr/>
        </p:nvSpPr>
        <p:spPr>
          <a:xfrm>
            <a:off x="4251960" y="2871215"/>
            <a:ext cx="6126480" cy="274320"/>
          </a:xfrm>
          <a:prstGeom prst="rect">
            <a:avLst/>
          </a:prstGeom>
          <a:noFill/>
        </p:spPr>
        <p:txBody>
          <a:bodyPr wrap="square" lIns="18288" tIns="18288" rIns="18288" bIns="18288" anchor="t">
            <a:spAutoFit/>
          </a:bodyPr>
          <a:lstStyle/>
          <a:p>
            <a:pPr algn="l">
              <a:lnSpc>
                <a:spcPct val="100000"/>
              </a:lnSpc>
            </a:pPr>
            <a:r>
              <a:rPr sz="1200" b="1">
                <a:solidFill>
                  <a:srgbClr val="F2F6FA"/>
                </a:solidFill>
                <a:latin typeface="Aptos"/>
              </a:rPr>
              <a:t>Backend API</a:t>
            </a:r>
          </a:p>
        </p:txBody>
      </p:sp>
      <p:cxnSp>
        <p:nvCxnSpPr>
          <p:cNvPr id="13" name="Connector 12"/>
          <p:cNvCxnSpPr/>
          <p:nvPr/>
        </p:nvCxnSpPr>
        <p:spPr>
          <a:xfrm>
            <a:off x="6080760" y="3419856"/>
            <a:ext cx="0" cy="210312"/>
          </a:xfrm>
          <a:prstGeom prst="line">
            <a:avLst/>
          </a:prstGeom>
          <a:ln w="13970">
            <a:solidFill>
              <a:srgbClr val="263140"/>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1520" y="3648456"/>
            <a:ext cx="10652760" cy="68580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3803904"/>
            <a:ext cx="3017520" cy="274320"/>
          </a:xfrm>
          <a:prstGeom prst="rect">
            <a:avLst/>
          </a:prstGeom>
          <a:noFill/>
        </p:spPr>
        <p:txBody>
          <a:bodyPr wrap="square" lIns="18288" tIns="18288" rIns="18288" bIns="18288" anchor="t">
            <a:spAutoFit/>
          </a:bodyPr>
          <a:lstStyle/>
          <a:p>
            <a:pPr algn="l">
              <a:lnSpc>
                <a:spcPct val="100000"/>
              </a:lnSpc>
            </a:pPr>
            <a:r>
              <a:rPr sz="1300" b="1">
                <a:solidFill>
                  <a:srgbClr val="8E77FF"/>
                </a:solidFill>
                <a:latin typeface="Aptos"/>
              </a:rPr>
              <a:t>Joblib model</a:t>
            </a:r>
          </a:p>
        </p:txBody>
      </p:sp>
      <p:sp>
        <p:nvSpPr>
          <p:cNvPr id="16" name="TextBox 15"/>
          <p:cNvSpPr txBox="1"/>
          <p:nvPr/>
        </p:nvSpPr>
        <p:spPr>
          <a:xfrm>
            <a:off x="4251960" y="3803904"/>
            <a:ext cx="6126480" cy="274320"/>
          </a:xfrm>
          <a:prstGeom prst="rect">
            <a:avLst/>
          </a:prstGeom>
          <a:noFill/>
        </p:spPr>
        <p:txBody>
          <a:bodyPr wrap="square" lIns="18288" tIns="18288" rIns="18288" bIns="18288" anchor="t">
            <a:spAutoFit/>
          </a:bodyPr>
          <a:lstStyle/>
          <a:p>
            <a:pPr algn="l">
              <a:lnSpc>
                <a:spcPct val="100000"/>
              </a:lnSpc>
            </a:pPr>
            <a:r>
              <a:rPr sz="1200" b="1">
                <a:solidFill>
                  <a:srgbClr val="F2F6FA"/>
                </a:solidFill>
                <a:latin typeface="Aptos"/>
              </a:rPr>
              <a:t>best_parking_prediction_model.pkl</a:t>
            </a:r>
          </a:p>
        </p:txBody>
      </p:sp>
      <p:cxnSp>
        <p:nvCxnSpPr>
          <p:cNvPr id="17" name="Connector 16"/>
          <p:cNvCxnSpPr/>
          <p:nvPr/>
        </p:nvCxnSpPr>
        <p:spPr>
          <a:xfrm>
            <a:off x="6080760" y="4352544"/>
            <a:ext cx="0" cy="210312"/>
          </a:xfrm>
          <a:prstGeom prst="line">
            <a:avLst/>
          </a:prstGeom>
          <a:ln w="13970">
            <a:solidFill>
              <a:srgbClr val="26314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31520" y="4581144"/>
            <a:ext cx="10652760" cy="68580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4736592"/>
            <a:ext cx="3017520" cy="274320"/>
          </a:xfrm>
          <a:prstGeom prst="rect">
            <a:avLst/>
          </a:prstGeom>
          <a:noFill/>
        </p:spPr>
        <p:txBody>
          <a:bodyPr wrap="square" lIns="18288" tIns="18288" rIns="18288" bIns="18288" anchor="t">
            <a:spAutoFit/>
          </a:bodyPr>
          <a:lstStyle/>
          <a:p>
            <a:pPr algn="l">
              <a:lnSpc>
                <a:spcPct val="100000"/>
              </a:lnSpc>
            </a:pPr>
            <a:r>
              <a:rPr sz="1300" b="1">
                <a:solidFill>
                  <a:srgbClr val="F5AE42"/>
                </a:solidFill>
                <a:latin typeface="Aptos"/>
              </a:rPr>
              <a:t>Prediction + Analytics</a:t>
            </a:r>
          </a:p>
        </p:txBody>
      </p:sp>
      <p:sp>
        <p:nvSpPr>
          <p:cNvPr id="20" name="TextBox 19"/>
          <p:cNvSpPr txBox="1"/>
          <p:nvPr/>
        </p:nvSpPr>
        <p:spPr>
          <a:xfrm>
            <a:off x="4251960" y="4736592"/>
            <a:ext cx="6126480" cy="274320"/>
          </a:xfrm>
          <a:prstGeom prst="rect">
            <a:avLst/>
          </a:prstGeom>
          <a:noFill/>
        </p:spPr>
        <p:txBody>
          <a:bodyPr wrap="square" lIns="18288" tIns="18288" rIns="18288" bIns="18288" anchor="t">
            <a:spAutoFit/>
          </a:bodyPr>
          <a:lstStyle/>
          <a:p>
            <a:pPr algn="l">
              <a:lnSpc>
                <a:spcPct val="100000"/>
              </a:lnSpc>
            </a:pPr>
            <a:r>
              <a:rPr sz="1200" b="1">
                <a:solidFill>
                  <a:srgbClr val="F2F6FA"/>
                </a:solidFill>
                <a:latin typeface="Aptos"/>
              </a:rPr>
              <a:t>JSON responses</a:t>
            </a:r>
          </a:p>
        </p:txBody>
      </p:sp>
      <p:sp>
        <p:nvSpPr>
          <p:cNvPr id="21" name="Rounded Rectangle 20"/>
          <p:cNvSpPr/>
          <p:nvPr/>
        </p:nvSpPr>
        <p:spPr>
          <a:xfrm>
            <a:off x="731520" y="5715000"/>
            <a:ext cx="3429000" cy="347472"/>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8" y="5779008"/>
            <a:ext cx="3209544" cy="201168"/>
          </a:xfrm>
          <a:prstGeom prst="rect">
            <a:avLst/>
          </a:prstGeom>
          <a:noFill/>
        </p:spPr>
        <p:txBody>
          <a:bodyPr wrap="square" lIns="18288" tIns="18288" rIns="18288" bIns="18288" anchor="t">
            <a:spAutoFit/>
          </a:bodyPr>
          <a:lstStyle/>
          <a:p>
            <a:pPr algn="ctr">
              <a:lnSpc>
                <a:spcPct val="100000"/>
              </a:lnSpc>
            </a:pPr>
            <a:r>
              <a:rPr sz="950" b="1">
                <a:solidFill>
                  <a:srgbClr val="49D3EC"/>
                </a:solidFill>
                <a:latin typeface="Aptos"/>
              </a:rPr>
              <a:t>INFERENCE ONLY • NO RETRAINING ON CLICK</a:t>
            </a:r>
          </a:p>
        </p:txBody>
      </p:sp>
      <p:cxnSp>
        <p:nvCxnSpPr>
          <p:cNvPr id="23" name="Connector 22"/>
          <p:cNvCxnSpPr/>
          <p:nvPr/>
        </p:nvCxnSpPr>
        <p:spPr>
          <a:xfrm>
            <a:off x="502920" y="6473952"/>
            <a:ext cx="11183112" cy="0"/>
          </a:xfrm>
          <a:prstGeom prst="line">
            <a:avLst/>
          </a:prstGeom>
          <a:ln w="8890">
            <a:solidFill>
              <a:srgbClr val="26314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30352" y="6537960"/>
            <a:ext cx="2926080" cy="164592"/>
          </a:xfrm>
          <a:prstGeom prst="rect">
            <a:avLst/>
          </a:prstGeom>
          <a:noFill/>
        </p:spPr>
        <p:txBody>
          <a:bodyPr wrap="square" lIns="18288" tIns="18288" rIns="18288" bIns="18288" anchor="t">
            <a:spAutoFit/>
          </a:bodyPr>
          <a:lstStyle/>
          <a:p>
            <a:pPr algn="l">
              <a:lnSpc>
                <a:spcPct val="100000"/>
              </a:lnSpc>
            </a:pPr>
            <a:r>
              <a:rPr sz="750" b="1">
                <a:solidFill>
                  <a:srgbClr val="A4B0BF"/>
                </a:solidFill>
                <a:latin typeface="Aptos"/>
              </a:rPr>
              <a:t>PARKING AVAILABILITY AI</a:t>
            </a:r>
          </a:p>
        </p:txBody>
      </p:sp>
      <p:sp>
        <p:nvSpPr>
          <p:cNvPr id="25" name="TextBox 24"/>
          <p:cNvSpPr txBox="1"/>
          <p:nvPr/>
        </p:nvSpPr>
        <p:spPr>
          <a:xfrm>
            <a:off x="8503920" y="6537960"/>
            <a:ext cx="3108960" cy="164592"/>
          </a:xfrm>
          <a:prstGeom prst="rect">
            <a:avLst/>
          </a:prstGeom>
          <a:noFill/>
        </p:spPr>
        <p:txBody>
          <a:bodyPr wrap="square" lIns="18288" tIns="18288" rIns="18288" bIns="18288" anchor="t">
            <a:spAutoFit/>
          </a:bodyPr>
          <a:lstStyle/>
          <a:p>
            <a:pPr algn="r">
              <a:lnSpc>
                <a:spcPct val="100000"/>
              </a:lnSpc>
            </a:pPr>
            <a:r>
              <a:rPr sz="750" b="0">
                <a:solidFill>
                  <a:srgbClr val="A4B0BF"/>
                </a:solidFill>
                <a:latin typeface="Aptos"/>
              </a:rPr>
              <a:t>Machine Learning • Final Review</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90D1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2743200" cy="256032"/>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18 • LIVE DEMO</a:t>
            </a:r>
          </a:p>
        </p:txBody>
      </p:sp>
      <p:sp>
        <p:nvSpPr>
          <p:cNvPr id="3" name="TextBox 2"/>
          <p:cNvSpPr txBox="1"/>
          <p:nvPr/>
        </p:nvSpPr>
        <p:spPr>
          <a:xfrm>
            <a:off x="502920" y="612648"/>
            <a:ext cx="10789920" cy="658368"/>
          </a:xfrm>
          <a:prstGeom prst="rect">
            <a:avLst/>
          </a:prstGeom>
          <a:noFill/>
        </p:spPr>
        <p:txBody>
          <a:bodyPr wrap="square" lIns="18288" tIns="18288" rIns="18288" bIns="18288" anchor="t">
            <a:spAutoFit/>
          </a:bodyPr>
          <a:lstStyle/>
          <a:p>
            <a:pPr algn="l">
              <a:lnSpc>
                <a:spcPct val="100000"/>
              </a:lnSpc>
            </a:pPr>
            <a:r>
              <a:rPr sz="2800" b="1">
                <a:solidFill>
                  <a:srgbClr val="F2F6FA"/>
                </a:solidFill>
                <a:latin typeface="Aptos Display"/>
              </a:rPr>
              <a:t>Predictor Engine: from input to decision</a:t>
            </a:r>
          </a:p>
        </p:txBody>
      </p:sp>
      <p:sp>
        <p:nvSpPr>
          <p:cNvPr id="4" name="TextBox 3"/>
          <p:cNvSpPr txBox="1"/>
          <p:nvPr/>
        </p:nvSpPr>
        <p:spPr>
          <a:xfrm>
            <a:off x="530352" y="1261872"/>
            <a:ext cx="10698480" cy="384048"/>
          </a:xfrm>
          <a:prstGeom prst="rect">
            <a:avLst/>
          </a:prstGeom>
          <a:noFill/>
        </p:spPr>
        <p:txBody>
          <a:bodyPr wrap="square" lIns="18288" tIns="18288" rIns="18288" bIns="18288" anchor="t">
            <a:spAutoFit/>
          </a:bodyPr>
          <a:lstStyle/>
          <a:p>
            <a:pPr algn="l">
              <a:lnSpc>
                <a:spcPct val="100000"/>
              </a:lnSpc>
            </a:pPr>
            <a:r>
              <a:rPr sz="1250" b="0">
                <a:solidFill>
                  <a:srgbClr val="A4B0BF"/>
                </a:solidFill>
                <a:latin typeface="Aptos"/>
              </a:rPr>
              <a:t>The web UI converts user-selected context into an ML prediction and application-level parking insights.</a:t>
            </a:r>
          </a:p>
        </p:txBody>
      </p:sp>
      <p:sp>
        <p:nvSpPr>
          <p:cNvPr id="5" name="TextBox 4"/>
          <p:cNvSpPr txBox="1"/>
          <p:nvPr/>
        </p:nvSpPr>
        <p:spPr>
          <a:xfrm>
            <a:off x="11292840" y="329184"/>
            <a:ext cx="411480" cy="274320"/>
          </a:xfrm>
          <a:prstGeom prst="rect">
            <a:avLst/>
          </a:prstGeom>
          <a:noFill/>
        </p:spPr>
        <p:txBody>
          <a:bodyPr wrap="square" lIns="18288" tIns="18288" rIns="18288" bIns="18288" anchor="t">
            <a:spAutoFit/>
          </a:bodyPr>
          <a:lstStyle/>
          <a:p>
            <a:pPr algn="r">
              <a:lnSpc>
                <a:spcPct val="100000"/>
              </a:lnSpc>
            </a:pPr>
            <a:r>
              <a:rPr sz="1000" b="1">
                <a:solidFill>
                  <a:srgbClr val="A4B0BF"/>
                </a:solidFill>
                <a:latin typeface="Aptos"/>
              </a:rPr>
              <a:t>19</a:t>
            </a:r>
          </a:p>
        </p:txBody>
      </p:sp>
      <p:sp>
        <p:nvSpPr>
          <p:cNvPr id="6" name="Rounded Rectangle 5"/>
          <p:cNvSpPr/>
          <p:nvPr/>
        </p:nvSpPr>
        <p:spPr>
          <a:xfrm>
            <a:off x="594360" y="1600200"/>
            <a:ext cx="10972800" cy="438912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600200"/>
            <a:ext cx="10972800" cy="438912"/>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04672" y="1737360"/>
            <a:ext cx="100584" cy="100584"/>
          </a:xfrm>
          <a:prstGeom prst="ellipse">
            <a:avLst/>
          </a:prstGeom>
          <a:solidFill>
            <a:srgbClr val="E64E5C"/>
          </a:solidFill>
          <a:ln>
            <a:solidFill>
              <a:srgbClr val="E64E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33271" y="1737360"/>
            <a:ext cx="100584" cy="100584"/>
          </a:xfrm>
          <a:prstGeom prst="ellipse">
            <a:avLst/>
          </a:prstGeom>
          <a:solidFill>
            <a:srgbClr val="F5AE42"/>
          </a:solidFill>
          <a:ln>
            <a:solidFill>
              <a:srgbClr val="F5A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261872" y="1737360"/>
            <a:ext cx="100584" cy="100584"/>
          </a:xfrm>
          <a:prstGeom prst="ellipse">
            <a:avLst/>
          </a:prstGeom>
          <a:solidFill>
            <a:srgbClr val="5CD394"/>
          </a:solidFill>
          <a:ln>
            <a:solidFill>
              <a:srgbClr val="5CD3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645920" y="1709928"/>
            <a:ext cx="4114800" cy="201168"/>
          </a:xfrm>
          <a:prstGeom prst="rect">
            <a:avLst/>
          </a:prstGeom>
          <a:noFill/>
        </p:spPr>
        <p:txBody>
          <a:bodyPr wrap="square" lIns="18288" tIns="18288" rIns="18288" bIns="18288" anchor="t">
            <a:spAutoFit/>
          </a:bodyPr>
          <a:lstStyle/>
          <a:p>
            <a:pPr algn="l">
              <a:lnSpc>
                <a:spcPct val="100000"/>
              </a:lnSpc>
            </a:pPr>
            <a:r>
              <a:rPr sz="900" b="1">
                <a:solidFill>
                  <a:srgbClr val="A4B0BF"/>
                </a:solidFill>
                <a:latin typeface="Aptos"/>
              </a:rPr>
              <a:t>Parking Availability AI  /  Predictor Engine</a:t>
            </a:r>
          </a:p>
        </p:txBody>
      </p:sp>
      <p:sp>
        <p:nvSpPr>
          <p:cNvPr id="12" name="TextBox 11"/>
          <p:cNvSpPr txBox="1"/>
          <p:nvPr/>
        </p:nvSpPr>
        <p:spPr>
          <a:xfrm>
            <a:off x="868680" y="2331720"/>
            <a:ext cx="914400" cy="228600"/>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INPUTS</a:t>
            </a:r>
          </a:p>
        </p:txBody>
      </p:sp>
      <p:sp>
        <p:nvSpPr>
          <p:cNvPr id="13" name="Rounded Rectangle 12"/>
          <p:cNvSpPr/>
          <p:nvPr/>
        </p:nvSpPr>
        <p:spPr>
          <a:xfrm>
            <a:off x="868680" y="2697480"/>
            <a:ext cx="3063240" cy="310896"/>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2752344"/>
            <a:ext cx="2651760" cy="182880"/>
          </a:xfrm>
          <a:prstGeom prst="rect">
            <a:avLst/>
          </a:prstGeom>
          <a:noFill/>
        </p:spPr>
        <p:txBody>
          <a:bodyPr wrap="square" lIns="18288" tIns="18288" rIns="18288" bIns="18288" anchor="t">
            <a:spAutoFit/>
          </a:bodyPr>
          <a:lstStyle/>
          <a:p>
            <a:pPr algn="l">
              <a:lnSpc>
                <a:spcPct val="100000"/>
              </a:lnSpc>
            </a:pPr>
            <a:r>
              <a:rPr sz="950" b="0">
                <a:solidFill>
                  <a:srgbClr val="F2F6FA"/>
                </a:solidFill>
                <a:latin typeface="Aptos"/>
              </a:rPr>
              <a:t>Parking Location</a:t>
            </a:r>
          </a:p>
        </p:txBody>
      </p:sp>
      <p:sp>
        <p:nvSpPr>
          <p:cNvPr id="15" name="Rounded Rectangle 14"/>
          <p:cNvSpPr/>
          <p:nvPr/>
        </p:nvSpPr>
        <p:spPr>
          <a:xfrm>
            <a:off x="868680" y="3118104"/>
            <a:ext cx="3063240" cy="310896"/>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5840" y="3172968"/>
            <a:ext cx="2651760" cy="182880"/>
          </a:xfrm>
          <a:prstGeom prst="rect">
            <a:avLst/>
          </a:prstGeom>
          <a:noFill/>
        </p:spPr>
        <p:txBody>
          <a:bodyPr wrap="square" lIns="18288" tIns="18288" rIns="18288" bIns="18288" anchor="t">
            <a:spAutoFit/>
          </a:bodyPr>
          <a:lstStyle/>
          <a:p>
            <a:pPr algn="l">
              <a:lnSpc>
                <a:spcPct val="100000"/>
              </a:lnSpc>
            </a:pPr>
            <a:r>
              <a:rPr sz="950" b="0">
                <a:solidFill>
                  <a:srgbClr val="F2F6FA"/>
                </a:solidFill>
                <a:latin typeface="Aptos"/>
              </a:rPr>
              <a:t>Capacity</a:t>
            </a:r>
          </a:p>
        </p:txBody>
      </p:sp>
      <p:sp>
        <p:nvSpPr>
          <p:cNvPr id="17" name="Rounded Rectangle 16"/>
          <p:cNvSpPr/>
          <p:nvPr/>
        </p:nvSpPr>
        <p:spPr>
          <a:xfrm>
            <a:off x="868680" y="3538728"/>
            <a:ext cx="3063240" cy="310896"/>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5840" y="3593591"/>
            <a:ext cx="2651760" cy="182880"/>
          </a:xfrm>
          <a:prstGeom prst="rect">
            <a:avLst/>
          </a:prstGeom>
          <a:noFill/>
        </p:spPr>
        <p:txBody>
          <a:bodyPr wrap="square" lIns="18288" tIns="18288" rIns="18288" bIns="18288" anchor="t">
            <a:spAutoFit/>
          </a:bodyPr>
          <a:lstStyle/>
          <a:p>
            <a:pPr algn="l">
              <a:lnSpc>
                <a:spcPct val="100000"/>
              </a:lnSpc>
            </a:pPr>
            <a:r>
              <a:rPr sz="950" b="0">
                <a:solidFill>
                  <a:srgbClr val="F2F6FA"/>
                </a:solidFill>
                <a:latin typeface="Aptos"/>
              </a:rPr>
              <a:t>Day / Date / Hour</a:t>
            </a:r>
          </a:p>
        </p:txBody>
      </p:sp>
      <p:sp>
        <p:nvSpPr>
          <p:cNvPr id="19" name="Rounded Rectangle 18"/>
          <p:cNvSpPr/>
          <p:nvPr/>
        </p:nvSpPr>
        <p:spPr>
          <a:xfrm>
            <a:off x="868680" y="3959352"/>
            <a:ext cx="3063240" cy="310896"/>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4014215"/>
            <a:ext cx="2651760" cy="182880"/>
          </a:xfrm>
          <a:prstGeom prst="rect">
            <a:avLst/>
          </a:prstGeom>
          <a:noFill/>
        </p:spPr>
        <p:txBody>
          <a:bodyPr wrap="square" lIns="18288" tIns="18288" rIns="18288" bIns="18288" anchor="t">
            <a:spAutoFit/>
          </a:bodyPr>
          <a:lstStyle/>
          <a:p>
            <a:pPr algn="l">
              <a:lnSpc>
                <a:spcPct val="100000"/>
              </a:lnSpc>
            </a:pPr>
            <a:r>
              <a:rPr sz="950" b="0">
                <a:solidFill>
                  <a:srgbClr val="F2F6FA"/>
                </a:solidFill>
                <a:latin typeface="Aptos"/>
              </a:rPr>
              <a:t>Previous availability</a:t>
            </a:r>
          </a:p>
        </p:txBody>
      </p:sp>
      <p:sp>
        <p:nvSpPr>
          <p:cNvPr id="21" name="Rounded Rectangle 20"/>
          <p:cNvSpPr/>
          <p:nvPr/>
        </p:nvSpPr>
        <p:spPr>
          <a:xfrm>
            <a:off x="868680" y="4379976"/>
            <a:ext cx="3063240" cy="310896"/>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5840" y="4434840"/>
            <a:ext cx="2651760" cy="182880"/>
          </a:xfrm>
          <a:prstGeom prst="rect">
            <a:avLst/>
          </a:prstGeom>
          <a:noFill/>
        </p:spPr>
        <p:txBody>
          <a:bodyPr wrap="square" lIns="18288" tIns="18288" rIns="18288" bIns="18288" anchor="t">
            <a:spAutoFit/>
          </a:bodyPr>
          <a:lstStyle/>
          <a:p>
            <a:pPr algn="l">
              <a:lnSpc>
                <a:spcPct val="100000"/>
              </a:lnSpc>
            </a:pPr>
            <a:r>
              <a:rPr sz="950" b="0">
                <a:solidFill>
                  <a:srgbClr val="F2F6FA"/>
                </a:solidFill>
                <a:latin typeface="Aptos"/>
              </a:rPr>
              <a:t>Lag values</a:t>
            </a:r>
          </a:p>
        </p:txBody>
      </p:sp>
      <p:sp>
        <p:nvSpPr>
          <p:cNvPr id="23" name="Rounded Rectangle 22"/>
          <p:cNvSpPr/>
          <p:nvPr/>
        </p:nvSpPr>
        <p:spPr>
          <a:xfrm>
            <a:off x="868680" y="4800600"/>
            <a:ext cx="3063240" cy="310896"/>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4855464"/>
            <a:ext cx="2651760" cy="182880"/>
          </a:xfrm>
          <a:prstGeom prst="rect">
            <a:avLst/>
          </a:prstGeom>
          <a:noFill/>
        </p:spPr>
        <p:txBody>
          <a:bodyPr wrap="square" lIns="18288" tIns="18288" rIns="18288" bIns="18288" anchor="t">
            <a:spAutoFit/>
          </a:bodyPr>
          <a:lstStyle/>
          <a:p>
            <a:pPr algn="l">
              <a:lnSpc>
                <a:spcPct val="100000"/>
              </a:lnSpc>
            </a:pPr>
            <a:r>
              <a:rPr sz="950" b="0">
                <a:solidFill>
                  <a:srgbClr val="F2F6FA"/>
                </a:solidFill>
                <a:latin typeface="Aptos"/>
              </a:rPr>
              <a:t>Rolling average</a:t>
            </a:r>
          </a:p>
        </p:txBody>
      </p:sp>
      <p:sp>
        <p:nvSpPr>
          <p:cNvPr id="25" name="Right Arrow 24"/>
          <p:cNvSpPr/>
          <p:nvPr/>
        </p:nvSpPr>
        <p:spPr>
          <a:xfrm>
            <a:off x="4206240" y="3657600"/>
            <a:ext cx="914400" cy="256032"/>
          </a:xfrm>
          <a:prstGeom prst="rightArrow">
            <a:avLst/>
          </a:prstGeom>
          <a:solidFill>
            <a:srgbClr val="49D3EC"/>
          </a:solidFill>
          <a:ln>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40680" y="2331720"/>
            <a:ext cx="1828800" cy="228600"/>
          </a:xfrm>
          <a:prstGeom prst="rect">
            <a:avLst/>
          </a:prstGeom>
          <a:noFill/>
        </p:spPr>
        <p:txBody>
          <a:bodyPr wrap="square" lIns="18288" tIns="18288" rIns="18288" bIns="18288" anchor="t">
            <a:spAutoFit/>
          </a:bodyPr>
          <a:lstStyle/>
          <a:p>
            <a:pPr algn="l">
              <a:lnSpc>
                <a:spcPct val="100000"/>
              </a:lnSpc>
            </a:pPr>
            <a:r>
              <a:rPr sz="900" b="1">
                <a:solidFill>
                  <a:srgbClr val="2DBEAA"/>
                </a:solidFill>
                <a:latin typeface="Aptos"/>
              </a:rPr>
              <a:t>PREDICTION OUTPUT</a:t>
            </a:r>
          </a:p>
        </p:txBody>
      </p:sp>
      <p:sp>
        <p:nvSpPr>
          <p:cNvPr id="27" name="Rounded Rectangle 26"/>
          <p:cNvSpPr/>
          <p:nvPr/>
        </p:nvSpPr>
        <p:spPr>
          <a:xfrm>
            <a:off x="5440680" y="2697480"/>
            <a:ext cx="2514600" cy="640080"/>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577840" y="2798064"/>
            <a:ext cx="2148840" cy="228600"/>
          </a:xfrm>
          <a:prstGeom prst="rect">
            <a:avLst/>
          </a:prstGeom>
          <a:noFill/>
        </p:spPr>
        <p:txBody>
          <a:bodyPr wrap="square" lIns="18288" tIns="18288" rIns="18288" bIns="18288" anchor="t">
            <a:spAutoFit/>
          </a:bodyPr>
          <a:lstStyle/>
          <a:p>
            <a:pPr algn="l">
              <a:lnSpc>
                <a:spcPct val="100000"/>
              </a:lnSpc>
            </a:pPr>
            <a:r>
              <a:rPr sz="1100" b="1">
                <a:solidFill>
                  <a:srgbClr val="F2F6FA"/>
                </a:solidFill>
                <a:latin typeface="Aptos"/>
              </a:rPr>
              <a:t>Predicted Free Spaces</a:t>
            </a:r>
          </a:p>
        </p:txBody>
      </p:sp>
      <p:sp>
        <p:nvSpPr>
          <p:cNvPr id="29" name="TextBox 28"/>
          <p:cNvSpPr txBox="1"/>
          <p:nvPr/>
        </p:nvSpPr>
        <p:spPr>
          <a:xfrm>
            <a:off x="5577840" y="3063240"/>
            <a:ext cx="2148840" cy="164592"/>
          </a:xfrm>
          <a:prstGeom prst="rect">
            <a:avLst/>
          </a:prstGeom>
          <a:noFill/>
        </p:spPr>
        <p:txBody>
          <a:bodyPr wrap="square" lIns="18288" tIns="18288" rIns="18288" bIns="18288" anchor="t">
            <a:spAutoFit/>
          </a:bodyPr>
          <a:lstStyle/>
          <a:p>
            <a:pPr algn="l">
              <a:lnSpc>
                <a:spcPct val="100000"/>
              </a:lnSpc>
            </a:pPr>
            <a:r>
              <a:rPr sz="800" b="0">
                <a:solidFill>
                  <a:srgbClr val="A4B0BF"/>
                </a:solidFill>
                <a:latin typeface="Aptos"/>
              </a:rPr>
              <a:t>ML output</a:t>
            </a:r>
          </a:p>
        </p:txBody>
      </p:sp>
      <p:sp>
        <p:nvSpPr>
          <p:cNvPr id="30" name="Rounded Rectangle 29"/>
          <p:cNvSpPr/>
          <p:nvPr/>
        </p:nvSpPr>
        <p:spPr>
          <a:xfrm>
            <a:off x="8229600" y="2697480"/>
            <a:ext cx="2514600" cy="640080"/>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66760" y="2798064"/>
            <a:ext cx="2148840" cy="228600"/>
          </a:xfrm>
          <a:prstGeom prst="rect">
            <a:avLst/>
          </a:prstGeom>
          <a:noFill/>
        </p:spPr>
        <p:txBody>
          <a:bodyPr wrap="square" lIns="18288" tIns="18288" rIns="18288" bIns="18288" anchor="t">
            <a:spAutoFit/>
          </a:bodyPr>
          <a:lstStyle/>
          <a:p>
            <a:pPr algn="l">
              <a:lnSpc>
                <a:spcPct val="100000"/>
              </a:lnSpc>
            </a:pPr>
            <a:r>
              <a:rPr sz="1100" b="1">
                <a:solidFill>
                  <a:srgbClr val="F2F6FA"/>
                </a:solidFill>
                <a:latin typeface="Aptos"/>
              </a:rPr>
              <a:t>Occupied Spaces</a:t>
            </a:r>
          </a:p>
        </p:txBody>
      </p:sp>
      <p:sp>
        <p:nvSpPr>
          <p:cNvPr id="32" name="TextBox 31"/>
          <p:cNvSpPr txBox="1"/>
          <p:nvPr/>
        </p:nvSpPr>
        <p:spPr>
          <a:xfrm>
            <a:off x="8366760" y="3063240"/>
            <a:ext cx="2148840" cy="164592"/>
          </a:xfrm>
          <a:prstGeom prst="rect">
            <a:avLst/>
          </a:prstGeom>
          <a:noFill/>
        </p:spPr>
        <p:txBody>
          <a:bodyPr wrap="square" lIns="18288" tIns="18288" rIns="18288" bIns="18288" anchor="t">
            <a:spAutoFit/>
          </a:bodyPr>
          <a:lstStyle/>
          <a:p>
            <a:pPr algn="l">
              <a:lnSpc>
                <a:spcPct val="100000"/>
              </a:lnSpc>
            </a:pPr>
            <a:r>
              <a:rPr sz="800" b="0">
                <a:solidFill>
                  <a:srgbClr val="A4B0BF"/>
                </a:solidFill>
                <a:latin typeface="Aptos"/>
              </a:rPr>
              <a:t>Derived</a:t>
            </a:r>
          </a:p>
        </p:txBody>
      </p:sp>
      <p:sp>
        <p:nvSpPr>
          <p:cNvPr id="33" name="Rounded Rectangle 32"/>
          <p:cNvSpPr/>
          <p:nvPr/>
        </p:nvSpPr>
        <p:spPr>
          <a:xfrm>
            <a:off x="5440680" y="3520440"/>
            <a:ext cx="2514600" cy="640080"/>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577840" y="3621024"/>
            <a:ext cx="2148840" cy="228600"/>
          </a:xfrm>
          <a:prstGeom prst="rect">
            <a:avLst/>
          </a:prstGeom>
          <a:noFill/>
        </p:spPr>
        <p:txBody>
          <a:bodyPr wrap="square" lIns="18288" tIns="18288" rIns="18288" bIns="18288" anchor="t">
            <a:spAutoFit/>
          </a:bodyPr>
          <a:lstStyle/>
          <a:p>
            <a:pPr algn="l">
              <a:lnSpc>
                <a:spcPct val="100000"/>
              </a:lnSpc>
            </a:pPr>
            <a:r>
              <a:rPr sz="1100" b="1">
                <a:solidFill>
                  <a:srgbClr val="F2F6FA"/>
                </a:solidFill>
                <a:latin typeface="Aptos"/>
              </a:rPr>
              <a:t>Occupancy %</a:t>
            </a:r>
          </a:p>
        </p:txBody>
      </p:sp>
      <p:sp>
        <p:nvSpPr>
          <p:cNvPr id="35" name="TextBox 34"/>
          <p:cNvSpPr txBox="1"/>
          <p:nvPr/>
        </p:nvSpPr>
        <p:spPr>
          <a:xfrm>
            <a:off x="5577840" y="3886200"/>
            <a:ext cx="2148840" cy="164592"/>
          </a:xfrm>
          <a:prstGeom prst="rect">
            <a:avLst/>
          </a:prstGeom>
          <a:noFill/>
        </p:spPr>
        <p:txBody>
          <a:bodyPr wrap="square" lIns="18288" tIns="18288" rIns="18288" bIns="18288" anchor="t">
            <a:spAutoFit/>
          </a:bodyPr>
          <a:lstStyle/>
          <a:p>
            <a:pPr algn="l">
              <a:lnSpc>
                <a:spcPct val="100000"/>
              </a:lnSpc>
            </a:pPr>
            <a:r>
              <a:rPr sz="800" b="0">
                <a:solidFill>
                  <a:srgbClr val="A4B0BF"/>
                </a:solidFill>
                <a:latin typeface="Aptos"/>
              </a:rPr>
              <a:t>Derived</a:t>
            </a:r>
          </a:p>
        </p:txBody>
      </p:sp>
      <p:sp>
        <p:nvSpPr>
          <p:cNvPr id="36" name="Rounded Rectangle 35"/>
          <p:cNvSpPr/>
          <p:nvPr/>
        </p:nvSpPr>
        <p:spPr>
          <a:xfrm>
            <a:off x="8229600" y="3520440"/>
            <a:ext cx="2514600" cy="640080"/>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366760" y="3621024"/>
            <a:ext cx="2148840" cy="228600"/>
          </a:xfrm>
          <a:prstGeom prst="rect">
            <a:avLst/>
          </a:prstGeom>
          <a:noFill/>
        </p:spPr>
        <p:txBody>
          <a:bodyPr wrap="square" lIns="18288" tIns="18288" rIns="18288" bIns="18288" anchor="t">
            <a:spAutoFit/>
          </a:bodyPr>
          <a:lstStyle/>
          <a:p>
            <a:pPr algn="l">
              <a:lnSpc>
                <a:spcPct val="100000"/>
              </a:lnSpc>
            </a:pPr>
            <a:r>
              <a:rPr sz="1100" b="1">
                <a:solidFill>
                  <a:srgbClr val="F2F6FA"/>
                </a:solidFill>
                <a:latin typeface="Aptos"/>
              </a:rPr>
              <a:t>Availability %</a:t>
            </a:r>
          </a:p>
        </p:txBody>
      </p:sp>
      <p:sp>
        <p:nvSpPr>
          <p:cNvPr id="38" name="TextBox 37"/>
          <p:cNvSpPr txBox="1"/>
          <p:nvPr/>
        </p:nvSpPr>
        <p:spPr>
          <a:xfrm>
            <a:off x="8366760" y="3886200"/>
            <a:ext cx="2148840" cy="164592"/>
          </a:xfrm>
          <a:prstGeom prst="rect">
            <a:avLst/>
          </a:prstGeom>
          <a:noFill/>
        </p:spPr>
        <p:txBody>
          <a:bodyPr wrap="square" lIns="18288" tIns="18288" rIns="18288" bIns="18288" anchor="t">
            <a:spAutoFit/>
          </a:bodyPr>
          <a:lstStyle/>
          <a:p>
            <a:pPr algn="l">
              <a:lnSpc>
                <a:spcPct val="100000"/>
              </a:lnSpc>
            </a:pPr>
            <a:r>
              <a:rPr sz="800" b="0">
                <a:solidFill>
                  <a:srgbClr val="A4B0BF"/>
                </a:solidFill>
                <a:latin typeface="Aptos"/>
              </a:rPr>
              <a:t>Derived</a:t>
            </a:r>
          </a:p>
        </p:txBody>
      </p:sp>
      <p:sp>
        <p:nvSpPr>
          <p:cNvPr id="39" name="Rounded Rectangle 38"/>
          <p:cNvSpPr/>
          <p:nvPr/>
        </p:nvSpPr>
        <p:spPr>
          <a:xfrm>
            <a:off x="5440680" y="4343400"/>
            <a:ext cx="2514600" cy="640080"/>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577840" y="4443984"/>
            <a:ext cx="2148840" cy="228600"/>
          </a:xfrm>
          <a:prstGeom prst="rect">
            <a:avLst/>
          </a:prstGeom>
          <a:noFill/>
        </p:spPr>
        <p:txBody>
          <a:bodyPr wrap="square" lIns="18288" tIns="18288" rIns="18288" bIns="18288" anchor="t">
            <a:spAutoFit/>
          </a:bodyPr>
          <a:lstStyle/>
          <a:p>
            <a:pPr algn="l">
              <a:lnSpc>
                <a:spcPct val="100000"/>
              </a:lnSpc>
            </a:pPr>
            <a:r>
              <a:rPr sz="1100" b="1">
                <a:solidFill>
                  <a:srgbClr val="F2F6FA"/>
                </a:solidFill>
                <a:latin typeface="Aptos"/>
              </a:rPr>
              <a:t>Congestion</a:t>
            </a:r>
          </a:p>
        </p:txBody>
      </p:sp>
      <p:sp>
        <p:nvSpPr>
          <p:cNvPr id="41" name="TextBox 40"/>
          <p:cNvSpPr txBox="1"/>
          <p:nvPr/>
        </p:nvSpPr>
        <p:spPr>
          <a:xfrm>
            <a:off x="5577840" y="4709160"/>
            <a:ext cx="2148840" cy="164592"/>
          </a:xfrm>
          <a:prstGeom prst="rect">
            <a:avLst/>
          </a:prstGeom>
          <a:noFill/>
        </p:spPr>
        <p:txBody>
          <a:bodyPr wrap="square" lIns="18288" tIns="18288" rIns="18288" bIns="18288" anchor="t">
            <a:spAutoFit/>
          </a:bodyPr>
          <a:lstStyle/>
          <a:p>
            <a:pPr algn="l">
              <a:lnSpc>
                <a:spcPct val="100000"/>
              </a:lnSpc>
            </a:pPr>
            <a:r>
              <a:rPr sz="800" b="0">
                <a:solidFill>
                  <a:srgbClr val="A4B0BF"/>
                </a:solidFill>
                <a:latin typeface="Aptos"/>
              </a:rPr>
              <a:t>Application logic</a:t>
            </a:r>
          </a:p>
        </p:txBody>
      </p:sp>
      <p:sp>
        <p:nvSpPr>
          <p:cNvPr id="42" name="TextBox 41"/>
          <p:cNvSpPr txBox="1"/>
          <p:nvPr/>
        </p:nvSpPr>
        <p:spPr>
          <a:xfrm>
            <a:off x="5440680" y="5230368"/>
            <a:ext cx="5212080" cy="320040"/>
          </a:xfrm>
          <a:prstGeom prst="rect">
            <a:avLst/>
          </a:prstGeom>
          <a:noFill/>
        </p:spPr>
        <p:txBody>
          <a:bodyPr wrap="square" lIns="18288" tIns="18288" rIns="18288" bIns="18288" anchor="t">
            <a:spAutoFit/>
          </a:bodyPr>
          <a:lstStyle/>
          <a:p>
            <a:pPr algn="l">
              <a:lnSpc>
                <a:spcPct val="100000"/>
              </a:lnSpc>
            </a:pPr>
            <a:r>
              <a:rPr sz="1100" b="1">
                <a:solidFill>
                  <a:srgbClr val="A4B0BF"/>
                </a:solidFill>
                <a:latin typeface="Aptos"/>
              </a:rPr>
              <a:t>Changing the inputs changes the prediction request and dashboard output.</a:t>
            </a:r>
          </a:p>
        </p:txBody>
      </p:sp>
      <p:cxnSp>
        <p:nvCxnSpPr>
          <p:cNvPr id="43" name="Connector 42"/>
          <p:cNvCxnSpPr/>
          <p:nvPr/>
        </p:nvCxnSpPr>
        <p:spPr>
          <a:xfrm>
            <a:off x="502920" y="6473952"/>
            <a:ext cx="11183112" cy="0"/>
          </a:xfrm>
          <a:prstGeom prst="line">
            <a:avLst/>
          </a:prstGeom>
          <a:ln w="8890">
            <a:solidFill>
              <a:srgbClr val="26314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30352" y="6537960"/>
            <a:ext cx="2926080" cy="164592"/>
          </a:xfrm>
          <a:prstGeom prst="rect">
            <a:avLst/>
          </a:prstGeom>
          <a:noFill/>
        </p:spPr>
        <p:txBody>
          <a:bodyPr wrap="square" lIns="18288" tIns="18288" rIns="18288" bIns="18288" anchor="t">
            <a:spAutoFit/>
          </a:bodyPr>
          <a:lstStyle/>
          <a:p>
            <a:pPr algn="l">
              <a:lnSpc>
                <a:spcPct val="100000"/>
              </a:lnSpc>
            </a:pPr>
            <a:r>
              <a:rPr sz="750" b="1">
                <a:solidFill>
                  <a:srgbClr val="A4B0BF"/>
                </a:solidFill>
                <a:latin typeface="Aptos"/>
              </a:rPr>
              <a:t>PARKING AVAILABILITY AI</a:t>
            </a:r>
          </a:p>
        </p:txBody>
      </p:sp>
      <p:sp>
        <p:nvSpPr>
          <p:cNvPr id="45" name="TextBox 44"/>
          <p:cNvSpPr txBox="1"/>
          <p:nvPr/>
        </p:nvSpPr>
        <p:spPr>
          <a:xfrm>
            <a:off x="8503920" y="6537960"/>
            <a:ext cx="3108960" cy="164592"/>
          </a:xfrm>
          <a:prstGeom prst="rect">
            <a:avLst/>
          </a:prstGeom>
          <a:noFill/>
        </p:spPr>
        <p:txBody>
          <a:bodyPr wrap="square" lIns="18288" tIns="18288" rIns="18288" bIns="18288" anchor="t">
            <a:spAutoFit/>
          </a:bodyPr>
          <a:lstStyle/>
          <a:p>
            <a:pPr algn="r">
              <a:lnSpc>
                <a:spcPct val="100000"/>
              </a:lnSpc>
            </a:pPr>
            <a:r>
              <a:rPr sz="750" b="0">
                <a:solidFill>
                  <a:srgbClr val="A4B0BF"/>
                </a:solidFill>
                <a:latin typeface="Aptos"/>
              </a:rPr>
              <a:t>Machine Learning • Final Review</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90D1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2743200" cy="256032"/>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19 • ANALYTICS</a:t>
            </a:r>
          </a:p>
        </p:txBody>
      </p:sp>
      <p:sp>
        <p:nvSpPr>
          <p:cNvPr id="3" name="TextBox 2"/>
          <p:cNvSpPr txBox="1"/>
          <p:nvPr/>
        </p:nvSpPr>
        <p:spPr>
          <a:xfrm>
            <a:off x="502920" y="612648"/>
            <a:ext cx="10789920" cy="658368"/>
          </a:xfrm>
          <a:prstGeom prst="rect">
            <a:avLst/>
          </a:prstGeom>
          <a:noFill/>
        </p:spPr>
        <p:txBody>
          <a:bodyPr wrap="square" lIns="18288" tIns="18288" rIns="18288" bIns="18288" anchor="t">
            <a:spAutoFit/>
          </a:bodyPr>
          <a:lstStyle/>
          <a:p>
            <a:pPr algn="l">
              <a:lnSpc>
                <a:spcPct val="100000"/>
              </a:lnSpc>
            </a:pPr>
            <a:r>
              <a:rPr sz="2800" b="1">
                <a:solidFill>
                  <a:srgbClr val="F2F6FA"/>
                </a:solidFill>
                <a:latin typeface="Aptos Display"/>
              </a:rPr>
              <a:t>Application analytics</a:t>
            </a:r>
          </a:p>
        </p:txBody>
      </p:sp>
      <p:sp>
        <p:nvSpPr>
          <p:cNvPr id="4" name="TextBox 3"/>
          <p:cNvSpPr txBox="1"/>
          <p:nvPr/>
        </p:nvSpPr>
        <p:spPr>
          <a:xfrm>
            <a:off x="530352" y="1261872"/>
            <a:ext cx="10698480" cy="384048"/>
          </a:xfrm>
          <a:prstGeom prst="rect">
            <a:avLst/>
          </a:prstGeom>
          <a:noFill/>
        </p:spPr>
        <p:txBody>
          <a:bodyPr wrap="square" lIns="18288" tIns="18288" rIns="18288" bIns="18288" anchor="t">
            <a:spAutoFit/>
          </a:bodyPr>
          <a:lstStyle/>
          <a:p>
            <a:pPr algn="l">
              <a:lnSpc>
                <a:spcPct val="100000"/>
              </a:lnSpc>
            </a:pPr>
            <a:r>
              <a:rPr sz="1250" b="0">
                <a:solidFill>
                  <a:srgbClr val="A4B0BF"/>
                </a:solidFill>
                <a:latin typeface="Aptos"/>
              </a:rPr>
              <a:t>The deployed application exposes analytics through Flask and visualizes them in the browser.</a:t>
            </a:r>
          </a:p>
        </p:txBody>
      </p:sp>
      <p:sp>
        <p:nvSpPr>
          <p:cNvPr id="5" name="TextBox 4"/>
          <p:cNvSpPr txBox="1"/>
          <p:nvPr/>
        </p:nvSpPr>
        <p:spPr>
          <a:xfrm>
            <a:off x="11292840" y="329184"/>
            <a:ext cx="411480" cy="274320"/>
          </a:xfrm>
          <a:prstGeom prst="rect">
            <a:avLst/>
          </a:prstGeom>
          <a:noFill/>
        </p:spPr>
        <p:txBody>
          <a:bodyPr wrap="square" lIns="18288" tIns="18288" rIns="18288" bIns="18288" anchor="t">
            <a:spAutoFit/>
          </a:bodyPr>
          <a:lstStyle/>
          <a:p>
            <a:pPr algn="r">
              <a:lnSpc>
                <a:spcPct val="100000"/>
              </a:lnSpc>
            </a:pPr>
            <a:r>
              <a:rPr sz="1000" b="1">
                <a:solidFill>
                  <a:srgbClr val="A4B0BF"/>
                </a:solidFill>
                <a:latin typeface="Aptos"/>
              </a:rPr>
              <a:t>20</a:t>
            </a:r>
          </a:p>
        </p:txBody>
      </p:sp>
      <p:sp>
        <p:nvSpPr>
          <p:cNvPr id="6" name="Rounded Rectangle 5"/>
          <p:cNvSpPr/>
          <p:nvPr/>
        </p:nvSpPr>
        <p:spPr>
          <a:xfrm>
            <a:off x="685800" y="1783080"/>
            <a:ext cx="5166360" cy="150876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947672"/>
            <a:ext cx="3383280" cy="228600"/>
          </a:xfrm>
          <a:prstGeom prst="rect">
            <a:avLst/>
          </a:prstGeom>
          <a:noFill/>
        </p:spPr>
        <p:txBody>
          <a:bodyPr wrap="square" lIns="18288" tIns="18288" rIns="18288" bIns="18288" anchor="t">
            <a:spAutoFit/>
          </a:bodyPr>
          <a:lstStyle/>
          <a:p>
            <a:pPr algn="l">
              <a:lnSpc>
                <a:spcPct val="100000"/>
              </a:lnSpc>
            </a:pPr>
            <a:r>
              <a:rPr sz="1150" b="1">
                <a:solidFill>
                  <a:srgbClr val="F2F6FA"/>
                </a:solidFill>
                <a:latin typeface="Aptos"/>
              </a:rPr>
              <a:t>Hourly Occupancy Trend</a:t>
            </a:r>
          </a:p>
        </p:txBody>
      </p:sp>
      <p:cxnSp>
        <p:nvCxnSpPr>
          <p:cNvPr id="8" name="Connector 7"/>
          <p:cNvCxnSpPr/>
          <p:nvPr/>
        </p:nvCxnSpPr>
        <p:spPr>
          <a:xfrm flipV="1">
            <a:off x="1005840" y="2788920"/>
            <a:ext cx="0" cy="228600"/>
          </a:xfrm>
          <a:prstGeom prst="line">
            <a:avLst/>
          </a:prstGeom>
          <a:ln w="25400">
            <a:solidFill>
              <a:srgbClr val="49D3E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581912" y="2711975"/>
            <a:ext cx="0" cy="305545"/>
          </a:xfrm>
          <a:prstGeom prst="line">
            <a:avLst/>
          </a:prstGeom>
          <a:ln w="25400">
            <a:solidFill>
              <a:srgbClr val="49D3EC"/>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157984" y="2705773"/>
            <a:ext cx="0" cy="311747"/>
          </a:xfrm>
          <a:prstGeom prst="line">
            <a:avLst/>
          </a:prstGeom>
          <a:ln w="25400">
            <a:solidFill>
              <a:srgbClr val="49D3E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734056" y="2776015"/>
            <a:ext cx="0" cy="241505"/>
          </a:xfrm>
          <a:prstGeom prst="line">
            <a:avLst/>
          </a:prstGeom>
          <a:ln w="25400">
            <a:solidFill>
              <a:srgbClr val="49D3E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310128" y="2858122"/>
            <a:ext cx="0" cy="159398"/>
          </a:xfrm>
          <a:prstGeom prst="line">
            <a:avLst/>
          </a:prstGeom>
          <a:ln w="25400">
            <a:solidFill>
              <a:srgbClr val="49D3E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886200" y="2876604"/>
            <a:ext cx="0" cy="140916"/>
          </a:xfrm>
          <a:prstGeom prst="line">
            <a:avLst/>
          </a:prstGeom>
          <a:ln w="25400">
            <a:solidFill>
              <a:srgbClr val="49D3E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462272" y="2814469"/>
            <a:ext cx="0" cy="203051"/>
          </a:xfrm>
          <a:prstGeom prst="line">
            <a:avLst/>
          </a:prstGeom>
          <a:ln w="25400">
            <a:solidFill>
              <a:srgbClr val="49D3E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86968" y="3044952"/>
            <a:ext cx="1828800" cy="164592"/>
          </a:xfrm>
          <a:prstGeom prst="rect">
            <a:avLst/>
          </a:prstGeom>
          <a:noFill/>
        </p:spPr>
        <p:txBody>
          <a:bodyPr wrap="square" lIns="18288" tIns="18288" rIns="18288" bIns="18288" anchor="t">
            <a:spAutoFit/>
          </a:bodyPr>
          <a:lstStyle/>
          <a:p>
            <a:pPr algn="l">
              <a:lnSpc>
                <a:spcPct val="100000"/>
              </a:lnSpc>
            </a:pPr>
            <a:r>
              <a:rPr sz="750" b="0">
                <a:solidFill>
                  <a:srgbClr val="A4B0BF"/>
                </a:solidFill>
                <a:latin typeface="Aptos"/>
              </a:rPr>
              <a:t>Project analytics view</a:t>
            </a:r>
          </a:p>
        </p:txBody>
      </p:sp>
      <p:sp>
        <p:nvSpPr>
          <p:cNvPr id="16" name="Rounded Rectangle 15"/>
          <p:cNvSpPr/>
          <p:nvPr/>
        </p:nvSpPr>
        <p:spPr>
          <a:xfrm>
            <a:off x="6217920" y="1783080"/>
            <a:ext cx="5166360" cy="150876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19088" y="1947672"/>
            <a:ext cx="3383280" cy="228600"/>
          </a:xfrm>
          <a:prstGeom prst="rect">
            <a:avLst/>
          </a:prstGeom>
          <a:noFill/>
        </p:spPr>
        <p:txBody>
          <a:bodyPr wrap="square" lIns="18288" tIns="18288" rIns="18288" bIns="18288" anchor="t">
            <a:spAutoFit/>
          </a:bodyPr>
          <a:lstStyle/>
          <a:p>
            <a:pPr algn="l">
              <a:lnSpc>
                <a:spcPct val="100000"/>
              </a:lnSpc>
            </a:pPr>
            <a:r>
              <a:rPr sz="1150" b="1">
                <a:solidFill>
                  <a:srgbClr val="F2F6FA"/>
                </a:solidFill>
                <a:latin typeface="Aptos"/>
              </a:rPr>
              <a:t>Busiest Parking Locations</a:t>
            </a:r>
          </a:p>
        </p:txBody>
      </p:sp>
      <p:sp>
        <p:nvSpPr>
          <p:cNvPr id="18" name="Rounded Rectangle 17"/>
          <p:cNvSpPr/>
          <p:nvPr/>
        </p:nvSpPr>
        <p:spPr>
          <a:xfrm>
            <a:off x="6583680" y="2715768"/>
            <a:ext cx="384048" cy="365760"/>
          </a:xfrm>
          <a:prstGeom prst="roundRect">
            <a:avLst/>
          </a:prstGeom>
          <a:solidFill>
            <a:srgbClr val="2DBEAA"/>
          </a:solidFill>
          <a:ln w="10160">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269480" y="2459736"/>
            <a:ext cx="384048" cy="621792"/>
          </a:xfrm>
          <a:prstGeom prst="roundRect">
            <a:avLst/>
          </a:prstGeom>
          <a:solidFill>
            <a:srgbClr val="2DBEAA"/>
          </a:solidFill>
          <a:ln w="10160">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955279" y="2606040"/>
            <a:ext cx="384048" cy="475488"/>
          </a:xfrm>
          <a:prstGeom prst="roundRect">
            <a:avLst/>
          </a:prstGeom>
          <a:solidFill>
            <a:srgbClr val="2DBEAA"/>
          </a:solidFill>
          <a:ln w="10160">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641080" y="2788920"/>
            <a:ext cx="384048" cy="292608"/>
          </a:xfrm>
          <a:prstGeom prst="roundRect">
            <a:avLst/>
          </a:prstGeom>
          <a:solidFill>
            <a:srgbClr val="2DBEAA"/>
          </a:solidFill>
          <a:ln w="10160">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3044952"/>
            <a:ext cx="1828800" cy="164592"/>
          </a:xfrm>
          <a:prstGeom prst="rect">
            <a:avLst/>
          </a:prstGeom>
          <a:noFill/>
        </p:spPr>
        <p:txBody>
          <a:bodyPr wrap="square" lIns="18288" tIns="18288" rIns="18288" bIns="18288" anchor="t">
            <a:spAutoFit/>
          </a:bodyPr>
          <a:lstStyle/>
          <a:p>
            <a:pPr algn="l">
              <a:lnSpc>
                <a:spcPct val="100000"/>
              </a:lnSpc>
            </a:pPr>
            <a:r>
              <a:rPr sz="750" b="0">
                <a:solidFill>
                  <a:srgbClr val="A4B0BF"/>
                </a:solidFill>
                <a:latin typeface="Aptos"/>
              </a:rPr>
              <a:t>Project analytics view</a:t>
            </a:r>
          </a:p>
        </p:txBody>
      </p:sp>
      <p:sp>
        <p:nvSpPr>
          <p:cNvPr id="23" name="Rounded Rectangle 22"/>
          <p:cNvSpPr/>
          <p:nvPr/>
        </p:nvSpPr>
        <p:spPr>
          <a:xfrm>
            <a:off x="685800" y="3657600"/>
            <a:ext cx="5166360" cy="150876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86968" y="3822191"/>
            <a:ext cx="3383280" cy="228600"/>
          </a:xfrm>
          <a:prstGeom prst="rect">
            <a:avLst/>
          </a:prstGeom>
          <a:noFill/>
        </p:spPr>
        <p:txBody>
          <a:bodyPr wrap="square" lIns="18288" tIns="18288" rIns="18288" bIns="18288" anchor="t">
            <a:spAutoFit/>
          </a:bodyPr>
          <a:lstStyle/>
          <a:p>
            <a:pPr algn="l">
              <a:lnSpc>
                <a:spcPct val="100000"/>
              </a:lnSpc>
            </a:pPr>
            <a:r>
              <a:rPr sz="1150" b="1">
                <a:solidFill>
                  <a:srgbClr val="F2F6FA"/>
                </a:solidFill>
                <a:latin typeface="Aptos"/>
              </a:rPr>
              <a:t>Occupancy Load Distribution</a:t>
            </a:r>
          </a:p>
        </p:txBody>
      </p:sp>
      <p:sp>
        <p:nvSpPr>
          <p:cNvPr id="25" name="Rounded Rectangle 24"/>
          <p:cNvSpPr/>
          <p:nvPr/>
        </p:nvSpPr>
        <p:spPr>
          <a:xfrm>
            <a:off x="1097280" y="4809744"/>
            <a:ext cx="411480" cy="155448"/>
          </a:xfrm>
          <a:prstGeom prst="roundRect">
            <a:avLst/>
          </a:prstGeom>
          <a:solidFill>
            <a:srgbClr val="8E77FF"/>
          </a:solidFill>
          <a:ln w="10160">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1664207" y="4615433"/>
            <a:ext cx="411480" cy="349758"/>
          </a:xfrm>
          <a:prstGeom prst="roundRect">
            <a:avLst/>
          </a:prstGeom>
          <a:solidFill>
            <a:srgbClr val="8E77FF"/>
          </a:solidFill>
          <a:ln w="10160">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2231136" y="4382262"/>
            <a:ext cx="411480" cy="582930"/>
          </a:xfrm>
          <a:prstGeom prst="roundRect">
            <a:avLst/>
          </a:prstGeom>
          <a:solidFill>
            <a:srgbClr val="8E77FF"/>
          </a:solidFill>
          <a:ln w="10160">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2798063" y="4537709"/>
            <a:ext cx="411480" cy="427482"/>
          </a:xfrm>
          <a:prstGeom prst="roundRect">
            <a:avLst/>
          </a:prstGeom>
          <a:solidFill>
            <a:srgbClr val="8E77FF"/>
          </a:solidFill>
          <a:ln w="10160">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3364991" y="4770881"/>
            <a:ext cx="411480" cy="194310"/>
          </a:xfrm>
          <a:prstGeom prst="roundRect">
            <a:avLst/>
          </a:prstGeom>
          <a:solidFill>
            <a:srgbClr val="8E77FF"/>
          </a:solidFill>
          <a:ln w="10160">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86968" y="4919472"/>
            <a:ext cx="1828800" cy="164592"/>
          </a:xfrm>
          <a:prstGeom prst="rect">
            <a:avLst/>
          </a:prstGeom>
          <a:noFill/>
        </p:spPr>
        <p:txBody>
          <a:bodyPr wrap="square" lIns="18288" tIns="18288" rIns="18288" bIns="18288" anchor="t">
            <a:spAutoFit/>
          </a:bodyPr>
          <a:lstStyle/>
          <a:p>
            <a:pPr algn="l">
              <a:lnSpc>
                <a:spcPct val="100000"/>
              </a:lnSpc>
            </a:pPr>
            <a:r>
              <a:rPr sz="750" b="0">
                <a:solidFill>
                  <a:srgbClr val="A4B0BF"/>
                </a:solidFill>
                <a:latin typeface="Aptos"/>
              </a:rPr>
              <a:t>Project analytics view</a:t>
            </a:r>
          </a:p>
        </p:txBody>
      </p:sp>
      <p:sp>
        <p:nvSpPr>
          <p:cNvPr id="31" name="Rounded Rectangle 30"/>
          <p:cNvSpPr/>
          <p:nvPr/>
        </p:nvSpPr>
        <p:spPr>
          <a:xfrm>
            <a:off x="6217920" y="3657600"/>
            <a:ext cx="5166360" cy="150876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19088" y="3822191"/>
            <a:ext cx="3383280" cy="228600"/>
          </a:xfrm>
          <a:prstGeom prst="rect">
            <a:avLst/>
          </a:prstGeom>
          <a:noFill/>
        </p:spPr>
        <p:txBody>
          <a:bodyPr wrap="square" lIns="18288" tIns="18288" rIns="18288" bIns="18288" anchor="t">
            <a:spAutoFit/>
          </a:bodyPr>
          <a:lstStyle/>
          <a:p>
            <a:pPr algn="l">
              <a:lnSpc>
                <a:spcPct val="100000"/>
              </a:lnSpc>
            </a:pPr>
            <a:r>
              <a:rPr sz="1150" b="1">
                <a:solidFill>
                  <a:srgbClr val="F2F6FA"/>
                </a:solidFill>
                <a:latin typeface="Aptos"/>
              </a:rPr>
              <a:t>Actual vs Predicted Free Spaces</a:t>
            </a:r>
          </a:p>
        </p:txBody>
      </p:sp>
      <p:cxnSp>
        <p:nvCxnSpPr>
          <p:cNvPr id="33" name="Connector 32"/>
          <p:cNvCxnSpPr/>
          <p:nvPr/>
        </p:nvCxnSpPr>
        <p:spPr>
          <a:xfrm flipV="1">
            <a:off x="6629400" y="4160520"/>
            <a:ext cx="4114800" cy="731520"/>
          </a:xfrm>
          <a:prstGeom prst="line">
            <a:avLst/>
          </a:prstGeom>
          <a:ln w="22860">
            <a:solidFill>
              <a:srgbClr val="F5AE42"/>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629400" y="4434840"/>
            <a:ext cx="4114800" cy="0"/>
          </a:xfrm>
          <a:prstGeom prst="line">
            <a:avLst/>
          </a:prstGeom>
          <a:ln w="12700">
            <a:solidFill>
              <a:srgbClr val="26314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419088" y="4919472"/>
            <a:ext cx="1828800" cy="164592"/>
          </a:xfrm>
          <a:prstGeom prst="rect">
            <a:avLst/>
          </a:prstGeom>
          <a:noFill/>
        </p:spPr>
        <p:txBody>
          <a:bodyPr wrap="square" lIns="18288" tIns="18288" rIns="18288" bIns="18288" anchor="t">
            <a:spAutoFit/>
          </a:bodyPr>
          <a:lstStyle/>
          <a:p>
            <a:pPr algn="l">
              <a:lnSpc>
                <a:spcPct val="100000"/>
              </a:lnSpc>
            </a:pPr>
            <a:r>
              <a:rPr sz="750" b="0">
                <a:solidFill>
                  <a:srgbClr val="A4B0BF"/>
                </a:solidFill>
                <a:latin typeface="Aptos"/>
              </a:rPr>
              <a:t>Project analytics view</a:t>
            </a:r>
          </a:p>
        </p:txBody>
      </p:sp>
      <p:cxnSp>
        <p:nvCxnSpPr>
          <p:cNvPr id="36" name="Connector 35"/>
          <p:cNvCxnSpPr/>
          <p:nvPr/>
        </p:nvCxnSpPr>
        <p:spPr>
          <a:xfrm>
            <a:off x="502920" y="6473952"/>
            <a:ext cx="11183112" cy="0"/>
          </a:xfrm>
          <a:prstGeom prst="line">
            <a:avLst/>
          </a:prstGeom>
          <a:ln w="8890">
            <a:solidFill>
              <a:srgbClr val="26314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30352" y="6537960"/>
            <a:ext cx="2926080" cy="164592"/>
          </a:xfrm>
          <a:prstGeom prst="rect">
            <a:avLst/>
          </a:prstGeom>
          <a:noFill/>
        </p:spPr>
        <p:txBody>
          <a:bodyPr wrap="square" lIns="18288" tIns="18288" rIns="18288" bIns="18288" anchor="t">
            <a:spAutoFit/>
          </a:bodyPr>
          <a:lstStyle/>
          <a:p>
            <a:pPr algn="l">
              <a:lnSpc>
                <a:spcPct val="100000"/>
              </a:lnSpc>
            </a:pPr>
            <a:r>
              <a:rPr sz="750" b="1">
                <a:solidFill>
                  <a:srgbClr val="A4B0BF"/>
                </a:solidFill>
                <a:latin typeface="Aptos"/>
              </a:rPr>
              <a:t>PARKING AVAILABILITY AI</a:t>
            </a:r>
          </a:p>
        </p:txBody>
      </p:sp>
      <p:sp>
        <p:nvSpPr>
          <p:cNvPr id="38" name="TextBox 37"/>
          <p:cNvSpPr txBox="1"/>
          <p:nvPr/>
        </p:nvSpPr>
        <p:spPr>
          <a:xfrm>
            <a:off x="8503920" y="6537960"/>
            <a:ext cx="3108960" cy="164592"/>
          </a:xfrm>
          <a:prstGeom prst="rect">
            <a:avLst/>
          </a:prstGeom>
          <a:noFill/>
        </p:spPr>
        <p:txBody>
          <a:bodyPr wrap="square" lIns="18288" tIns="18288" rIns="18288" bIns="18288" anchor="t">
            <a:spAutoFit/>
          </a:bodyPr>
          <a:lstStyle/>
          <a:p>
            <a:pPr algn="r">
              <a:lnSpc>
                <a:spcPct val="100000"/>
              </a:lnSpc>
            </a:pPr>
            <a:r>
              <a:rPr sz="750" b="0">
                <a:solidFill>
                  <a:srgbClr val="A4B0BF"/>
                </a:solidFill>
                <a:latin typeface="Aptos"/>
              </a:rPr>
              <a:t>Machine Learning • Final Review</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90D1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2743200" cy="256032"/>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20 • MODEL DASHBOARD</a:t>
            </a:r>
          </a:p>
        </p:txBody>
      </p:sp>
      <p:sp>
        <p:nvSpPr>
          <p:cNvPr id="3" name="TextBox 2"/>
          <p:cNvSpPr txBox="1"/>
          <p:nvPr/>
        </p:nvSpPr>
        <p:spPr>
          <a:xfrm>
            <a:off x="502920" y="612648"/>
            <a:ext cx="10789920" cy="658368"/>
          </a:xfrm>
          <a:prstGeom prst="rect">
            <a:avLst/>
          </a:prstGeom>
          <a:noFill/>
        </p:spPr>
        <p:txBody>
          <a:bodyPr wrap="square" lIns="18288" tIns="18288" rIns="18288" bIns="18288" anchor="t">
            <a:spAutoFit/>
          </a:bodyPr>
          <a:lstStyle/>
          <a:p>
            <a:pPr algn="l">
              <a:lnSpc>
                <a:spcPct val="100000"/>
              </a:lnSpc>
            </a:pPr>
            <a:r>
              <a:rPr sz="2800" b="1">
                <a:solidFill>
                  <a:srgbClr val="F2F6FA"/>
                </a:solidFill>
                <a:latin typeface="Aptos Display"/>
              </a:rPr>
              <a:t>Model Performance inside the application</a:t>
            </a:r>
          </a:p>
        </p:txBody>
      </p:sp>
      <p:sp>
        <p:nvSpPr>
          <p:cNvPr id="4" name="TextBox 3"/>
          <p:cNvSpPr txBox="1"/>
          <p:nvPr/>
        </p:nvSpPr>
        <p:spPr>
          <a:xfrm>
            <a:off x="530352" y="1261872"/>
            <a:ext cx="10698480" cy="384048"/>
          </a:xfrm>
          <a:prstGeom prst="rect">
            <a:avLst/>
          </a:prstGeom>
          <a:noFill/>
        </p:spPr>
        <p:txBody>
          <a:bodyPr wrap="square" lIns="18288" tIns="18288" rIns="18288" bIns="18288" anchor="t">
            <a:spAutoFit/>
          </a:bodyPr>
          <a:lstStyle/>
          <a:p>
            <a:pPr algn="l">
              <a:lnSpc>
                <a:spcPct val="100000"/>
              </a:lnSpc>
            </a:pPr>
            <a:r>
              <a:rPr sz="1250" b="0">
                <a:solidFill>
                  <a:srgbClr val="A4B0BF"/>
                </a:solidFill>
                <a:latin typeface="Aptos"/>
              </a:rPr>
              <a:t>The website brings evaluation artifacts into the deployed interface.</a:t>
            </a:r>
          </a:p>
        </p:txBody>
      </p:sp>
      <p:sp>
        <p:nvSpPr>
          <p:cNvPr id="5" name="TextBox 4"/>
          <p:cNvSpPr txBox="1"/>
          <p:nvPr/>
        </p:nvSpPr>
        <p:spPr>
          <a:xfrm>
            <a:off x="11292840" y="329184"/>
            <a:ext cx="411480" cy="274320"/>
          </a:xfrm>
          <a:prstGeom prst="rect">
            <a:avLst/>
          </a:prstGeom>
          <a:noFill/>
        </p:spPr>
        <p:txBody>
          <a:bodyPr wrap="square" lIns="18288" tIns="18288" rIns="18288" bIns="18288" anchor="t">
            <a:spAutoFit/>
          </a:bodyPr>
          <a:lstStyle/>
          <a:p>
            <a:pPr algn="r">
              <a:lnSpc>
                <a:spcPct val="100000"/>
              </a:lnSpc>
            </a:pPr>
            <a:r>
              <a:rPr sz="1000" b="1">
                <a:solidFill>
                  <a:srgbClr val="A4B0BF"/>
                </a:solidFill>
                <a:latin typeface="Aptos"/>
              </a:rPr>
              <a:t>21</a:t>
            </a:r>
          </a:p>
        </p:txBody>
      </p:sp>
      <p:sp>
        <p:nvSpPr>
          <p:cNvPr id="6" name="Rounded Rectangle 5"/>
          <p:cNvSpPr/>
          <p:nvPr/>
        </p:nvSpPr>
        <p:spPr>
          <a:xfrm>
            <a:off x="685800" y="1737360"/>
            <a:ext cx="2194560" cy="114300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737360"/>
            <a:ext cx="50292" cy="1143000"/>
          </a:xfrm>
          <a:prstGeom prst="rect">
            <a:avLst/>
          </a:prstGeom>
          <a:solidFill>
            <a:srgbClr val="49D3EC"/>
          </a:solidFill>
          <a:ln w="10160">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901952"/>
            <a:ext cx="1874519" cy="228600"/>
          </a:xfrm>
          <a:prstGeom prst="rect">
            <a:avLst/>
          </a:prstGeom>
          <a:noFill/>
        </p:spPr>
        <p:txBody>
          <a:bodyPr wrap="square" lIns="18288" tIns="18288" rIns="18288" bIns="18288" anchor="t">
            <a:spAutoFit/>
          </a:bodyPr>
          <a:lstStyle/>
          <a:p>
            <a:pPr algn="l">
              <a:lnSpc>
                <a:spcPct val="100000"/>
              </a:lnSpc>
            </a:pPr>
            <a:r>
              <a:rPr sz="850" b="1">
                <a:solidFill>
                  <a:srgbClr val="A4B0BF"/>
                </a:solidFill>
                <a:latin typeface="Aptos"/>
              </a:rPr>
              <a:t>EXTRA TREES R²</a:t>
            </a:r>
          </a:p>
        </p:txBody>
      </p:sp>
      <p:sp>
        <p:nvSpPr>
          <p:cNvPr id="9" name="TextBox 8"/>
          <p:cNvSpPr txBox="1"/>
          <p:nvPr/>
        </p:nvSpPr>
        <p:spPr>
          <a:xfrm>
            <a:off x="886968" y="2176272"/>
            <a:ext cx="1874519" cy="50292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0.991116</a:t>
            </a:r>
          </a:p>
        </p:txBody>
      </p:sp>
      <p:sp>
        <p:nvSpPr>
          <p:cNvPr id="10" name="TextBox 9"/>
          <p:cNvSpPr txBox="1"/>
          <p:nvPr/>
        </p:nvSpPr>
        <p:spPr>
          <a:xfrm>
            <a:off x="886968" y="2532888"/>
            <a:ext cx="1874519" cy="219456"/>
          </a:xfrm>
          <a:prstGeom prst="rect">
            <a:avLst/>
          </a:prstGeom>
          <a:noFill/>
        </p:spPr>
        <p:txBody>
          <a:bodyPr wrap="square" lIns="18288" tIns="18288" rIns="18288" bIns="18288" anchor="t">
            <a:spAutoFit/>
          </a:bodyPr>
          <a:lstStyle/>
          <a:p>
            <a:pPr algn="l">
              <a:lnSpc>
                <a:spcPct val="100000"/>
              </a:lnSpc>
            </a:pPr>
            <a:r>
              <a:rPr sz="850" b="0">
                <a:solidFill>
                  <a:srgbClr val="A4B0BF"/>
                </a:solidFill>
                <a:latin typeface="Aptos"/>
              </a:rPr>
              <a:t>final test</a:t>
            </a:r>
          </a:p>
        </p:txBody>
      </p:sp>
      <p:sp>
        <p:nvSpPr>
          <p:cNvPr id="11" name="Rounded Rectangle 10"/>
          <p:cNvSpPr/>
          <p:nvPr/>
        </p:nvSpPr>
        <p:spPr>
          <a:xfrm>
            <a:off x="3063240" y="1737360"/>
            <a:ext cx="2194560" cy="114300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063240" y="1737360"/>
            <a:ext cx="50292" cy="1143000"/>
          </a:xfrm>
          <a:prstGeom prst="rect">
            <a:avLst/>
          </a:prstGeom>
          <a:solidFill>
            <a:srgbClr val="2DBEAA"/>
          </a:solidFill>
          <a:ln w="10160">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64408" y="1901952"/>
            <a:ext cx="1874519" cy="228600"/>
          </a:xfrm>
          <a:prstGeom prst="rect">
            <a:avLst/>
          </a:prstGeom>
          <a:noFill/>
        </p:spPr>
        <p:txBody>
          <a:bodyPr wrap="square" lIns="18288" tIns="18288" rIns="18288" bIns="18288" anchor="t">
            <a:spAutoFit/>
          </a:bodyPr>
          <a:lstStyle/>
          <a:p>
            <a:pPr algn="l">
              <a:lnSpc>
                <a:spcPct val="100000"/>
              </a:lnSpc>
            </a:pPr>
            <a:r>
              <a:rPr sz="850" b="1">
                <a:solidFill>
                  <a:srgbClr val="A4B0BF"/>
                </a:solidFill>
                <a:latin typeface="Aptos"/>
              </a:rPr>
              <a:t>TEST MAE</a:t>
            </a:r>
          </a:p>
        </p:txBody>
      </p:sp>
      <p:sp>
        <p:nvSpPr>
          <p:cNvPr id="14" name="TextBox 13"/>
          <p:cNvSpPr txBox="1"/>
          <p:nvPr/>
        </p:nvSpPr>
        <p:spPr>
          <a:xfrm>
            <a:off x="3264408" y="2176272"/>
            <a:ext cx="1874519" cy="50292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27.642978</a:t>
            </a:r>
          </a:p>
        </p:txBody>
      </p:sp>
      <p:sp>
        <p:nvSpPr>
          <p:cNvPr id="15" name="Rounded Rectangle 14"/>
          <p:cNvSpPr/>
          <p:nvPr/>
        </p:nvSpPr>
        <p:spPr>
          <a:xfrm>
            <a:off x="5440680" y="1737360"/>
            <a:ext cx="2194560" cy="114300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440680" y="1737360"/>
            <a:ext cx="50292" cy="1143000"/>
          </a:xfrm>
          <a:prstGeom prst="rect">
            <a:avLst/>
          </a:prstGeom>
          <a:solidFill>
            <a:srgbClr val="8E77FF"/>
          </a:solidFill>
          <a:ln w="10160">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41848" y="1901952"/>
            <a:ext cx="1874519" cy="228600"/>
          </a:xfrm>
          <a:prstGeom prst="rect">
            <a:avLst/>
          </a:prstGeom>
          <a:noFill/>
        </p:spPr>
        <p:txBody>
          <a:bodyPr wrap="square" lIns="18288" tIns="18288" rIns="18288" bIns="18288" anchor="t">
            <a:spAutoFit/>
          </a:bodyPr>
          <a:lstStyle/>
          <a:p>
            <a:pPr algn="l">
              <a:lnSpc>
                <a:spcPct val="100000"/>
              </a:lnSpc>
            </a:pPr>
            <a:r>
              <a:rPr sz="850" b="1">
                <a:solidFill>
                  <a:srgbClr val="A4B0BF"/>
                </a:solidFill>
                <a:latin typeface="Aptos"/>
              </a:rPr>
              <a:t>TEST RMSE</a:t>
            </a:r>
          </a:p>
        </p:txBody>
      </p:sp>
      <p:sp>
        <p:nvSpPr>
          <p:cNvPr id="18" name="TextBox 17"/>
          <p:cNvSpPr txBox="1"/>
          <p:nvPr/>
        </p:nvSpPr>
        <p:spPr>
          <a:xfrm>
            <a:off x="5641848" y="2176272"/>
            <a:ext cx="1874519" cy="50292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70.938246</a:t>
            </a:r>
          </a:p>
        </p:txBody>
      </p:sp>
      <p:sp>
        <p:nvSpPr>
          <p:cNvPr id="19" name="Rounded Rectangle 18"/>
          <p:cNvSpPr/>
          <p:nvPr/>
        </p:nvSpPr>
        <p:spPr>
          <a:xfrm>
            <a:off x="7818120" y="1737360"/>
            <a:ext cx="2194560" cy="114300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818120" y="1737360"/>
            <a:ext cx="50292" cy="1143000"/>
          </a:xfrm>
          <a:prstGeom prst="rect">
            <a:avLst/>
          </a:prstGeom>
          <a:solidFill>
            <a:srgbClr val="F5AE42"/>
          </a:solidFill>
          <a:ln w="10160">
            <a:solidFill>
              <a:srgbClr val="F5A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19288" y="1901952"/>
            <a:ext cx="1874519" cy="228600"/>
          </a:xfrm>
          <a:prstGeom prst="rect">
            <a:avLst/>
          </a:prstGeom>
          <a:noFill/>
        </p:spPr>
        <p:txBody>
          <a:bodyPr wrap="square" lIns="18288" tIns="18288" rIns="18288" bIns="18288" anchor="t">
            <a:spAutoFit/>
          </a:bodyPr>
          <a:lstStyle/>
          <a:p>
            <a:pPr algn="l">
              <a:lnSpc>
                <a:spcPct val="100000"/>
              </a:lnSpc>
            </a:pPr>
            <a:r>
              <a:rPr sz="850" b="1">
                <a:solidFill>
                  <a:srgbClr val="A4B0BF"/>
                </a:solidFill>
                <a:latin typeface="Aptos"/>
              </a:rPr>
              <a:t>FEATURES</a:t>
            </a:r>
          </a:p>
        </p:txBody>
      </p:sp>
      <p:sp>
        <p:nvSpPr>
          <p:cNvPr id="22" name="TextBox 21"/>
          <p:cNvSpPr txBox="1"/>
          <p:nvPr/>
        </p:nvSpPr>
        <p:spPr>
          <a:xfrm>
            <a:off x="8019288" y="2176272"/>
            <a:ext cx="1874519" cy="502920"/>
          </a:xfrm>
          <a:prstGeom prst="rect">
            <a:avLst/>
          </a:prstGeom>
          <a:noFill/>
        </p:spPr>
        <p:txBody>
          <a:bodyPr wrap="square" lIns="18288" tIns="18288" rIns="18288" bIns="18288" anchor="t">
            <a:spAutoFit/>
          </a:bodyPr>
          <a:lstStyle/>
          <a:p>
            <a:pPr algn="l">
              <a:lnSpc>
                <a:spcPct val="100000"/>
              </a:lnSpc>
            </a:pPr>
            <a:r>
              <a:rPr sz="2300" b="1">
                <a:solidFill>
                  <a:srgbClr val="F2F6FA"/>
                </a:solidFill>
                <a:latin typeface="Aptos Display"/>
              </a:rPr>
              <a:t>11</a:t>
            </a:r>
          </a:p>
        </p:txBody>
      </p:sp>
      <p:sp>
        <p:nvSpPr>
          <p:cNvPr id="23" name="Rounded Rectangle 22"/>
          <p:cNvSpPr/>
          <p:nvPr/>
        </p:nvSpPr>
        <p:spPr>
          <a:xfrm>
            <a:off x="685800" y="3246120"/>
            <a:ext cx="5166360" cy="196596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 y="3493008"/>
            <a:ext cx="2011680" cy="228600"/>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MODEL COMPARISON</a:t>
            </a:r>
          </a:p>
        </p:txBody>
      </p:sp>
      <p:sp>
        <p:nvSpPr>
          <p:cNvPr id="25" name="TextBox 24"/>
          <p:cNvSpPr txBox="1"/>
          <p:nvPr/>
        </p:nvSpPr>
        <p:spPr>
          <a:xfrm>
            <a:off x="914400" y="3913632"/>
            <a:ext cx="1554480" cy="201168"/>
          </a:xfrm>
          <a:prstGeom prst="rect">
            <a:avLst/>
          </a:prstGeom>
          <a:noFill/>
        </p:spPr>
        <p:txBody>
          <a:bodyPr wrap="square" lIns="18288" tIns="18288" rIns="18288" bIns="18288" anchor="t">
            <a:spAutoFit/>
          </a:bodyPr>
          <a:lstStyle/>
          <a:p>
            <a:pPr algn="l">
              <a:lnSpc>
                <a:spcPct val="100000"/>
              </a:lnSpc>
            </a:pPr>
            <a:r>
              <a:rPr sz="950" b="1">
                <a:solidFill>
                  <a:srgbClr val="F2F6FA"/>
                </a:solidFill>
                <a:latin typeface="Aptos"/>
              </a:rPr>
              <a:t>Extra Trees</a:t>
            </a:r>
          </a:p>
        </p:txBody>
      </p:sp>
      <p:sp>
        <p:nvSpPr>
          <p:cNvPr id="26" name="TextBox 25"/>
          <p:cNvSpPr txBox="1"/>
          <p:nvPr/>
        </p:nvSpPr>
        <p:spPr>
          <a:xfrm>
            <a:off x="2788920" y="3913632"/>
            <a:ext cx="1097280" cy="201168"/>
          </a:xfrm>
          <a:prstGeom prst="rect">
            <a:avLst/>
          </a:prstGeom>
          <a:noFill/>
        </p:spPr>
        <p:txBody>
          <a:bodyPr wrap="square" lIns="18288" tIns="18288" rIns="18288" bIns="18288" anchor="t">
            <a:spAutoFit/>
          </a:bodyPr>
          <a:lstStyle/>
          <a:p>
            <a:pPr algn="l">
              <a:lnSpc>
                <a:spcPct val="100000"/>
              </a:lnSpc>
            </a:pPr>
            <a:r>
              <a:rPr sz="950" b="1">
                <a:solidFill>
                  <a:srgbClr val="49D3EC"/>
                </a:solidFill>
                <a:latin typeface="Aptos"/>
              </a:rPr>
              <a:t>R² 0.9925</a:t>
            </a:r>
          </a:p>
        </p:txBody>
      </p:sp>
      <p:sp>
        <p:nvSpPr>
          <p:cNvPr id="27" name="TextBox 26"/>
          <p:cNvSpPr txBox="1"/>
          <p:nvPr/>
        </p:nvSpPr>
        <p:spPr>
          <a:xfrm>
            <a:off x="3886200" y="3913632"/>
            <a:ext cx="1280160" cy="201168"/>
          </a:xfrm>
          <a:prstGeom prst="rect">
            <a:avLst/>
          </a:prstGeom>
          <a:noFill/>
        </p:spPr>
        <p:txBody>
          <a:bodyPr wrap="square" lIns="18288" tIns="18288" rIns="18288" bIns="18288" anchor="t">
            <a:spAutoFit/>
          </a:bodyPr>
          <a:lstStyle/>
          <a:p>
            <a:pPr algn="l">
              <a:lnSpc>
                <a:spcPct val="100000"/>
              </a:lnSpc>
            </a:pPr>
            <a:r>
              <a:rPr sz="850" b="0">
                <a:solidFill>
                  <a:srgbClr val="A4B0BF"/>
                </a:solidFill>
                <a:latin typeface="Aptos"/>
              </a:rPr>
              <a:t>MAE 23.58</a:t>
            </a:r>
          </a:p>
        </p:txBody>
      </p:sp>
      <p:sp>
        <p:nvSpPr>
          <p:cNvPr id="28" name="TextBox 27"/>
          <p:cNvSpPr txBox="1"/>
          <p:nvPr/>
        </p:nvSpPr>
        <p:spPr>
          <a:xfrm>
            <a:off x="914400" y="4297680"/>
            <a:ext cx="1554480" cy="201168"/>
          </a:xfrm>
          <a:prstGeom prst="rect">
            <a:avLst/>
          </a:prstGeom>
          <a:noFill/>
        </p:spPr>
        <p:txBody>
          <a:bodyPr wrap="square" lIns="18288" tIns="18288" rIns="18288" bIns="18288" anchor="t">
            <a:spAutoFit/>
          </a:bodyPr>
          <a:lstStyle/>
          <a:p>
            <a:pPr algn="l">
              <a:lnSpc>
                <a:spcPct val="100000"/>
              </a:lnSpc>
            </a:pPr>
            <a:r>
              <a:rPr sz="950" b="1">
                <a:solidFill>
                  <a:srgbClr val="F2F6FA"/>
                </a:solidFill>
                <a:latin typeface="Aptos"/>
              </a:rPr>
              <a:t>Random Forest</a:t>
            </a:r>
          </a:p>
        </p:txBody>
      </p:sp>
      <p:sp>
        <p:nvSpPr>
          <p:cNvPr id="29" name="TextBox 28"/>
          <p:cNvSpPr txBox="1"/>
          <p:nvPr/>
        </p:nvSpPr>
        <p:spPr>
          <a:xfrm>
            <a:off x="2788920" y="4297680"/>
            <a:ext cx="1097280" cy="201168"/>
          </a:xfrm>
          <a:prstGeom prst="rect">
            <a:avLst/>
          </a:prstGeom>
          <a:noFill/>
        </p:spPr>
        <p:txBody>
          <a:bodyPr wrap="square" lIns="18288" tIns="18288" rIns="18288" bIns="18288" anchor="t">
            <a:spAutoFit/>
          </a:bodyPr>
          <a:lstStyle/>
          <a:p>
            <a:pPr algn="l">
              <a:lnSpc>
                <a:spcPct val="100000"/>
              </a:lnSpc>
            </a:pPr>
            <a:r>
              <a:rPr sz="950" b="1">
                <a:solidFill>
                  <a:srgbClr val="2DBEAA"/>
                </a:solidFill>
                <a:latin typeface="Aptos"/>
              </a:rPr>
              <a:t>R² 0.9871</a:t>
            </a:r>
          </a:p>
        </p:txBody>
      </p:sp>
      <p:sp>
        <p:nvSpPr>
          <p:cNvPr id="30" name="TextBox 29"/>
          <p:cNvSpPr txBox="1"/>
          <p:nvPr/>
        </p:nvSpPr>
        <p:spPr>
          <a:xfrm>
            <a:off x="3886200" y="4297680"/>
            <a:ext cx="1280160" cy="201168"/>
          </a:xfrm>
          <a:prstGeom prst="rect">
            <a:avLst/>
          </a:prstGeom>
          <a:noFill/>
        </p:spPr>
        <p:txBody>
          <a:bodyPr wrap="square" lIns="18288" tIns="18288" rIns="18288" bIns="18288" anchor="t">
            <a:spAutoFit/>
          </a:bodyPr>
          <a:lstStyle/>
          <a:p>
            <a:pPr algn="l">
              <a:lnSpc>
                <a:spcPct val="100000"/>
              </a:lnSpc>
            </a:pPr>
            <a:r>
              <a:rPr sz="850" b="0">
                <a:solidFill>
                  <a:srgbClr val="A4B0BF"/>
                </a:solidFill>
                <a:latin typeface="Aptos"/>
              </a:rPr>
              <a:t>MAE 25.94</a:t>
            </a:r>
          </a:p>
        </p:txBody>
      </p:sp>
      <p:sp>
        <p:nvSpPr>
          <p:cNvPr id="31" name="TextBox 30"/>
          <p:cNvSpPr txBox="1"/>
          <p:nvPr/>
        </p:nvSpPr>
        <p:spPr>
          <a:xfrm>
            <a:off x="914400" y="4681728"/>
            <a:ext cx="1554480" cy="201168"/>
          </a:xfrm>
          <a:prstGeom prst="rect">
            <a:avLst/>
          </a:prstGeom>
          <a:noFill/>
        </p:spPr>
        <p:txBody>
          <a:bodyPr wrap="square" lIns="18288" tIns="18288" rIns="18288" bIns="18288" anchor="t">
            <a:spAutoFit/>
          </a:bodyPr>
          <a:lstStyle/>
          <a:p>
            <a:pPr algn="l">
              <a:lnSpc>
                <a:spcPct val="100000"/>
              </a:lnSpc>
            </a:pPr>
            <a:r>
              <a:rPr sz="950" b="1">
                <a:solidFill>
                  <a:srgbClr val="F2F6FA"/>
                </a:solidFill>
                <a:latin typeface="Aptos"/>
              </a:rPr>
              <a:t>Gradient Boosting</a:t>
            </a:r>
          </a:p>
        </p:txBody>
      </p:sp>
      <p:sp>
        <p:nvSpPr>
          <p:cNvPr id="32" name="TextBox 31"/>
          <p:cNvSpPr txBox="1"/>
          <p:nvPr/>
        </p:nvSpPr>
        <p:spPr>
          <a:xfrm>
            <a:off x="2788920" y="4681728"/>
            <a:ext cx="1097280" cy="201168"/>
          </a:xfrm>
          <a:prstGeom prst="rect">
            <a:avLst/>
          </a:prstGeom>
          <a:noFill/>
        </p:spPr>
        <p:txBody>
          <a:bodyPr wrap="square" lIns="18288" tIns="18288" rIns="18288" bIns="18288" anchor="t">
            <a:spAutoFit/>
          </a:bodyPr>
          <a:lstStyle/>
          <a:p>
            <a:pPr algn="l">
              <a:lnSpc>
                <a:spcPct val="100000"/>
              </a:lnSpc>
            </a:pPr>
            <a:r>
              <a:rPr sz="950" b="1">
                <a:solidFill>
                  <a:srgbClr val="8E77FF"/>
                </a:solidFill>
                <a:latin typeface="Aptos"/>
              </a:rPr>
              <a:t>R² 0.9863</a:t>
            </a:r>
          </a:p>
        </p:txBody>
      </p:sp>
      <p:sp>
        <p:nvSpPr>
          <p:cNvPr id="33" name="TextBox 32"/>
          <p:cNvSpPr txBox="1"/>
          <p:nvPr/>
        </p:nvSpPr>
        <p:spPr>
          <a:xfrm>
            <a:off x="3886200" y="4681728"/>
            <a:ext cx="1280160" cy="201168"/>
          </a:xfrm>
          <a:prstGeom prst="rect">
            <a:avLst/>
          </a:prstGeom>
          <a:noFill/>
        </p:spPr>
        <p:txBody>
          <a:bodyPr wrap="square" lIns="18288" tIns="18288" rIns="18288" bIns="18288" anchor="t">
            <a:spAutoFit/>
          </a:bodyPr>
          <a:lstStyle/>
          <a:p>
            <a:pPr algn="l">
              <a:lnSpc>
                <a:spcPct val="100000"/>
              </a:lnSpc>
            </a:pPr>
            <a:r>
              <a:rPr sz="850" b="0">
                <a:solidFill>
                  <a:srgbClr val="A4B0BF"/>
                </a:solidFill>
                <a:latin typeface="Aptos"/>
              </a:rPr>
              <a:t>MAE 45.44</a:t>
            </a:r>
          </a:p>
        </p:txBody>
      </p:sp>
      <p:sp>
        <p:nvSpPr>
          <p:cNvPr id="34" name="Rounded Rectangle 33"/>
          <p:cNvSpPr/>
          <p:nvPr/>
        </p:nvSpPr>
        <p:spPr>
          <a:xfrm>
            <a:off x="6126480" y="3246120"/>
            <a:ext cx="5212080" cy="196596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55080" y="3493008"/>
            <a:ext cx="2011680" cy="228600"/>
          </a:xfrm>
          <a:prstGeom prst="rect">
            <a:avLst/>
          </a:prstGeom>
          <a:noFill/>
        </p:spPr>
        <p:txBody>
          <a:bodyPr wrap="square" lIns="18288" tIns="18288" rIns="18288" bIns="18288" anchor="t">
            <a:spAutoFit/>
          </a:bodyPr>
          <a:lstStyle/>
          <a:p>
            <a:pPr algn="l">
              <a:lnSpc>
                <a:spcPct val="100000"/>
              </a:lnSpc>
            </a:pPr>
            <a:r>
              <a:rPr sz="900" b="1">
                <a:solidFill>
                  <a:srgbClr val="2DBEAA"/>
                </a:solidFill>
                <a:latin typeface="Aptos"/>
              </a:rPr>
              <a:t>FEATURE IMPORTANCE</a:t>
            </a:r>
          </a:p>
        </p:txBody>
      </p:sp>
      <p:sp>
        <p:nvSpPr>
          <p:cNvPr id="36" name="TextBox 35"/>
          <p:cNvSpPr txBox="1"/>
          <p:nvPr/>
        </p:nvSpPr>
        <p:spPr>
          <a:xfrm>
            <a:off x="6355080" y="3858768"/>
            <a:ext cx="2286000" cy="164592"/>
          </a:xfrm>
          <a:prstGeom prst="rect">
            <a:avLst/>
          </a:prstGeom>
          <a:noFill/>
        </p:spPr>
        <p:txBody>
          <a:bodyPr wrap="square" lIns="18288" tIns="18288" rIns="18288" bIns="18288" anchor="t">
            <a:spAutoFit/>
          </a:bodyPr>
          <a:lstStyle/>
          <a:p>
            <a:pPr algn="l">
              <a:lnSpc>
                <a:spcPct val="100000"/>
              </a:lnSpc>
            </a:pPr>
            <a:r>
              <a:rPr sz="850" b="1">
                <a:solidFill>
                  <a:srgbClr val="F2F6FA"/>
                </a:solidFill>
                <a:latin typeface="Aptos"/>
              </a:rPr>
              <a:t>Previous_Availability</a:t>
            </a:r>
          </a:p>
        </p:txBody>
      </p:sp>
      <p:sp>
        <p:nvSpPr>
          <p:cNvPr id="37" name="Rounded Rectangle 36"/>
          <p:cNvSpPr/>
          <p:nvPr/>
        </p:nvSpPr>
        <p:spPr>
          <a:xfrm>
            <a:off x="8686800" y="3877055"/>
            <a:ext cx="1920240" cy="118872"/>
          </a:xfrm>
          <a:prstGeom prst="roundRect">
            <a:avLst/>
          </a:prstGeom>
          <a:solidFill>
            <a:srgbClr val="161E2A"/>
          </a:solidFill>
          <a:ln w="10160">
            <a:solidFill>
              <a:srgbClr val="1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8686800" y="3877055"/>
            <a:ext cx="1765287" cy="118872"/>
          </a:xfrm>
          <a:prstGeom prst="roundRect">
            <a:avLst/>
          </a:prstGeom>
          <a:solidFill>
            <a:srgbClr val="49D3EC"/>
          </a:solidFill>
          <a:ln w="10160">
            <a:solidFill>
              <a:srgbClr val="49D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744200" y="3831335"/>
            <a:ext cx="411480" cy="182880"/>
          </a:xfrm>
          <a:prstGeom prst="rect">
            <a:avLst/>
          </a:prstGeom>
          <a:noFill/>
        </p:spPr>
        <p:txBody>
          <a:bodyPr wrap="square" lIns="18288" tIns="18288" rIns="18288" bIns="18288" anchor="t">
            <a:spAutoFit/>
          </a:bodyPr>
          <a:lstStyle/>
          <a:p>
            <a:pPr algn="r">
              <a:lnSpc>
                <a:spcPct val="100000"/>
              </a:lnSpc>
            </a:pPr>
            <a:r>
              <a:rPr sz="800" b="0">
                <a:solidFill>
                  <a:srgbClr val="A4B0BF"/>
                </a:solidFill>
                <a:latin typeface="Aptos"/>
              </a:rPr>
              <a:t>0.322</a:t>
            </a:r>
          </a:p>
        </p:txBody>
      </p:sp>
      <p:sp>
        <p:nvSpPr>
          <p:cNvPr id="40" name="TextBox 39"/>
          <p:cNvSpPr txBox="1"/>
          <p:nvPr/>
        </p:nvSpPr>
        <p:spPr>
          <a:xfrm>
            <a:off x="6355080" y="4169663"/>
            <a:ext cx="2286000" cy="164592"/>
          </a:xfrm>
          <a:prstGeom prst="rect">
            <a:avLst/>
          </a:prstGeom>
          <a:noFill/>
        </p:spPr>
        <p:txBody>
          <a:bodyPr wrap="square" lIns="18288" tIns="18288" rIns="18288" bIns="18288" anchor="t">
            <a:spAutoFit/>
          </a:bodyPr>
          <a:lstStyle/>
          <a:p>
            <a:pPr algn="l">
              <a:lnSpc>
                <a:spcPct val="100000"/>
              </a:lnSpc>
            </a:pPr>
            <a:r>
              <a:rPr sz="850" b="1">
                <a:solidFill>
                  <a:srgbClr val="F2F6FA"/>
                </a:solidFill>
                <a:latin typeface="Aptos"/>
              </a:rPr>
              <a:t>Rolling_Average_Availab</a:t>
            </a:r>
          </a:p>
        </p:txBody>
      </p:sp>
      <p:sp>
        <p:nvSpPr>
          <p:cNvPr id="41" name="Rounded Rectangle 40"/>
          <p:cNvSpPr/>
          <p:nvPr/>
        </p:nvSpPr>
        <p:spPr>
          <a:xfrm>
            <a:off x="8686800" y="4187951"/>
            <a:ext cx="1920240" cy="118872"/>
          </a:xfrm>
          <a:prstGeom prst="roundRect">
            <a:avLst/>
          </a:prstGeom>
          <a:solidFill>
            <a:srgbClr val="161E2A"/>
          </a:solidFill>
          <a:ln w="10160">
            <a:solidFill>
              <a:srgbClr val="1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8686800" y="4187951"/>
            <a:ext cx="1262903" cy="118872"/>
          </a:xfrm>
          <a:prstGeom prst="roundRect">
            <a:avLst/>
          </a:prstGeom>
          <a:solidFill>
            <a:srgbClr val="2DBEAA"/>
          </a:solidFill>
          <a:ln w="10160">
            <a:solidFill>
              <a:srgbClr val="2D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744200" y="4142231"/>
            <a:ext cx="411480" cy="182880"/>
          </a:xfrm>
          <a:prstGeom prst="rect">
            <a:avLst/>
          </a:prstGeom>
          <a:noFill/>
        </p:spPr>
        <p:txBody>
          <a:bodyPr wrap="square" lIns="18288" tIns="18288" rIns="18288" bIns="18288" anchor="t">
            <a:spAutoFit/>
          </a:bodyPr>
          <a:lstStyle/>
          <a:p>
            <a:pPr algn="r">
              <a:lnSpc>
                <a:spcPct val="100000"/>
              </a:lnSpc>
            </a:pPr>
            <a:r>
              <a:rPr sz="800" b="0">
                <a:solidFill>
                  <a:srgbClr val="A4B0BF"/>
                </a:solidFill>
                <a:latin typeface="Aptos"/>
              </a:rPr>
              <a:t>0.230</a:t>
            </a:r>
          </a:p>
        </p:txBody>
      </p:sp>
      <p:sp>
        <p:nvSpPr>
          <p:cNvPr id="44" name="TextBox 43"/>
          <p:cNvSpPr txBox="1"/>
          <p:nvPr/>
        </p:nvSpPr>
        <p:spPr>
          <a:xfrm>
            <a:off x="6355080" y="4480559"/>
            <a:ext cx="2286000" cy="164592"/>
          </a:xfrm>
          <a:prstGeom prst="rect">
            <a:avLst/>
          </a:prstGeom>
          <a:noFill/>
        </p:spPr>
        <p:txBody>
          <a:bodyPr wrap="square" lIns="18288" tIns="18288" rIns="18288" bIns="18288" anchor="t">
            <a:spAutoFit/>
          </a:bodyPr>
          <a:lstStyle/>
          <a:p>
            <a:pPr algn="l">
              <a:lnSpc>
                <a:spcPct val="100000"/>
              </a:lnSpc>
            </a:pPr>
            <a:r>
              <a:rPr sz="850" b="1">
                <a:solidFill>
                  <a:srgbClr val="F2F6FA"/>
                </a:solidFill>
                <a:latin typeface="Aptos"/>
              </a:rPr>
              <a:t>Lag_2_Availability</a:t>
            </a:r>
          </a:p>
        </p:txBody>
      </p:sp>
      <p:sp>
        <p:nvSpPr>
          <p:cNvPr id="45" name="Rounded Rectangle 44"/>
          <p:cNvSpPr/>
          <p:nvPr/>
        </p:nvSpPr>
        <p:spPr>
          <a:xfrm>
            <a:off x="8686800" y="4498847"/>
            <a:ext cx="1920240" cy="118872"/>
          </a:xfrm>
          <a:prstGeom prst="roundRect">
            <a:avLst/>
          </a:prstGeom>
          <a:solidFill>
            <a:srgbClr val="161E2A"/>
          </a:solidFill>
          <a:ln w="10160">
            <a:solidFill>
              <a:srgbClr val="1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8686800" y="4498847"/>
            <a:ext cx="1028798" cy="118872"/>
          </a:xfrm>
          <a:prstGeom prst="roundRect">
            <a:avLst/>
          </a:prstGeom>
          <a:solidFill>
            <a:srgbClr val="8E77FF"/>
          </a:solidFill>
          <a:ln w="10160">
            <a:solidFill>
              <a:srgbClr val="8E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0744200" y="4453127"/>
            <a:ext cx="411480" cy="182880"/>
          </a:xfrm>
          <a:prstGeom prst="rect">
            <a:avLst/>
          </a:prstGeom>
          <a:noFill/>
        </p:spPr>
        <p:txBody>
          <a:bodyPr wrap="square" lIns="18288" tIns="18288" rIns="18288" bIns="18288" anchor="t">
            <a:spAutoFit/>
          </a:bodyPr>
          <a:lstStyle/>
          <a:p>
            <a:pPr algn="r">
              <a:lnSpc>
                <a:spcPct val="100000"/>
              </a:lnSpc>
            </a:pPr>
            <a:r>
              <a:rPr sz="800" b="0">
                <a:solidFill>
                  <a:srgbClr val="A4B0BF"/>
                </a:solidFill>
                <a:latin typeface="Aptos"/>
              </a:rPr>
              <a:t>0.188</a:t>
            </a:r>
          </a:p>
        </p:txBody>
      </p:sp>
      <p:sp>
        <p:nvSpPr>
          <p:cNvPr id="48" name="TextBox 47"/>
          <p:cNvSpPr txBox="1"/>
          <p:nvPr/>
        </p:nvSpPr>
        <p:spPr>
          <a:xfrm>
            <a:off x="6355080" y="4791456"/>
            <a:ext cx="2286000" cy="164592"/>
          </a:xfrm>
          <a:prstGeom prst="rect">
            <a:avLst/>
          </a:prstGeom>
          <a:noFill/>
        </p:spPr>
        <p:txBody>
          <a:bodyPr wrap="square" lIns="18288" tIns="18288" rIns="18288" bIns="18288" anchor="t">
            <a:spAutoFit/>
          </a:bodyPr>
          <a:lstStyle/>
          <a:p>
            <a:pPr algn="l">
              <a:lnSpc>
                <a:spcPct val="100000"/>
              </a:lnSpc>
            </a:pPr>
            <a:r>
              <a:rPr sz="850" b="1">
                <a:solidFill>
                  <a:srgbClr val="F2F6FA"/>
                </a:solidFill>
                <a:latin typeface="Aptos"/>
              </a:rPr>
              <a:t>Capacity</a:t>
            </a:r>
          </a:p>
        </p:txBody>
      </p:sp>
      <p:sp>
        <p:nvSpPr>
          <p:cNvPr id="49" name="Rounded Rectangle 48"/>
          <p:cNvSpPr/>
          <p:nvPr/>
        </p:nvSpPr>
        <p:spPr>
          <a:xfrm>
            <a:off x="8686800" y="4809744"/>
            <a:ext cx="1920240" cy="118872"/>
          </a:xfrm>
          <a:prstGeom prst="roundRect">
            <a:avLst/>
          </a:prstGeom>
          <a:solidFill>
            <a:srgbClr val="161E2A"/>
          </a:solidFill>
          <a:ln w="10160">
            <a:solidFill>
              <a:srgbClr val="161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8686800" y="4809744"/>
            <a:ext cx="650813" cy="118872"/>
          </a:xfrm>
          <a:prstGeom prst="roundRect">
            <a:avLst/>
          </a:prstGeom>
          <a:solidFill>
            <a:srgbClr val="F5AE42"/>
          </a:solidFill>
          <a:ln w="10160">
            <a:solidFill>
              <a:srgbClr val="F5A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744200" y="4764024"/>
            <a:ext cx="411480" cy="182880"/>
          </a:xfrm>
          <a:prstGeom prst="rect">
            <a:avLst/>
          </a:prstGeom>
          <a:noFill/>
        </p:spPr>
        <p:txBody>
          <a:bodyPr wrap="square" lIns="18288" tIns="18288" rIns="18288" bIns="18288" anchor="t">
            <a:spAutoFit/>
          </a:bodyPr>
          <a:lstStyle/>
          <a:p>
            <a:pPr algn="r">
              <a:lnSpc>
                <a:spcPct val="100000"/>
              </a:lnSpc>
            </a:pPr>
            <a:r>
              <a:rPr sz="800" b="0">
                <a:solidFill>
                  <a:srgbClr val="A4B0BF"/>
                </a:solidFill>
                <a:latin typeface="Aptos"/>
              </a:rPr>
              <a:t>0.119</a:t>
            </a:r>
          </a:p>
        </p:txBody>
      </p:sp>
      <p:cxnSp>
        <p:nvCxnSpPr>
          <p:cNvPr id="52" name="Connector 51"/>
          <p:cNvCxnSpPr/>
          <p:nvPr/>
        </p:nvCxnSpPr>
        <p:spPr>
          <a:xfrm>
            <a:off x="502920" y="6473952"/>
            <a:ext cx="11183112" cy="0"/>
          </a:xfrm>
          <a:prstGeom prst="line">
            <a:avLst/>
          </a:prstGeom>
          <a:ln w="8890">
            <a:solidFill>
              <a:srgbClr val="263140"/>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30352" y="6537960"/>
            <a:ext cx="2926080" cy="164592"/>
          </a:xfrm>
          <a:prstGeom prst="rect">
            <a:avLst/>
          </a:prstGeom>
          <a:noFill/>
        </p:spPr>
        <p:txBody>
          <a:bodyPr wrap="square" lIns="18288" tIns="18288" rIns="18288" bIns="18288" anchor="t">
            <a:spAutoFit/>
          </a:bodyPr>
          <a:lstStyle/>
          <a:p>
            <a:pPr algn="l">
              <a:lnSpc>
                <a:spcPct val="100000"/>
              </a:lnSpc>
            </a:pPr>
            <a:r>
              <a:rPr sz="750" b="1">
                <a:solidFill>
                  <a:srgbClr val="A4B0BF"/>
                </a:solidFill>
                <a:latin typeface="Aptos"/>
              </a:rPr>
              <a:t>PARKING AVAILABILITY AI</a:t>
            </a:r>
          </a:p>
        </p:txBody>
      </p:sp>
      <p:sp>
        <p:nvSpPr>
          <p:cNvPr id="54" name="TextBox 53"/>
          <p:cNvSpPr txBox="1"/>
          <p:nvPr/>
        </p:nvSpPr>
        <p:spPr>
          <a:xfrm>
            <a:off x="8503920" y="6537960"/>
            <a:ext cx="3108960" cy="164592"/>
          </a:xfrm>
          <a:prstGeom prst="rect">
            <a:avLst/>
          </a:prstGeom>
          <a:noFill/>
        </p:spPr>
        <p:txBody>
          <a:bodyPr wrap="square" lIns="18288" tIns="18288" rIns="18288" bIns="18288" anchor="t">
            <a:spAutoFit/>
          </a:bodyPr>
          <a:lstStyle/>
          <a:p>
            <a:pPr algn="r">
              <a:lnSpc>
                <a:spcPct val="100000"/>
              </a:lnSpc>
            </a:pPr>
            <a:r>
              <a:rPr sz="750" b="0">
                <a:solidFill>
                  <a:srgbClr val="A4B0BF"/>
                </a:solidFill>
                <a:latin typeface="Aptos"/>
              </a:rPr>
              <a:t>Machine Learning • Final Review</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90D14"/>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2286000" cy="228600"/>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21 • CONCLUSION</a:t>
            </a:r>
          </a:p>
        </p:txBody>
      </p:sp>
      <p:sp>
        <p:nvSpPr>
          <p:cNvPr id="3" name="TextBox 2"/>
          <p:cNvSpPr txBox="1"/>
          <p:nvPr/>
        </p:nvSpPr>
        <p:spPr>
          <a:xfrm>
            <a:off x="502920" y="713232"/>
            <a:ext cx="10789920" cy="822960"/>
          </a:xfrm>
          <a:prstGeom prst="rect">
            <a:avLst/>
          </a:prstGeom>
          <a:noFill/>
        </p:spPr>
        <p:txBody>
          <a:bodyPr wrap="square" lIns="18288" tIns="18288" rIns="18288" bIns="18288" anchor="t">
            <a:spAutoFit/>
          </a:bodyPr>
          <a:lstStyle/>
          <a:p>
            <a:pPr algn="l">
              <a:lnSpc>
                <a:spcPct val="100000"/>
              </a:lnSpc>
            </a:pPr>
            <a:r>
              <a:rPr sz="2700" b="1">
                <a:solidFill>
                  <a:srgbClr val="F2F6FA"/>
                </a:solidFill>
                <a:latin typeface="Aptos Display"/>
              </a:rPr>
              <a:t>From historical parking data to intelligent availability prediction</a:t>
            </a:r>
          </a:p>
        </p:txBody>
      </p:sp>
      <p:sp>
        <p:nvSpPr>
          <p:cNvPr id="4" name="Rounded Rectangle 3"/>
          <p:cNvSpPr/>
          <p:nvPr/>
        </p:nvSpPr>
        <p:spPr>
          <a:xfrm>
            <a:off x="502920" y="1874519"/>
            <a:ext cx="1645920" cy="10972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12648" y="2075688"/>
            <a:ext cx="1371600" cy="201168"/>
          </a:xfrm>
          <a:prstGeom prst="rect">
            <a:avLst/>
          </a:prstGeom>
          <a:noFill/>
        </p:spPr>
        <p:txBody>
          <a:bodyPr wrap="square" lIns="18288" tIns="18288" rIns="18288" bIns="18288" anchor="t">
            <a:spAutoFit/>
          </a:bodyPr>
          <a:lstStyle/>
          <a:p>
            <a:pPr algn="ctr">
              <a:lnSpc>
                <a:spcPct val="100000"/>
              </a:lnSpc>
            </a:pPr>
            <a:r>
              <a:rPr sz="900" b="1">
                <a:solidFill>
                  <a:srgbClr val="49D3EC"/>
                </a:solidFill>
                <a:latin typeface="Aptos"/>
              </a:rPr>
              <a:t>DATA</a:t>
            </a:r>
          </a:p>
        </p:txBody>
      </p:sp>
      <p:sp>
        <p:nvSpPr>
          <p:cNvPr id="6" name="TextBox 5"/>
          <p:cNvSpPr txBox="1"/>
          <p:nvPr/>
        </p:nvSpPr>
        <p:spPr>
          <a:xfrm>
            <a:off x="612648" y="2450592"/>
            <a:ext cx="1417320" cy="292608"/>
          </a:xfrm>
          <a:prstGeom prst="rect">
            <a:avLst/>
          </a:prstGeom>
          <a:noFill/>
        </p:spPr>
        <p:txBody>
          <a:bodyPr wrap="square" lIns="18288" tIns="18288" rIns="18288" bIns="18288" anchor="t">
            <a:spAutoFit/>
          </a:bodyPr>
          <a:lstStyle/>
          <a:p>
            <a:pPr algn="ctr">
              <a:lnSpc>
                <a:spcPct val="100000"/>
              </a:lnSpc>
            </a:pPr>
            <a:r>
              <a:rPr sz="950" b="1">
                <a:solidFill>
                  <a:srgbClr val="F2F6FA"/>
                </a:solidFill>
                <a:latin typeface="Aptos"/>
              </a:rPr>
              <a:t>Parking records</a:t>
            </a:r>
          </a:p>
        </p:txBody>
      </p:sp>
      <p:sp>
        <p:nvSpPr>
          <p:cNvPr id="7" name="Right Arrow 6"/>
          <p:cNvSpPr/>
          <p:nvPr/>
        </p:nvSpPr>
        <p:spPr>
          <a:xfrm>
            <a:off x="2167128" y="2258568"/>
            <a:ext cx="201168" cy="164592"/>
          </a:xfrm>
          <a:prstGeom prst="rightArrow">
            <a:avLst/>
          </a:prstGeom>
          <a:solidFill>
            <a:srgbClr val="263140"/>
          </a:solidFill>
          <a:ln>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404872" y="1874519"/>
            <a:ext cx="1645920" cy="10972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14600" y="2075688"/>
            <a:ext cx="1371600" cy="201168"/>
          </a:xfrm>
          <a:prstGeom prst="rect">
            <a:avLst/>
          </a:prstGeom>
          <a:noFill/>
        </p:spPr>
        <p:txBody>
          <a:bodyPr wrap="square" lIns="18288" tIns="18288" rIns="18288" bIns="18288" anchor="t">
            <a:spAutoFit/>
          </a:bodyPr>
          <a:lstStyle/>
          <a:p>
            <a:pPr algn="ctr">
              <a:lnSpc>
                <a:spcPct val="100000"/>
              </a:lnSpc>
            </a:pPr>
            <a:r>
              <a:rPr sz="900" b="1">
                <a:solidFill>
                  <a:srgbClr val="2DBEAA"/>
                </a:solidFill>
                <a:latin typeface="Aptos"/>
              </a:rPr>
              <a:t>EDA</a:t>
            </a:r>
          </a:p>
        </p:txBody>
      </p:sp>
      <p:sp>
        <p:nvSpPr>
          <p:cNvPr id="10" name="TextBox 9"/>
          <p:cNvSpPr txBox="1"/>
          <p:nvPr/>
        </p:nvSpPr>
        <p:spPr>
          <a:xfrm>
            <a:off x="2514600" y="2450592"/>
            <a:ext cx="1417320" cy="292608"/>
          </a:xfrm>
          <a:prstGeom prst="rect">
            <a:avLst/>
          </a:prstGeom>
          <a:noFill/>
        </p:spPr>
        <p:txBody>
          <a:bodyPr wrap="square" lIns="18288" tIns="18288" rIns="18288" bIns="18288" anchor="t">
            <a:spAutoFit/>
          </a:bodyPr>
          <a:lstStyle/>
          <a:p>
            <a:pPr algn="ctr">
              <a:lnSpc>
                <a:spcPct val="100000"/>
              </a:lnSpc>
            </a:pPr>
            <a:r>
              <a:rPr sz="950" b="1">
                <a:solidFill>
                  <a:srgbClr val="F2F6FA"/>
                </a:solidFill>
                <a:latin typeface="Aptos"/>
              </a:rPr>
              <a:t>Trends + relationships</a:t>
            </a:r>
          </a:p>
        </p:txBody>
      </p:sp>
      <p:sp>
        <p:nvSpPr>
          <p:cNvPr id="11" name="Right Arrow 10"/>
          <p:cNvSpPr/>
          <p:nvPr/>
        </p:nvSpPr>
        <p:spPr>
          <a:xfrm>
            <a:off x="4069080" y="2258568"/>
            <a:ext cx="201168" cy="164592"/>
          </a:xfrm>
          <a:prstGeom prst="rightArrow">
            <a:avLst/>
          </a:prstGeom>
          <a:solidFill>
            <a:srgbClr val="263140"/>
          </a:solidFill>
          <a:ln>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306824" y="1874519"/>
            <a:ext cx="1645920" cy="10972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16552" y="2075688"/>
            <a:ext cx="1371600" cy="201168"/>
          </a:xfrm>
          <a:prstGeom prst="rect">
            <a:avLst/>
          </a:prstGeom>
          <a:noFill/>
        </p:spPr>
        <p:txBody>
          <a:bodyPr wrap="square" lIns="18288" tIns="18288" rIns="18288" bIns="18288" anchor="t">
            <a:spAutoFit/>
          </a:bodyPr>
          <a:lstStyle/>
          <a:p>
            <a:pPr algn="ctr">
              <a:lnSpc>
                <a:spcPct val="100000"/>
              </a:lnSpc>
            </a:pPr>
            <a:r>
              <a:rPr sz="900" b="1">
                <a:solidFill>
                  <a:srgbClr val="8E77FF"/>
                </a:solidFill>
                <a:latin typeface="Aptos"/>
              </a:rPr>
              <a:t>FEATURES</a:t>
            </a:r>
          </a:p>
        </p:txBody>
      </p:sp>
      <p:sp>
        <p:nvSpPr>
          <p:cNvPr id="14" name="TextBox 13"/>
          <p:cNvSpPr txBox="1"/>
          <p:nvPr/>
        </p:nvSpPr>
        <p:spPr>
          <a:xfrm>
            <a:off x="4416552" y="2450592"/>
            <a:ext cx="1417320" cy="292608"/>
          </a:xfrm>
          <a:prstGeom prst="rect">
            <a:avLst/>
          </a:prstGeom>
          <a:noFill/>
        </p:spPr>
        <p:txBody>
          <a:bodyPr wrap="square" lIns="18288" tIns="18288" rIns="18288" bIns="18288" anchor="t">
            <a:spAutoFit/>
          </a:bodyPr>
          <a:lstStyle/>
          <a:p>
            <a:pPr algn="ctr">
              <a:lnSpc>
                <a:spcPct val="100000"/>
              </a:lnSpc>
            </a:pPr>
            <a:r>
              <a:rPr sz="950" b="1">
                <a:solidFill>
                  <a:srgbClr val="F2F6FA"/>
                </a:solidFill>
                <a:latin typeface="Aptos"/>
              </a:rPr>
              <a:t>Temporal context</a:t>
            </a:r>
          </a:p>
        </p:txBody>
      </p:sp>
      <p:sp>
        <p:nvSpPr>
          <p:cNvPr id="15" name="Right Arrow 14"/>
          <p:cNvSpPr/>
          <p:nvPr/>
        </p:nvSpPr>
        <p:spPr>
          <a:xfrm>
            <a:off x="5971032" y="2258568"/>
            <a:ext cx="201168" cy="164592"/>
          </a:xfrm>
          <a:prstGeom prst="rightArrow">
            <a:avLst/>
          </a:prstGeom>
          <a:solidFill>
            <a:srgbClr val="263140"/>
          </a:solidFill>
          <a:ln>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208776" y="1874519"/>
            <a:ext cx="1645920" cy="10972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18504" y="2075688"/>
            <a:ext cx="1371600" cy="201168"/>
          </a:xfrm>
          <a:prstGeom prst="rect">
            <a:avLst/>
          </a:prstGeom>
          <a:noFill/>
        </p:spPr>
        <p:txBody>
          <a:bodyPr wrap="square" lIns="18288" tIns="18288" rIns="18288" bIns="18288" anchor="t">
            <a:spAutoFit/>
          </a:bodyPr>
          <a:lstStyle/>
          <a:p>
            <a:pPr algn="ctr">
              <a:lnSpc>
                <a:spcPct val="100000"/>
              </a:lnSpc>
            </a:pPr>
            <a:r>
              <a:rPr sz="900" b="1">
                <a:solidFill>
                  <a:srgbClr val="F5AE42"/>
                </a:solidFill>
                <a:latin typeface="Aptos"/>
              </a:rPr>
              <a:t>ML</a:t>
            </a:r>
          </a:p>
        </p:txBody>
      </p:sp>
      <p:sp>
        <p:nvSpPr>
          <p:cNvPr id="18" name="TextBox 17"/>
          <p:cNvSpPr txBox="1"/>
          <p:nvPr/>
        </p:nvSpPr>
        <p:spPr>
          <a:xfrm>
            <a:off x="6318504" y="2450592"/>
            <a:ext cx="1417320" cy="292608"/>
          </a:xfrm>
          <a:prstGeom prst="rect">
            <a:avLst/>
          </a:prstGeom>
          <a:noFill/>
        </p:spPr>
        <p:txBody>
          <a:bodyPr wrap="square" lIns="18288" tIns="18288" rIns="18288" bIns="18288" anchor="t">
            <a:spAutoFit/>
          </a:bodyPr>
          <a:lstStyle/>
          <a:p>
            <a:pPr algn="ctr">
              <a:lnSpc>
                <a:spcPct val="100000"/>
              </a:lnSpc>
            </a:pPr>
            <a:r>
              <a:rPr sz="950" b="1">
                <a:solidFill>
                  <a:srgbClr val="F2F6FA"/>
                </a:solidFill>
                <a:latin typeface="Aptos"/>
              </a:rPr>
              <a:t>3 regressors</a:t>
            </a:r>
          </a:p>
        </p:txBody>
      </p:sp>
      <p:sp>
        <p:nvSpPr>
          <p:cNvPr id="19" name="Right Arrow 18"/>
          <p:cNvSpPr/>
          <p:nvPr/>
        </p:nvSpPr>
        <p:spPr>
          <a:xfrm>
            <a:off x="7872983" y="2258568"/>
            <a:ext cx="201168" cy="164592"/>
          </a:xfrm>
          <a:prstGeom prst="rightArrow">
            <a:avLst/>
          </a:prstGeom>
          <a:solidFill>
            <a:srgbClr val="263140"/>
          </a:solidFill>
          <a:ln>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110728" y="1874519"/>
            <a:ext cx="1645920" cy="10972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0456" y="2075688"/>
            <a:ext cx="1371600" cy="201168"/>
          </a:xfrm>
          <a:prstGeom prst="rect">
            <a:avLst/>
          </a:prstGeom>
          <a:noFill/>
        </p:spPr>
        <p:txBody>
          <a:bodyPr wrap="square" lIns="18288" tIns="18288" rIns="18288" bIns="18288" anchor="t">
            <a:spAutoFit/>
          </a:bodyPr>
          <a:lstStyle/>
          <a:p>
            <a:pPr algn="ctr">
              <a:lnSpc>
                <a:spcPct val="100000"/>
              </a:lnSpc>
            </a:pPr>
            <a:r>
              <a:rPr sz="900" b="1">
                <a:solidFill>
                  <a:srgbClr val="49D3EC"/>
                </a:solidFill>
                <a:latin typeface="Aptos"/>
              </a:rPr>
              <a:t>MODEL</a:t>
            </a:r>
          </a:p>
        </p:txBody>
      </p:sp>
      <p:sp>
        <p:nvSpPr>
          <p:cNvPr id="22" name="TextBox 21"/>
          <p:cNvSpPr txBox="1"/>
          <p:nvPr/>
        </p:nvSpPr>
        <p:spPr>
          <a:xfrm>
            <a:off x="8220456" y="2450592"/>
            <a:ext cx="1417320" cy="292608"/>
          </a:xfrm>
          <a:prstGeom prst="rect">
            <a:avLst/>
          </a:prstGeom>
          <a:noFill/>
        </p:spPr>
        <p:txBody>
          <a:bodyPr wrap="square" lIns="18288" tIns="18288" rIns="18288" bIns="18288" anchor="t">
            <a:spAutoFit/>
          </a:bodyPr>
          <a:lstStyle/>
          <a:p>
            <a:pPr algn="ctr">
              <a:lnSpc>
                <a:spcPct val="100000"/>
              </a:lnSpc>
            </a:pPr>
            <a:r>
              <a:rPr sz="950" b="1">
                <a:solidFill>
                  <a:srgbClr val="F2F6FA"/>
                </a:solidFill>
                <a:latin typeface="Aptos"/>
              </a:rPr>
              <a:t>Extra Trees</a:t>
            </a:r>
          </a:p>
        </p:txBody>
      </p:sp>
      <p:sp>
        <p:nvSpPr>
          <p:cNvPr id="23" name="Right Arrow 22"/>
          <p:cNvSpPr/>
          <p:nvPr/>
        </p:nvSpPr>
        <p:spPr>
          <a:xfrm>
            <a:off x="9774936" y="2258568"/>
            <a:ext cx="201168" cy="164592"/>
          </a:xfrm>
          <a:prstGeom prst="rightArrow">
            <a:avLst/>
          </a:prstGeom>
          <a:solidFill>
            <a:srgbClr val="263140"/>
          </a:solidFill>
          <a:ln>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0012680" y="1874519"/>
            <a:ext cx="1645920" cy="1097280"/>
          </a:xfrm>
          <a:prstGeom prst="roundRect">
            <a:avLst/>
          </a:prstGeom>
          <a:solidFill>
            <a:srgbClr val="111721"/>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122408" y="2075688"/>
            <a:ext cx="1371600" cy="201168"/>
          </a:xfrm>
          <a:prstGeom prst="rect">
            <a:avLst/>
          </a:prstGeom>
          <a:noFill/>
        </p:spPr>
        <p:txBody>
          <a:bodyPr wrap="square" lIns="18288" tIns="18288" rIns="18288" bIns="18288" anchor="t">
            <a:spAutoFit/>
          </a:bodyPr>
          <a:lstStyle/>
          <a:p>
            <a:pPr algn="ctr">
              <a:lnSpc>
                <a:spcPct val="100000"/>
              </a:lnSpc>
            </a:pPr>
            <a:r>
              <a:rPr sz="900" b="1">
                <a:solidFill>
                  <a:srgbClr val="2DBEAA"/>
                </a:solidFill>
                <a:latin typeface="Aptos"/>
              </a:rPr>
              <a:t>APP</a:t>
            </a:r>
          </a:p>
        </p:txBody>
      </p:sp>
      <p:sp>
        <p:nvSpPr>
          <p:cNvPr id="26" name="TextBox 25"/>
          <p:cNvSpPr txBox="1"/>
          <p:nvPr/>
        </p:nvSpPr>
        <p:spPr>
          <a:xfrm>
            <a:off x="10122408" y="2450592"/>
            <a:ext cx="1417320" cy="292608"/>
          </a:xfrm>
          <a:prstGeom prst="rect">
            <a:avLst/>
          </a:prstGeom>
          <a:noFill/>
        </p:spPr>
        <p:txBody>
          <a:bodyPr wrap="square" lIns="18288" tIns="18288" rIns="18288" bIns="18288" anchor="t">
            <a:spAutoFit/>
          </a:bodyPr>
          <a:lstStyle/>
          <a:p>
            <a:pPr algn="ctr">
              <a:lnSpc>
                <a:spcPct val="100000"/>
              </a:lnSpc>
            </a:pPr>
            <a:r>
              <a:rPr sz="950" b="1">
                <a:solidFill>
                  <a:srgbClr val="F2F6FA"/>
                </a:solidFill>
                <a:latin typeface="Aptos"/>
              </a:rPr>
              <a:t>Flask dashboard</a:t>
            </a:r>
          </a:p>
        </p:txBody>
      </p:sp>
      <p:sp>
        <p:nvSpPr>
          <p:cNvPr id="27" name="Rounded Rectangle 26"/>
          <p:cNvSpPr/>
          <p:nvPr/>
        </p:nvSpPr>
        <p:spPr>
          <a:xfrm>
            <a:off x="502920" y="3429000"/>
            <a:ext cx="5349240" cy="1463040"/>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77240" y="3675887"/>
            <a:ext cx="1371600" cy="228600"/>
          </a:xfrm>
          <a:prstGeom prst="rect">
            <a:avLst/>
          </a:prstGeom>
          <a:noFill/>
        </p:spPr>
        <p:txBody>
          <a:bodyPr wrap="square" lIns="18288" tIns="18288" rIns="18288" bIns="18288" anchor="t">
            <a:spAutoFit/>
          </a:bodyPr>
          <a:lstStyle/>
          <a:p>
            <a:pPr algn="l">
              <a:lnSpc>
                <a:spcPct val="100000"/>
              </a:lnSpc>
            </a:pPr>
            <a:r>
              <a:rPr sz="900" b="1">
                <a:solidFill>
                  <a:srgbClr val="49D3EC"/>
                </a:solidFill>
                <a:latin typeface="Aptos"/>
              </a:rPr>
              <a:t>FINAL MODEL</a:t>
            </a:r>
          </a:p>
        </p:txBody>
      </p:sp>
      <p:sp>
        <p:nvSpPr>
          <p:cNvPr id="29" name="TextBox 28"/>
          <p:cNvSpPr txBox="1"/>
          <p:nvPr/>
        </p:nvSpPr>
        <p:spPr>
          <a:xfrm>
            <a:off x="777240" y="4041648"/>
            <a:ext cx="3474720" cy="384048"/>
          </a:xfrm>
          <a:prstGeom prst="rect">
            <a:avLst/>
          </a:prstGeom>
          <a:noFill/>
        </p:spPr>
        <p:txBody>
          <a:bodyPr wrap="square" lIns="18288" tIns="18288" rIns="18288" bIns="18288" anchor="t">
            <a:spAutoFit/>
          </a:bodyPr>
          <a:lstStyle/>
          <a:p>
            <a:pPr algn="l">
              <a:lnSpc>
                <a:spcPct val="100000"/>
              </a:lnSpc>
            </a:pPr>
            <a:r>
              <a:rPr sz="2100" b="1">
                <a:solidFill>
                  <a:srgbClr val="F2F6FA"/>
                </a:solidFill>
                <a:latin typeface="Aptos Display"/>
              </a:rPr>
              <a:t>Extra Trees Regressor</a:t>
            </a:r>
          </a:p>
        </p:txBody>
      </p:sp>
      <p:sp>
        <p:nvSpPr>
          <p:cNvPr id="30" name="TextBox 29"/>
          <p:cNvSpPr txBox="1"/>
          <p:nvPr/>
        </p:nvSpPr>
        <p:spPr>
          <a:xfrm>
            <a:off x="777240" y="4480560"/>
            <a:ext cx="2926080" cy="228600"/>
          </a:xfrm>
          <a:prstGeom prst="rect">
            <a:avLst/>
          </a:prstGeom>
          <a:noFill/>
        </p:spPr>
        <p:txBody>
          <a:bodyPr wrap="square" lIns="18288" tIns="18288" rIns="18288" bIns="18288" anchor="t">
            <a:spAutoFit/>
          </a:bodyPr>
          <a:lstStyle/>
          <a:p>
            <a:pPr algn="l">
              <a:lnSpc>
                <a:spcPct val="100000"/>
              </a:lnSpc>
            </a:pPr>
            <a:r>
              <a:rPr sz="1100" b="1">
                <a:solidFill>
                  <a:srgbClr val="2DBEAA"/>
                </a:solidFill>
                <a:latin typeface="Aptos"/>
              </a:rPr>
              <a:t>Test R² = 0.991116</a:t>
            </a:r>
          </a:p>
        </p:txBody>
      </p:sp>
      <p:sp>
        <p:nvSpPr>
          <p:cNvPr id="31" name="Rounded Rectangle 30"/>
          <p:cNvSpPr/>
          <p:nvPr/>
        </p:nvSpPr>
        <p:spPr>
          <a:xfrm>
            <a:off x="6126480" y="3429000"/>
            <a:ext cx="5257800" cy="1463040"/>
          </a:xfrm>
          <a:prstGeom prst="roundRect">
            <a:avLst/>
          </a:prstGeom>
          <a:solidFill>
            <a:srgbClr val="161E2A"/>
          </a:solidFill>
          <a:ln w="10160">
            <a:solidFill>
              <a:srgbClr val="2631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0" y="3675887"/>
            <a:ext cx="1371600" cy="228600"/>
          </a:xfrm>
          <a:prstGeom prst="rect">
            <a:avLst/>
          </a:prstGeom>
          <a:noFill/>
        </p:spPr>
        <p:txBody>
          <a:bodyPr wrap="square" lIns="18288" tIns="18288" rIns="18288" bIns="18288" anchor="t">
            <a:spAutoFit/>
          </a:bodyPr>
          <a:lstStyle/>
          <a:p>
            <a:pPr algn="l">
              <a:lnSpc>
                <a:spcPct val="100000"/>
              </a:lnSpc>
            </a:pPr>
            <a:r>
              <a:rPr sz="900" b="1">
                <a:solidFill>
                  <a:srgbClr val="F5AE42"/>
                </a:solidFill>
                <a:latin typeface="Aptos"/>
              </a:rPr>
              <a:t>FUTURE SCOPE</a:t>
            </a:r>
          </a:p>
        </p:txBody>
      </p:sp>
      <p:sp>
        <p:nvSpPr>
          <p:cNvPr id="33" name="TextBox 32"/>
          <p:cNvSpPr txBox="1"/>
          <p:nvPr/>
        </p:nvSpPr>
        <p:spPr>
          <a:xfrm>
            <a:off x="6400800" y="4041648"/>
            <a:ext cx="4526280" cy="411480"/>
          </a:xfrm>
          <a:prstGeom prst="rect">
            <a:avLst/>
          </a:prstGeom>
          <a:noFill/>
        </p:spPr>
        <p:txBody>
          <a:bodyPr wrap="square" lIns="18288" tIns="18288" rIns="18288" bIns="18288" anchor="t">
            <a:spAutoFit/>
          </a:bodyPr>
          <a:lstStyle/>
          <a:p>
            <a:pPr algn="l">
              <a:lnSpc>
                <a:spcPct val="100000"/>
              </a:lnSpc>
            </a:pPr>
            <a:r>
              <a:rPr sz="1400" b="1">
                <a:solidFill>
                  <a:srgbClr val="F2F6FA"/>
                </a:solidFill>
                <a:latin typeface="Aptos"/>
              </a:rPr>
              <a:t>Sensors • real-time feeds • streaming • maps • mobile • cloud</a:t>
            </a:r>
          </a:p>
        </p:txBody>
      </p:sp>
      <p:sp>
        <p:nvSpPr>
          <p:cNvPr id="34" name="TextBox 33"/>
          <p:cNvSpPr txBox="1"/>
          <p:nvPr/>
        </p:nvSpPr>
        <p:spPr>
          <a:xfrm>
            <a:off x="6400800" y="4553712"/>
            <a:ext cx="4389120" cy="201168"/>
          </a:xfrm>
          <a:prstGeom prst="rect">
            <a:avLst/>
          </a:prstGeom>
          <a:noFill/>
        </p:spPr>
        <p:txBody>
          <a:bodyPr wrap="square" lIns="18288" tIns="18288" rIns="18288" bIns="18288" anchor="t">
            <a:spAutoFit/>
          </a:bodyPr>
          <a:lstStyle/>
          <a:p>
            <a:pPr algn="l">
              <a:lnSpc>
                <a:spcPct val="100000"/>
              </a:lnSpc>
            </a:pPr>
            <a:r>
              <a:rPr sz="850" b="0">
                <a:solidFill>
                  <a:srgbClr val="A4B0BF"/>
                </a:solidFill>
                <a:latin typeface="Aptos"/>
              </a:rPr>
              <a:t>Future work — not currently implemented.</a:t>
            </a:r>
          </a:p>
        </p:txBody>
      </p:sp>
      <p:sp>
        <p:nvSpPr>
          <p:cNvPr id="35" name="TextBox 34"/>
          <p:cNvSpPr txBox="1"/>
          <p:nvPr/>
        </p:nvSpPr>
        <p:spPr>
          <a:xfrm>
            <a:off x="502920" y="5715000"/>
            <a:ext cx="2194560" cy="411480"/>
          </a:xfrm>
          <a:prstGeom prst="rect">
            <a:avLst/>
          </a:prstGeom>
          <a:noFill/>
        </p:spPr>
        <p:txBody>
          <a:bodyPr wrap="square" lIns="18288" tIns="18288" rIns="18288" bIns="18288" anchor="t">
            <a:spAutoFit/>
          </a:bodyPr>
          <a:lstStyle/>
          <a:p>
            <a:pPr algn="l">
              <a:lnSpc>
                <a:spcPct val="100000"/>
              </a:lnSpc>
            </a:pPr>
            <a:r>
              <a:rPr sz="2000" b="1">
                <a:solidFill>
                  <a:srgbClr val="49D3EC"/>
                </a:solidFill>
                <a:latin typeface="Aptos Display"/>
              </a:rPr>
              <a:t>THANK YOU</a:t>
            </a:r>
          </a:p>
        </p:txBody>
      </p:sp>
      <p:sp>
        <p:nvSpPr>
          <p:cNvPr id="36" name="TextBox 35"/>
          <p:cNvSpPr txBox="1"/>
          <p:nvPr/>
        </p:nvSpPr>
        <p:spPr>
          <a:xfrm>
            <a:off x="9875520" y="5742432"/>
            <a:ext cx="1463040" cy="320040"/>
          </a:xfrm>
          <a:prstGeom prst="rect">
            <a:avLst/>
          </a:prstGeom>
          <a:noFill/>
        </p:spPr>
        <p:txBody>
          <a:bodyPr wrap="square" lIns="18288" tIns="18288" rIns="18288" bIns="18288" anchor="t">
            <a:spAutoFit/>
          </a:bodyPr>
          <a:lstStyle/>
          <a:p>
            <a:pPr algn="r">
              <a:lnSpc>
                <a:spcPct val="100000"/>
              </a:lnSpc>
            </a:pPr>
            <a:r>
              <a:rPr sz="1400" b="1">
                <a:solidFill>
                  <a:srgbClr val="F2F6FA"/>
                </a:solidFill>
                <a:latin typeface="Aptos"/>
              </a:rPr>
              <a:t>Questions?</a:t>
            </a:r>
          </a:p>
        </p:txBody>
      </p:sp>
      <p:cxnSp>
        <p:nvCxnSpPr>
          <p:cNvPr id="37" name="Connector 36"/>
          <p:cNvCxnSpPr/>
          <p:nvPr/>
        </p:nvCxnSpPr>
        <p:spPr>
          <a:xfrm>
            <a:off x="502920" y="6473952"/>
            <a:ext cx="11183112" cy="0"/>
          </a:xfrm>
          <a:prstGeom prst="line">
            <a:avLst/>
          </a:prstGeom>
          <a:ln w="8890">
            <a:solidFill>
              <a:srgbClr val="263140"/>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30352" y="6537960"/>
            <a:ext cx="2926080" cy="164592"/>
          </a:xfrm>
          <a:prstGeom prst="rect">
            <a:avLst/>
          </a:prstGeom>
          <a:noFill/>
        </p:spPr>
        <p:txBody>
          <a:bodyPr wrap="square" lIns="18288" tIns="18288" rIns="18288" bIns="18288" anchor="t">
            <a:spAutoFit/>
          </a:bodyPr>
          <a:lstStyle/>
          <a:p>
            <a:pPr algn="l">
              <a:lnSpc>
                <a:spcPct val="100000"/>
              </a:lnSpc>
            </a:pPr>
            <a:r>
              <a:rPr sz="750" b="1">
                <a:solidFill>
                  <a:srgbClr val="A4B0BF"/>
                </a:solidFill>
                <a:latin typeface="Aptos"/>
              </a:rPr>
              <a:t>PARKING AVAILABILITY AI</a:t>
            </a:r>
          </a:p>
        </p:txBody>
      </p:sp>
      <p:sp>
        <p:nvSpPr>
          <p:cNvPr id="39" name="TextBox 38"/>
          <p:cNvSpPr txBox="1"/>
          <p:nvPr/>
        </p:nvSpPr>
        <p:spPr>
          <a:xfrm>
            <a:off x="8503920" y="6537960"/>
            <a:ext cx="3108960" cy="164592"/>
          </a:xfrm>
          <a:prstGeom prst="rect">
            <a:avLst/>
          </a:prstGeom>
          <a:noFill/>
        </p:spPr>
        <p:txBody>
          <a:bodyPr wrap="square" lIns="18288" tIns="18288" rIns="18288" bIns="18288" anchor="t">
            <a:spAutoFit/>
          </a:bodyPr>
          <a:lstStyle/>
          <a:p>
            <a:pPr algn="r">
              <a:lnSpc>
                <a:spcPct val="100000"/>
              </a:lnSpc>
            </a:pPr>
            <a:r>
              <a:rPr sz="750" b="0">
                <a:solidFill>
                  <a:srgbClr val="A4B0BF"/>
                </a:solidFill>
                <a:latin typeface="Aptos"/>
              </a:rPr>
              <a:t>Machine Learning • Final Review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3047</Words>
  <Application>Microsoft Office PowerPoint</Application>
  <PresentationFormat>Widescreen</PresentationFormat>
  <Paragraphs>449</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TEJ PRATAP SINGH</dc:creator>
  <cp:keywords/>
  <dc:description>generated using python-pptx</dc:description>
  <cp:lastModifiedBy>TEJ PRATAP SINGH</cp:lastModifiedBy>
  <cp:revision>3</cp:revision>
  <dcterms:created xsi:type="dcterms:W3CDTF">2013-01-27T09:14:16Z</dcterms:created>
  <dcterms:modified xsi:type="dcterms:W3CDTF">2026-09-23T05:38:23Z</dcterms:modified>
  <cp:category/>
</cp:coreProperties>
</file>