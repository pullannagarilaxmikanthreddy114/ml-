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79" r:id="rId3"/>
    <p:sldId id="259" r:id="rId4"/>
    <p:sldId id="260" r:id="rId5"/>
    <p:sldId id="281" r:id="rId6"/>
    <p:sldId id="261" r:id="rId7"/>
    <p:sldId id="262" r:id="rId8"/>
    <p:sldId id="263" r:id="rId9"/>
    <p:sldId id="282" r:id="rId10"/>
    <p:sldId id="284" r:id="rId11"/>
    <p:sldId id="273"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681" autoAdjust="0"/>
    <p:restoredTop sz="92010" autoAdjust="0"/>
  </p:normalViewPr>
  <p:slideViewPr>
    <p:cSldViewPr snapToGrid="0">
      <p:cViewPr varScale="1">
        <p:scale>
          <a:sx n="78" d="100"/>
          <a:sy n="78" d="100"/>
        </p:scale>
        <p:origin x="821"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a:xfrm>
            <a:off x="3962399" y="5870575"/>
            <a:ext cx="4893958" cy="377825"/>
          </a:xfrm>
        </p:spPr>
        <p:txBody>
          <a:bodyPr/>
          <a:lstStyle/>
          <a:p>
            <a:endParaRPr lang="en-IN"/>
          </a:p>
        </p:txBody>
      </p:sp>
      <p:sp>
        <p:nvSpPr>
          <p:cNvPr id="6" name="Slide Number Placeholder 5"/>
          <p:cNvSpPr>
            <a:spLocks noGrp="1"/>
          </p:cNvSpPr>
          <p:nvPr>
            <p:ph type="sldNum" sz="quarter" idx="12"/>
          </p:nvPr>
        </p:nvSpPr>
        <p:spPr>
          <a:xfrm>
            <a:off x="10608958" y="5870575"/>
            <a:ext cx="551167" cy="377825"/>
          </a:xfrm>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16654903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24616874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smtClean="0"/>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539054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395FDDF-42C6-42D4-9316-5DFE900840F9}"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796727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395FDDF-42C6-42D4-9316-5DFE900840F9}" type="datetimeFigureOut">
              <a:rPr lang="en-IN" smtClean="0"/>
              <a:t>25-08-2026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61073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395FDDF-42C6-42D4-9316-5DFE900840F9}" type="datetimeFigureOut">
              <a:rPr lang="en-IN" smtClean="0"/>
              <a:t>25-08-2026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6280397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1395FDDF-42C6-42D4-9316-5DFE900840F9}" type="datetimeFigureOut">
              <a:rPr lang="en-IN" smtClean="0"/>
              <a:t>25-08-2026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45280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682288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smtClean="0"/>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1154781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395FDDF-42C6-42D4-9316-5DFE900840F9}" type="datetimeFigureOut">
              <a:rPr lang="en-IN" smtClean="0"/>
              <a:t>25-08-2026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0071752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9951524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42837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42384506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32308359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smtClean="0"/>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13060447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
        <p:nvSpPr>
          <p:cNvPr id="8" name="Title 1"/>
          <p:cNvSpPr>
            <a:spLocks noGrp="1"/>
          </p:cNvSpPr>
          <p:nvPr>
            <p:ph type="title"/>
          </p:nvPr>
        </p:nvSpPr>
        <p:spPr>
          <a:xfrm>
            <a:off x="685801" y="609600"/>
            <a:ext cx="10131425" cy="1456267"/>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6766317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395FDDF-42C6-42D4-9316-5DFE900840F9}" type="datetimeFigureOut">
              <a:rPr lang="en-IN" smtClean="0"/>
              <a:t>25-08-2026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B6AD6A22-0BF5-47B3-AAFB-2EB592D6F415}" type="slidenum">
              <a:rPr lang="en-IN" smtClean="0"/>
              <a:t>‹#›</a:t>
            </a:fld>
            <a:endParaRPr lang="en-IN"/>
          </a:p>
        </p:txBody>
      </p:sp>
    </p:spTree>
    <p:extLst>
      <p:ext uri="{BB962C8B-B14F-4D97-AF65-F5344CB8AC3E}">
        <p14:creationId xmlns:p14="http://schemas.microsoft.com/office/powerpoint/2010/main" val="8991899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1395FDDF-42C6-42D4-9316-5DFE900840F9}" type="datetimeFigureOut">
              <a:rPr lang="en-IN" smtClean="0"/>
              <a:t>25-08-2026</a:t>
            </a:fld>
            <a:endParaRPr lang="en-IN"/>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IN"/>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AD6A22-0BF5-47B3-AAFB-2EB592D6F415}" type="slidenum">
              <a:rPr lang="en-IN" smtClean="0"/>
              <a:t>‹#›</a:t>
            </a:fld>
            <a:endParaRPr lang="en-IN"/>
          </a:p>
        </p:txBody>
      </p:sp>
    </p:spTree>
    <p:extLst>
      <p:ext uri="{BB962C8B-B14F-4D97-AF65-F5344CB8AC3E}">
        <p14:creationId xmlns:p14="http://schemas.microsoft.com/office/powerpoint/2010/main" val="1051449212"/>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484147" y="344130"/>
            <a:ext cx="7955279" cy="1831200"/>
          </a:xfrm>
        </p:spPr>
        <p:txBody>
          <a:bodyPr>
            <a:noAutofit/>
          </a:bodyPr>
          <a:lstStyle/>
          <a:p>
            <a:pPr algn="ctr"/>
            <a:r>
              <a:rPr lang="en-US" sz="2800" dirty="0" smtClean="0"/>
              <a:t/>
            </a:r>
            <a:br>
              <a:rPr lang="en-US" sz="2800" dirty="0" smtClean="0"/>
            </a:br>
            <a:r>
              <a:rPr lang="en-US" sz="2800" dirty="0" smtClean="0"/>
              <a:t>Parking </a:t>
            </a:r>
            <a:r>
              <a:rPr lang="en-US" sz="2800" dirty="0"/>
              <a:t>Space Availability Prediction Using Random Forest and Time-Series </a:t>
            </a:r>
            <a:r>
              <a:rPr lang="en-US" sz="2800" dirty="0" smtClean="0"/>
              <a:t>Models</a:t>
            </a:r>
            <a:endParaRPr lang="en-IN" sz="2800" b="1" dirty="0"/>
          </a:p>
        </p:txBody>
      </p:sp>
      <p:sp>
        <p:nvSpPr>
          <p:cNvPr id="3" name="Subtitle 2"/>
          <p:cNvSpPr>
            <a:spLocks noGrp="1"/>
          </p:cNvSpPr>
          <p:nvPr>
            <p:ph type="subTitle" idx="1"/>
          </p:nvPr>
        </p:nvSpPr>
        <p:spPr>
          <a:xfrm>
            <a:off x="3962399" y="2175329"/>
            <a:ext cx="7197726" cy="4170607"/>
          </a:xfrm>
        </p:spPr>
        <p:txBody>
          <a:bodyPr>
            <a:normAutofit/>
          </a:bodyPr>
          <a:lstStyle/>
          <a:p>
            <a:pPr algn="ctr"/>
            <a:r>
              <a:rPr lang="en-US" dirty="0" smtClean="0"/>
              <a:t>COURSE : Machine learning</a:t>
            </a:r>
          </a:p>
          <a:p>
            <a:pPr algn="ctr"/>
            <a:r>
              <a:rPr lang="en-US" dirty="0" smtClean="0"/>
              <a:t>COURSE CODE: 25SC2107E</a:t>
            </a:r>
          </a:p>
          <a:p>
            <a:pPr algn="ctr"/>
            <a:r>
              <a:rPr lang="en-US" dirty="0" smtClean="0"/>
              <a:t>SECTION: 4</a:t>
            </a:r>
          </a:p>
          <a:p>
            <a:pPr algn="ctr"/>
            <a:r>
              <a:rPr lang="en-US" dirty="0" smtClean="0"/>
              <a:t>Branch: CSE</a:t>
            </a:r>
          </a:p>
          <a:p>
            <a:pPr algn="ctr"/>
            <a:r>
              <a:rPr lang="en-US" dirty="0" smtClean="0"/>
              <a:t>GUIDED BY: JYOTHSNA DATTI(Assistant professor)</a:t>
            </a:r>
          </a:p>
          <a:p>
            <a:pPr algn="ctr"/>
            <a:r>
              <a:rPr lang="en-US" dirty="0" smtClean="0"/>
              <a:t>2520030018  </a:t>
            </a:r>
            <a:r>
              <a:rPr lang="en-US" dirty="0" smtClean="0"/>
              <a:t>- </a:t>
            </a:r>
            <a:r>
              <a:rPr lang="en-US" dirty="0" smtClean="0"/>
              <a:t>p. </a:t>
            </a:r>
            <a:r>
              <a:rPr lang="en-US" dirty="0" err="1" smtClean="0"/>
              <a:t>Laxmikanth</a:t>
            </a:r>
            <a:r>
              <a:rPr lang="en-US" dirty="0" smtClean="0"/>
              <a:t> </a:t>
            </a:r>
            <a:r>
              <a:rPr lang="en-US" dirty="0" err="1" smtClean="0"/>
              <a:t>reddy</a:t>
            </a:r>
            <a:r>
              <a:rPr lang="en-US" dirty="0" smtClean="0"/>
              <a:t> </a:t>
            </a:r>
            <a:endParaRPr lang="en-US" dirty="0" smtClean="0"/>
          </a:p>
          <a:p>
            <a:pPr algn="ctr"/>
            <a:r>
              <a:rPr lang="en-US" dirty="0" smtClean="0"/>
              <a:t>2520030470 – k. </a:t>
            </a:r>
            <a:r>
              <a:rPr lang="en-US" dirty="0" err="1" smtClean="0"/>
              <a:t>sudheer</a:t>
            </a:r>
            <a:r>
              <a:rPr lang="en-US" dirty="0" smtClean="0"/>
              <a:t> </a:t>
            </a:r>
            <a:endParaRPr lang="en-US" dirty="0" smtClean="0"/>
          </a:p>
          <a:p>
            <a:pPr algn="ctr"/>
            <a:r>
              <a:rPr lang="en-US" dirty="0" smtClean="0"/>
              <a:t>2026-2027</a:t>
            </a:r>
          </a:p>
        </p:txBody>
      </p:sp>
      <p:pic>
        <p:nvPicPr>
          <p:cNvPr id="4" name="Picture 3"/>
          <p:cNvPicPr>
            <a:picLocks noChangeAspect="1"/>
          </p:cNvPicPr>
          <p:nvPr/>
        </p:nvPicPr>
        <p:blipFill>
          <a:blip r:embed="rId2"/>
          <a:stretch>
            <a:fillRect/>
          </a:stretch>
        </p:blipFill>
        <p:spPr>
          <a:xfrm>
            <a:off x="0" y="0"/>
            <a:ext cx="3043170" cy="1086928"/>
          </a:xfrm>
          <a:prstGeom prst="rect">
            <a:avLst/>
          </a:prstGeom>
          <a:noFill/>
          <a:ln>
            <a:noFill/>
          </a:ln>
        </p:spPr>
      </p:pic>
    </p:spTree>
    <p:extLst>
      <p:ext uri="{BB962C8B-B14F-4D97-AF65-F5344CB8AC3E}">
        <p14:creationId xmlns:p14="http://schemas.microsoft.com/office/powerpoint/2010/main" val="6392828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CONTENTS</a:t>
            </a:r>
            <a:endParaRPr lang="en-IN" dirty="0"/>
          </a:p>
        </p:txBody>
      </p:sp>
      <p:sp>
        <p:nvSpPr>
          <p:cNvPr id="3" name="Content Placeholder 2"/>
          <p:cNvSpPr>
            <a:spLocks noGrp="1"/>
          </p:cNvSpPr>
          <p:nvPr>
            <p:ph idx="1"/>
          </p:nvPr>
        </p:nvSpPr>
        <p:spPr/>
        <p:txBody>
          <a:bodyPr/>
          <a:lstStyle/>
          <a:p>
            <a:r>
              <a:rPr lang="en-US" dirty="0" smtClean="0"/>
              <a:t>ABSTRACT </a:t>
            </a:r>
          </a:p>
          <a:p>
            <a:r>
              <a:rPr lang="en-US" dirty="0" smtClean="0"/>
              <a:t>INTRODUCTION </a:t>
            </a:r>
          </a:p>
          <a:p>
            <a:r>
              <a:rPr lang="en-US" dirty="0" smtClean="0"/>
              <a:t>REQUIREMENT ANALYSIS</a:t>
            </a:r>
          </a:p>
          <a:p>
            <a:r>
              <a:rPr lang="en-US" dirty="0" smtClean="0"/>
              <a:t>20 LITERATURE PAPERS IN TABLE FORMAT </a:t>
            </a:r>
          </a:p>
          <a:p>
            <a:r>
              <a:rPr lang="en-US" dirty="0" smtClean="0"/>
              <a:t>DATASET DESCRIPTION </a:t>
            </a:r>
          </a:p>
        </p:txBody>
      </p:sp>
    </p:spTree>
    <p:extLst>
      <p:ext uri="{BB962C8B-B14F-4D97-AF65-F5344CB8AC3E}">
        <p14:creationId xmlns:p14="http://schemas.microsoft.com/office/powerpoint/2010/main" val="1950441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439919"/>
            <a:ext cx="10131425" cy="606458"/>
          </a:xfrm>
        </p:spPr>
        <p:txBody>
          <a:bodyPr>
            <a:normAutofit fontScale="90000"/>
          </a:bodyPr>
          <a:lstStyle/>
          <a:p>
            <a:pPr algn="ctr"/>
            <a:r>
              <a:rPr lang="en-US" dirty="0" smtClean="0"/>
              <a:t>ABSTRACT</a:t>
            </a:r>
            <a:endParaRPr lang="en-IN" dirty="0"/>
          </a:p>
        </p:txBody>
      </p:sp>
      <p:sp>
        <p:nvSpPr>
          <p:cNvPr id="3" name="Content Placeholder 2"/>
          <p:cNvSpPr>
            <a:spLocks noGrp="1"/>
          </p:cNvSpPr>
          <p:nvPr>
            <p:ph idx="1"/>
          </p:nvPr>
        </p:nvSpPr>
        <p:spPr>
          <a:xfrm>
            <a:off x="685801" y="1410547"/>
            <a:ext cx="10131425" cy="3649133"/>
          </a:xfrm>
        </p:spPr>
        <p:txBody>
          <a:bodyPr>
            <a:normAutofit fontScale="92500" lnSpcReduction="20000"/>
          </a:bodyPr>
          <a:lstStyle/>
          <a:p>
            <a:r>
              <a:rPr lang="en-US" dirty="0"/>
              <a:t>The increasing number of vehicles in urban areas has made parking management a significant challenge, resulting in traffic congestion, fuel wastage, environmental pollution, and inconvenience to drivers searching for available parking spaces. This project proposes a machine learning-based approach for predicting parking space availability by combining Random Forest and Time-Series models to provide accurate and reliable parking occupancy predictions. The Random Forest model is used to learn the relationship between parking occupancy and influencing factors such as date, time, day of the week, weather conditions, holidays, and previous occupancy records, while the Time-Series model captures temporal patterns to forecast future parking availability. The proposed system is trained and evaluated using the Parking Occupancy Detection dataset obtained from </a:t>
            </a:r>
            <a:r>
              <a:rPr lang="en-US" dirty="0" err="1"/>
              <a:t>Kaggle</a:t>
            </a:r>
            <a:r>
              <a:rPr lang="en-US" dirty="0"/>
              <a:t>, which contains historical parking occupancy information collected over different time intervals. Data preprocessing techniques, including missing value handling, feature selection, categorical encoding, and normalization, are applied before training the prediction models to improve performance and reliability. The developed system aims to provide users with real-time parking availability predictions, thereby reducing parking search time and improving the utilization of available parking spaces. The performance of the proposed model is evaluated using accuracy, precision, recall, F1-score, ROC-AUC, confusion matrix, mean absolute error (MAE), and root mean square error (RMSE), providing a comprehensive assessment of both classification and forecasting performance under different parking scenarios.</a:t>
            </a:r>
            <a:endParaRPr lang="en-US" dirty="0"/>
          </a:p>
        </p:txBody>
      </p:sp>
    </p:spTree>
    <p:extLst>
      <p:ext uri="{BB962C8B-B14F-4D97-AF65-F5344CB8AC3E}">
        <p14:creationId xmlns:p14="http://schemas.microsoft.com/office/powerpoint/2010/main" val="422128081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7115"/>
            <a:ext cx="10131425" cy="681872"/>
          </a:xfrm>
        </p:spPr>
        <p:txBody>
          <a:bodyPr/>
          <a:lstStyle/>
          <a:p>
            <a:pPr algn="ctr"/>
            <a:r>
              <a:rPr lang="en-US" dirty="0" smtClean="0"/>
              <a:t>INTRODUCTION</a:t>
            </a:r>
            <a:endParaRPr lang="en-IN" dirty="0"/>
          </a:p>
        </p:txBody>
      </p:sp>
      <p:sp>
        <p:nvSpPr>
          <p:cNvPr id="3" name="Content Placeholder 2"/>
          <p:cNvSpPr>
            <a:spLocks noGrp="1"/>
          </p:cNvSpPr>
          <p:nvPr>
            <p:ph idx="1"/>
          </p:nvPr>
        </p:nvSpPr>
        <p:spPr>
          <a:xfrm>
            <a:off x="846056" y="1235587"/>
            <a:ext cx="10131425" cy="3649133"/>
          </a:xfrm>
        </p:spPr>
        <p:txBody>
          <a:bodyPr>
            <a:normAutofit fontScale="92500" lnSpcReduction="20000"/>
          </a:bodyPr>
          <a:lstStyle/>
          <a:p>
            <a:r>
              <a:rPr lang="en-US" dirty="0"/>
              <a:t>The rapid growth of urbanization and the continuous increase in the number of vehicles have created serious parking challenges in modern cities. Drivers often spend a considerable amount of time searching for vacant parking spaces, which contributes to increased traffic congestion, unnecessary fuel consumption, environmental pollution, and delays in reaching their destinations. Existing parking systems generally provide only the current occupancy status and do not assist users in predicting future parking availability. Motivated by these challenges and the growing need for intelligent transportation systems, this project focuses on developing a smart parking prediction system capable of providing accurate parking availability information before a driver reaches the parking location. Machine learning has become an effective solution for solving prediction problems by learning patterns from historical data. Random Forest is widely used because of its high prediction accuracy, robustness, and ability to handle complex relationships among multiple features, while Time-Series analysis is effective in identifying temporal trends and forecasting future occupancy based on historical observations. This project integrates both techniques into a unified prediction framework that analyzes historical parking occupancy data together with features such as date, time, day of the week, weather conditions, holidays, and previous occupancy records. The complete machine learning lifecycle, including data collection, preprocessing, feature engineering, model training, evaluation, deployment, and monitoring, is followed to develop a practical parking prediction system capable of supporting smart parking management and improving urban transportation efficiency.</a:t>
            </a:r>
            <a:endParaRPr lang="en-IN" dirty="0"/>
          </a:p>
        </p:txBody>
      </p:sp>
    </p:spTree>
    <p:extLst>
      <p:ext uri="{BB962C8B-B14F-4D97-AF65-F5344CB8AC3E}">
        <p14:creationId xmlns:p14="http://schemas.microsoft.com/office/powerpoint/2010/main" val="2831912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3788" y="0"/>
            <a:ext cx="10131425" cy="609600"/>
          </a:xfrm>
        </p:spPr>
        <p:txBody>
          <a:bodyPr>
            <a:normAutofit fontScale="90000"/>
          </a:bodyPr>
          <a:lstStyle/>
          <a:p>
            <a:pPr algn="ctr"/>
            <a:r>
              <a:rPr lang="en-US" dirty="0" smtClean="0"/>
              <a:t>REQUIREMENT ANALYSIS </a:t>
            </a:r>
            <a:endParaRPr lang="en-IN" dirty="0"/>
          </a:p>
        </p:txBody>
      </p:sp>
      <p:sp>
        <p:nvSpPr>
          <p:cNvPr id="3" name="Content Placeholder 2"/>
          <p:cNvSpPr>
            <a:spLocks noGrp="1"/>
          </p:cNvSpPr>
          <p:nvPr>
            <p:ph idx="1"/>
          </p:nvPr>
        </p:nvSpPr>
        <p:spPr>
          <a:xfrm>
            <a:off x="666137" y="1027486"/>
            <a:ext cx="10131425" cy="3649133"/>
          </a:xfrm>
        </p:spPr>
        <p:txBody>
          <a:bodyPr/>
          <a:lstStyle/>
          <a:p>
            <a:r>
              <a:rPr lang="en-US" dirty="0"/>
              <a:t>The proposed parking space prediction system is implemented using a Python-based machine learning environment supported by data processing, visualization, and web application development tools. The development environment provides facilities for preprocessing the parking occupancy dataset, training and evaluating prediction models, visualizing the obtained results, and deploying the trained model as a simple web application for real-time prediction. A standard computer with sufficient processing capability and memory is adequate for developing, testing, and deploying the proposed system. The software and hardware requirements used for the project are summarized below</a:t>
            </a:r>
            <a:r>
              <a:rPr lang="en-US" dirty="0" smtClean="0"/>
              <a:t>.</a:t>
            </a:r>
          </a:p>
          <a:p>
            <a:pPr marL="0" indent="0">
              <a:buNone/>
            </a:pPr>
            <a:endParaRPr lang="en-US" dirty="0"/>
          </a:p>
        </p:txBody>
      </p:sp>
      <p:pic>
        <p:nvPicPr>
          <p:cNvPr id="4" name="Picture 3"/>
          <p:cNvPicPr>
            <a:picLocks noChangeAspect="1"/>
          </p:cNvPicPr>
          <p:nvPr/>
        </p:nvPicPr>
        <p:blipFill>
          <a:blip r:embed="rId2"/>
          <a:stretch>
            <a:fillRect/>
          </a:stretch>
        </p:blipFill>
        <p:spPr>
          <a:xfrm>
            <a:off x="1866484" y="3683561"/>
            <a:ext cx="8164064" cy="2229161"/>
          </a:xfrm>
          <a:prstGeom prst="rect">
            <a:avLst/>
          </a:prstGeom>
        </p:spPr>
      </p:pic>
    </p:spTree>
    <p:extLst>
      <p:ext uri="{BB962C8B-B14F-4D97-AF65-F5344CB8AC3E}">
        <p14:creationId xmlns:p14="http://schemas.microsoft.com/office/powerpoint/2010/main" val="38182024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2949" y="0"/>
            <a:ext cx="10131425" cy="845575"/>
          </a:xfrm>
        </p:spPr>
        <p:txBody>
          <a:bodyPr/>
          <a:lstStyle/>
          <a:p>
            <a:pPr algn="ctr"/>
            <a:r>
              <a:rPr lang="en-US" dirty="0" smtClean="0"/>
              <a:t>20 Literature papers (1 – 5)</a:t>
            </a:r>
            <a:endParaRPr lang="en-IN" dirty="0"/>
          </a:p>
        </p:txBody>
      </p:sp>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317523" y="2062880"/>
            <a:ext cx="9301316" cy="3649662"/>
          </a:xfrm>
        </p:spPr>
      </p:pic>
    </p:spTree>
    <p:extLst>
      <p:ext uri="{BB962C8B-B14F-4D97-AF65-F5344CB8AC3E}">
        <p14:creationId xmlns:p14="http://schemas.microsoft.com/office/powerpoint/2010/main" val="268685757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609601"/>
            <a:ext cx="10131425" cy="786580"/>
          </a:xfrm>
        </p:spPr>
        <p:txBody>
          <a:bodyPr>
            <a:normAutofit/>
          </a:bodyPr>
          <a:lstStyle/>
          <a:p>
            <a:pPr algn="ctr"/>
            <a:r>
              <a:rPr lang="en-US" dirty="0"/>
              <a:t>20 Literature papers </a:t>
            </a:r>
            <a:r>
              <a:rPr lang="en-US" dirty="0" smtClean="0"/>
              <a:t>(6 </a:t>
            </a:r>
            <a:r>
              <a:rPr lang="en-US" dirty="0"/>
              <a:t>– </a:t>
            </a:r>
            <a:r>
              <a:rPr lang="en-US" dirty="0" smtClean="0"/>
              <a:t>10)</a:t>
            </a:r>
            <a:endParaRPr lang="en-IN"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573160" y="2141538"/>
            <a:ext cx="8632723" cy="3649662"/>
          </a:xfrm>
        </p:spPr>
      </p:pic>
    </p:spTree>
    <p:extLst>
      <p:ext uri="{BB962C8B-B14F-4D97-AF65-F5344CB8AC3E}">
        <p14:creationId xmlns:p14="http://schemas.microsoft.com/office/powerpoint/2010/main" val="5012268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1" y="337008"/>
            <a:ext cx="10131425" cy="1456267"/>
          </a:xfrm>
        </p:spPr>
        <p:txBody>
          <a:bodyPr/>
          <a:lstStyle/>
          <a:p>
            <a:pPr algn="ctr"/>
            <a:r>
              <a:rPr lang="en-US" dirty="0"/>
              <a:t>20 Literature papers (</a:t>
            </a:r>
            <a:r>
              <a:rPr lang="en-US" dirty="0" smtClean="0"/>
              <a:t>11 </a:t>
            </a:r>
            <a:r>
              <a:rPr lang="en-US" dirty="0"/>
              <a:t>– </a:t>
            </a:r>
            <a:r>
              <a:rPr lang="en-US" dirty="0" smtClean="0"/>
              <a:t>15</a:t>
            </a:r>
            <a:r>
              <a:rPr lang="en-US" dirty="0"/>
              <a:t>)</a:t>
            </a:r>
            <a:endParaRPr lang="en-IN"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445342" y="2141538"/>
            <a:ext cx="9212826" cy="3649662"/>
          </a:xfrm>
        </p:spPr>
      </p:pic>
    </p:spTree>
    <p:extLst>
      <p:ext uri="{BB962C8B-B14F-4D97-AF65-F5344CB8AC3E}">
        <p14:creationId xmlns:p14="http://schemas.microsoft.com/office/powerpoint/2010/main" val="179921890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20 Literature papers (</a:t>
            </a:r>
            <a:r>
              <a:rPr lang="en-US" dirty="0" smtClean="0"/>
              <a:t>16 </a:t>
            </a:r>
            <a:r>
              <a:rPr lang="en-US" dirty="0"/>
              <a:t>– </a:t>
            </a:r>
            <a:r>
              <a:rPr lang="en-US" dirty="0" smtClean="0"/>
              <a:t>20)</a:t>
            </a:r>
            <a:endParaRPr lang="en-IN" dirty="0"/>
          </a:p>
        </p:txBody>
      </p:sp>
      <p:pic>
        <p:nvPicPr>
          <p:cNvPr id="5" name="Content Placeholder 4"/>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30710" y="2141538"/>
            <a:ext cx="9379974" cy="3649662"/>
          </a:xfrm>
        </p:spPr>
      </p:pic>
    </p:spTree>
    <p:extLst>
      <p:ext uri="{BB962C8B-B14F-4D97-AF65-F5344CB8AC3E}">
        <p14:creationId xmlns:p14="http://schemas.microsoft.com/office/powerpoint/2010/main" val="39430802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 DATASET Description</a:t>
            </a:r>
            <a:endParaRPr lang="en-IN" dirty="0"/>
          </a:p>
        </p:txBody>
      </p:sp>
      <p:sp>
        <p:nvSpPr>
          <p:cNvPr id="3" name="Content Placeholder 2"/>
          <p:cNvSpPr>
            <a:spLocks noGrp="1"/>
          </p:cNvSpPr>
          <p:nvPr>
            <p:ph idx="1"/>
          </p:nvPr>
        </p:nvSpPr>
        <p:spPr/>
        <p:txBody>
          <a:bodyPr/>
          <a:lstStyle/>
          <a:p>
            <a:r>
              <a:rPr lang="en-US" dirty="0"/>
              <a:t>The </a:t>
            </a:r>
            <a:r>
              <a:rPr lang="en-US" b="1" dirty="0"/>
              <a:t>Smart_Parking_Dataset_project.csv</a:t>
            </a:r>
            <a:r>
              <a:rPr lang="en-US" dirty="0"/>
              <a:t> dataset contains 200,000 hourly observational records collected across 15 distinct attributes, spanning the full calendar year from January 1, 2025, to December 31, 2025. It tracks parking occupancy metrics across eight primary urban facilities—Tech Park, Hospital, Central Mall, Bus Station, City Center, Railway Station, University, and Airport—with capacities ranging from 100 to 400 spaces. Each entry incorporates temporal parameters (date, hour, day of the week, weekend status, and holiday tags) alongside environmental factors (weather conditions like sunny, cloudy, rainy, or foggy, and temperatures between 18°C and 40°C) to contextualize utilization patterns. Across all facilities, the dataset records an average occupancy rate of 52.3% (ranging from a minimum of 15% to 100% capacity) and includes categorical status indicators marking whether a lot is available or full. With zero missing values, this dataset serves as a complete foundation for predictive modeling, peak-demand forecasting, dynamic pricing strategies, and analyzing the impact of weather and time on urban parking behavior.</a:t>
            </a:r>
            <a:endParaRPr lang="en-IN" dirty="0"/>
          </a:p>
        </p:txBody>
      </p:sp>
    </p:spTree>
    <p:extLst>
      <p:ext uri="{BB962C8B-B14F-4D97-AF65-F5344CB8AC3E}">
        <p14:creationId xmlns:p14="http://schemas.microsoft.com/office/powerpoint/2010/main" val="8263409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13817" y="2895600"/>
            <a:ext cx="10131425" cy="1456267"/>
          </a:xfrm>
        </p:spPr>
        <p:txBody>
          <a:bodyPr/>
          <a:lstStyle/>
          <a:p>
            <a:pPr algn="ctr"/>
            <a:r>
              <a:rPr lang="en-US" dirty="0" smtClean="0"/>
              <a:t>THANK YOU </a:t>
            </a:r>
            <a:endParaRPr lang="en-IN" dirty="0"/>
          </a:p>
        </p:txBody>
      </p:sp>
    </p:spTree>
    <p:extLst>
      <p:ext uri="{BB962C8B-B14F-4D97-AF65-F5344CB8AC3E}">
        <p14:creationId xmlns:p14="http://schemas.microsoft.com/office/powerpoint/2010/main" val="260056869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TM03457452[[fn=Celestial]]</Template>
  <TotalTime>465</TotalTime>
  <Words>898</Words>
  <Application>Microsoft Office PowerPoint</Application>
  <PresentationFormat>Widescreen</PresentationFormat>
  <Paragraphs>28</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Celestial</vt:lpstr>
      <vt:lpstr> Parking Space Availability Prediction Using Random Forest and Time-Series Models</vt:lpstr>
      <vt:lpstr>CONTENTS</vt:lpstr>
      <vt:lpstr>ABSTRACT</vt:lpstr>
      <vt:lpstr>INTRODUCTION</vt:lpstr>
      <vt:lpstr>REQUIREMENT ANALYSIS </vt:lpstr>
      <vt:lpstr>20 Literature papers (1 – 5)</vt:lpstr>
      <vt:lpstr>20 Literature papers (6 – 10)</vt:lpstr>
      <vt:lpstr>20 Literature papers (11 – 15)</vt:lpstr>
      <vt:lpstr>20 Literature papers (16 – 20)</vt:lpstr>
      <vt:lpstr> DATASET Description</vt:lpstr>
      <vt:lpstr>THANK YOU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Advertising IMPACT ANALYSIS</dc:title>
  <dc:creator>Sai Surendra</dc:creator>
  <cp:lastModifiedBy>Sai Surendra</cp:lastModifiedBy>
  <cp:revision>43</cp:revision>
  <dcterms:created xsi:type="dcterms:W3CDTF">2026-06-10T13:51:49Z</dcterms:created>
  <dcterms:modified xsi:type="dcterms:W3CDTF">2026-08-25T07:12:38Z</dcterms:modified>
</cp:coreProperties>
</file>